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PT Sans Narrow"/>
      <p:regular r:id="rId21"/>
      <p:bold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PTSansNarrow-bold.fntdata"/><Relationship Id="rId21" Type="http://schemas.openxmlformats.org/officeDocument/2006/relationships/font" Target="fonts/PTSansNarrow-regular.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c8ab441a6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c8ab441a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64cfb3f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64cfb3f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d624c2503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d624c2503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d95d008d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d95d008d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64e0de00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64e0de00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64e0de00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64e0de00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d95d008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d95d008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c8ab441a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c8ab441a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da57665d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da57665d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c8ab441a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c8ab441a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kaggle.com/datasets/awadhi123/indian-election-datas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379700" y="58650"/>
            <a:ext cx="6384600" cy="78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060"/>
              <a:t>Infosys SpringBoard Virtual Internship </a:t>
            </a:r>
            <a:endParaRPr sz="3060"/>
          </a:p>
        </p:txBody>
      </p:sp>
      <p:sp>
        <p:nvSpPr>
          <p:cNvPr id="67" name="Google Shape;67;p13"/>
          <p:cNvSpPr txBox="1"/>
          <p:nvPr/>
        </p:nvSpPr>
        <p:spPr>
          <a:xfrm>
            <a:off x="1797450" y="1500825"/>
            <a:ext cx="5549100" cy="107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990"/>
              <a:buFont typeface="Arial"/>
              <a:buNone/>
            </a:pPr>
            <a:r>
              <a:rPr b="1" lang="en" sz="3060">
                <a:solidFill>
                  <a:schemeClr val="accent1"/>
                </a:solidFill>
                <a:latin typeface="PT Sans Narrow"/>
                <a:ea typeface="PT Sans Narrow"/>
                <a:cs typeface="PT Sans Narrow"/>
                <a:sym typeface="PT Sans Narrow"/>
              </a:rPr>
              <a:t>ElectViz Election data Visualization for Media</a:t>
            </a:r>
            <a:endParaRPr b="1" sz="3060">
              <a:solidFill>
                <a:schemeClr val="accent1"/>
              </a:solidFill>
              <a:latin typeface="PT Sans Narrow"/>
              <a:ea typeface="PT Sans Narrow"/>
              <a:cs typeface="PT Sans Narrow"/>
              <a:sym typeface="PT Sans Narrow"/>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
        <p:nvSpPr>
          <p:cNvPr id="68" name="Google Shape;68;p13"/>
          <p:cNvSpPr txBox="1"/>
          <p:nvPr/>
        </p:nvSpPr>
        <p:spPr>
          <a:xfrm>
            <a:off x="1317775" y="3232800"/>
            <a:ext cx="2490600" cy="6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Mentor Name:</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en" sz="1800">
                <a:solidFill>
                  <a:schemeClr val="dk2"/>
                </a:solidFill>
                <a:latin typeface="Open Sans"/>
                <a:ea typeface="Open Sans"/>
                <a:cs typeface="Open Sans"/>
                <a:sym typeface="Open Sans"/>
              </a:rPr>
              <a:t>Ms. Nithyasri S J</a:t>
            </a:r>
            <a:endParaRPr sz="1800">
              <a:solidFill>
                <a:schemeClr val="dk2"/>
              </a:solidFill>
              <a:latin typeface="Open Sans"/>
              <a:ea typeface="Open Sans"/>
              <a:cs typeface="Open Sans"/>
              <a:sym typeface="Open Sans"/>
            </a:endParaRPr>
          </a:p>
        </p:txBody>
      </p:sp>
      <p:sp>
        <p:nvSpPr>
          <p:cNvPr id="69" name="Google Shape;69;p13"/>
          <p:cNvSpPr txBox="1"/>
          <p:nvPr/>
        </p:nvSpPr>
        <p:spPr>
          <a:xfrm>
            <a:off x="5963150" y="3232800"/>
            <a:ext cx="1899900" cy="6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Intern Name:</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rPr lang="en" sz="1800">
                <a:solidFill>
                  <a:schemeClr val="dk2"/>
                </a:solidFill>
                <a:latin typeface="Open Sans"/>
                <a:ea typeface="Open Sans"/>
                <a:cs typeface="Open Sans"/>
                <a:sym typeface="Open Sans"/>
              </a:rPr>
              <a:t>Arya Mishra</a:t>
            </a:r>
            <a:endParaRPr sz="1800">
              <a:solidFill>
                <a:schemeClr val="dk2"/>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75" name="Google Shape;75;p14"/>
          <p:cNvSpPr txBox="1"/>
          <p:nvPr>
            <p:ph idx="1" type="body"/>
          </p:nvPr>
        </p:nvSpPr>
        <p:spPr>
          <a:xfrm>
            <a:off x="311700" y="938300"/>
            <a:ext cx="8520600" cy="38538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700">
                <a:latin typeface="Arial"/>
                <a:ea typeface="Arial"/>
                <a:cs typeface="Arial"/>
                <a:sym typeface="Arial"/>
              </a:rPr>
              <a:t>ElectViz</a:t>
            </a:r>
            <a:r>
              <a:rPr lang="en" sz="1700">
                <a:latin typeface="Arial"/>
                <a:ea typeface="Arial"/>
                <a:cs typeface="Arial"/>
                <a:sym typeface="Arial"/>
              </a:rPr>
              <a:t> is a data visualization project developed using </a:t>
            </a:r>
            <a:r>
              <a:rPr b="1" lang="en" sz="1700">
                <a:latin typeface="Arial"/>
                <a:ea typeface="Arial"/>
                <a:cs typeface="Arial"/>
                <a:sym typeface="Arial"/>
              </a:rPr>
              <a:t>Power BI</a:t>
            </a:r>
            <a:r>
              <a:rPr lang="en" sz="1700">
                <a:latin typeface="Arial"/>
                <a:ea typeface="Arial"/>
                <a:cs typeface="Arial"/>
                <a:sym typeface="Arial"/>
              </a:rPr>
              <a:t> that focuses on transforming large-scale election data into interactive and easy-to-understand dashboards. The project presents election insights in a structured and visually engaging manner, making complex datasets more accessible to users.</a:t>
            </a:r>
            <a:endParaRPr sz="1700">
              <a:latin typeface="Arial"/>
              <a:ea typeface="Arial"/>
              <a:cs typeface="Arial"/>
              <a:sym typeface="Arial"/>
            </a:endParaRPr>
          </a:p>
          <a:p>
            <a:pPr indent="0" lvl="0" marL="0" rtl="0" algn="l">
              <a:spcBef>
                <a:spcPts val="1200"/>
              </a:spcBef>
              <a:spcAft>
                <a:spcPts val="0"/>
              </a:spcAft>
              <a:buNone/>
            </a:pPr>
            <a:r>
              <a:rPr lang="en" sz="1700">
                <a:latin typeface="Arial"/>
                <a:ea typeface="Arial"/>
                <a:cs typeface="Arial"/>
                <a:sym typeface="Arial"/>
              </a:rPr>
              <a:t>The key issue addressed by ElectViz is the difficulty in analyzing and interpreting raw election data due to the lack of an interactive analytical platform. By leveraging Power BI’s advanced visualization and filtering capabilities, the project allows users to explore data efficiently while maintaining accuracy and depth. This results in improved clarity, transparency, and reliable, data-driven election analysis.</a:t>
            </a:r>
            <a:endParaRPr sz="1700">
              <a:latin typeface="Arial"/>
              <a:ea typeface="Arial"/>
              <a:cs typeface="Arial"/>
              <a:sym typeface="Arial"/>
            </a:endParaRPr>
          </a:p>
          <a:p>
            <a:pPr indent="0" lvl="0" marL="0" rtl="0" algn="l">
              <a:spcBef>
                <a:spcPts val="1200"/>
              </a:spcBef>
              <a:spcAft>
                <a:spcPts val="120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Times New Roman"/>
                <a:ea typeface="Times New Roman"/>
                <a:cs typeface="Times New Roman"/>
                <a:sym typeface="Times New Roman"/>
              </a:rPr>
              <a:t>Objectives</a:t>
            </a:r>
            <a:endParaRPr b="1">
              <a:latin typeface="Times New Roman"/>
              <a:ea typeface="Times New Roman"/>
              <a:cs typeface="Times New Roman"/>
              <a:sym typeface="Times New Roman"/>
            </a:endParaRPr>
          </a:p>
        </p:txBody>
      </p:sp>
      <p:sp>
        <p:nvSpPr>
          <p:cNvPr id="81" name="Google Shape;81;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To examine election data across multiple years, states, and constituencies for comprehensive analysis.</a:t>
            </a:r>
            <a:br>
              <a:rPr lang="en"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To evaluate political party performance by analyzing vote share, seats won, and overall dominance.</a:t>
            </a:r>
            <a:br>
              <a:rPr lang="en"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To gain insights into voter participation levels, including turnout trends and gender representation.</a:t>
            </a:r>
            <a:br>
              <a:rPr lang="en"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To assess electoral competitiveness using factors such as victory margins and the strength of winning candidates.</a:t>
            </a:r>
            <a:br>
              <a:rPr lang="en"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To deliver key findings through interactive, intuitive, and visually engaging dashboards.</a:t>
            </a:r>
            <a:endParaRPr sz="1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6"/>
          <p:cNvPicPr preferRelativeResize="0"/>
          <p:nvPr/>
        </p:nvPicPr>
        <p:blipFill rotWithShape="1">
          <a:blip r:embed="rId3">
            <a:alphaModFix/>
          </a:blip>
          <a:srcRect b="841" l="0" r="0" t="12436"/>
          <a:stretch/>
        </p:blipFill>
        <p:spPr>
          <a:xfrm>
            <a:off x="225363" y="742075"/>
            <a:ext cx="8693275" cy="4211019"/>
          </a:xfrm>
          <a:prstGeom prst="rect">
            <a:avLst/>
          </a:prstGeom>
          <a:noFill/>
          <a:ln>
            <a:noFill/>
          </a:ln>
        </p:spPr>
      </p:pic>
      <p:sp>
        <p:nvSpPr>
          <p:cNvPr id="87" name="Google Shape;87;p16"/>
          <p:cNvSpPr txBox="1"/>
          <p:nvPr>
            <p:ph type="title"/>
          </p:nvPr>
        </p:nvSpPr>
        <p:spPr>
          <a:xfrm>
            <a:off x="225375" y="1274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System Design</a:t>
            </a:r>
            <a:endParaRPr b="1">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7"/>
          <p:cNvPicPr preferRelativeResize="0"/>
          <p:nvPr/>
        </p:nvPicPr>
        <p:blipFill rotWithShape="1">
          <a:blip r:embed="rId3">
            <a:alphaModFix/>
          </a:blip>
          <a:srcRect b="-2245" l="19" r="29" t="16555"/>
          <a:stretch/>
        </p:blipFill>
        <p:spPr>
          <a:xfrm>
            <a:off x="180700" y="950600"/>
            <a:ext cx="8776900" cy="3985050"/>
          </a:xfrm>
          <a:prstGeom prst="rect">
            <a:avLst/>
          </a:prstGeom>
          <a:noFill/>
          <a:ln>
            <a:noFill/>
          </a:ln>
        </p:spPr>
      </p:pic>
      <p:sp>
        <p:nvSpPr>
          <p:cNvPr id="93" name="Google Shape;93;p17"/>
          <p:cNvSpPr txBox="1"/>
          <p:nvPr>
            <p:ph type="title"/>
          </p:nvPr>
        </p:nvSpPr>
        <p:spPr>
          <a:xfrm>
            <a:off x="311700" y="185300"/>
            <a:ext cx="8520600" cy="5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2956">
                <a:latin typeface="Times New Roman"/>
                <a:ea typeface="Times New Roman"/>
                <a:cs typeface="Times New Roman"/>
                <a:sym typeface="Times New Roman"/>
              </a:rPr>
              <a:t>Workflow</a:t>
            </a:r>
            <a:endParaRPr sz="2956">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412438" y="926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Dashboards</a:t>
            </a:r>
            <a:endParaRPr b="1"/>
          </a:p>
        </p:txBody>
      </p:sp>
      <p:pic>
        <p:nvPicPr>
          <p:cNvPr id="99" name="Google Shape;99;p18"/>
          <p:cNvPicPr preferRelativeResize="0"/>
          <p:nvPr/>
        </p:nvPicPr>
        <p:blipFill>
          <a:blip r:embed="rId3">
            <a:alphaModFix/>
          </a:blip>
          <a:stretch>
            <a:fillRect/>
          </a:stretch>
        </p:blipFill>
        <p:spPr>
          <a:xfrm>
            <a:off x="412450" y="800000"/>
            <a:ext cx="3928875" cy="1893475"/>
          </a:xfrm>
          <a:prstGeom prst="rect">
            <a:avLst/>
          </a:prstGeom>
          <a:noFill/>
          <a:ln>
            <a:noFill/>
          </a:ln>
        </p:spPr>
      </p:pic>
      <p:pic>
        <p:nvPicPr>
          <p:cNvPr id="100" name="Google Shape;100;p18"/>
          <p:cNvPicPr preferRelativeResize="0"/>
          <p:nvPr/>
        </p:nvPicPr>
        <p:blipFill>
          <a:blip r:embed="rId4">
            <a:alphaModFix/>
          </a:blip>
          <a:stretch>
            <a:fillRect/>
          </a:stretch>
        </p:blipFill>
        <p:spPr>
          <a:xfrm>
            <a:off x="4966875" y="800000"/>
            <a:ext cx="3788125" cy="1893475"/>
          </a:xfrm>
          <a:prstGeom prst="rect">
            <a:avLst/>
          </a:prstGeom>
          <a:noFill/>
          <a:ln>
            <a:noFill/>
          </a:ln>
        </p:spPr>
      </p:pic>
      <p:pic>
        <p:nvPicPr>
          <p:cNvPr id="101" name="Google Shape;101;p18"/>
          <p:cNvPicPr preferRelativeResize="0"/>
          <p:nvPr/>
        </p:nvPicPr>
        <p:blipFill>
          <a:blip r:embed="rId5">
            <a:alphaModFix/>
          </a:blip>
          <a:stretch>
            <a:fillRect/>
          </a:stretch>
        </p:blipFill>
        <p:spPr>
          <a:xfrm>
            <a:off x="412450" y="2919975"/>
            <a:ext cx="3928875" cy="2027275"/>
          </a:xfrm>
          <a:prstGeom prst="rect">
            <a:avLst/>
          </a:prstGeom>
          <a:noFill/>
          <a:ln>
            <a:noFill/>
          </a:ln>
        </p:spPr>
      </p:pic>
      <p:pic>
        <p:nvPicPr>
          <p:cNvPr id="102" name="Google Shape;102;p18"/>
          <p:cNvPicPr preferRelativeResize="0"/>
          <p:nvPr/>
        </p:nvPicPr>
        <p:blipFill>
          <a:blip r:embed="rId6">
            <a:alphaModFix/>
          </a:blip>
          <a:stretch>
            <a:fillRect/>
          </a:stretch>
        </p:blipFill>
        <p:spPr>
          <a:xfrm>
            <a:off x="4966875" y="2919975"/>
            <a:ext cx="3788125" cy="2027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58350" y="1438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Dashboards</a:t>
            </a:r>
            <a:endParaRPr b="1"/>
          </a:p>
        </p:txBody>
      </p:sp>
      <p:pic>
        <p:nvPicPr>
          <p:cNvPr id="108" name="Google Shape;108;p19"/>
          <p:cNvPicPr preferRelativeResize="0"/>
          <p:nvPr/>
        </p:nvPicPr>
        <p:blipFill>
          <a:blip r:embed="rId3">
            <a:alphaModFix/>
          </a:blip>
          <a:stretch>
            <a:fillRect/>
          </a:stretch>
        </p:blipFill>
        <p:spPr>
          <a:xfrm>
            <a:off x="4906650" y="851225"/>
            <a:ext cx="3833300" cy="1767550"/>
          </a:xfrm>
          <a:prstGeom prst="rect">
            <a:avLst/>
          </a:prstGeom>
          <a:noFill/>
          <a:ln>
            <a:noFill/>
          </a:ln>
        </p:spPr>
      </p:pic>
      <p:pic>
        <p:nvPicPr>
          <p:cNvPr id="109" name="Google Shape;109;p19"/>
          <p:cNvPicPr preferRelativeResize="0"/>
          <p:nvPr/>
        </p:nvPicPr>
        <p:blipFill>
          <a:blip r:embed="rId4">
            <a:alphaModFix/>
          </a:blip>
          <a:stretch>
            <a:fillRect/>
          </a:stretch>
        </p:blipFill>
        <p:spPr>
          <a:xfrm>
            <a:off x="4978475" y="2797550"/>
            <a:ext cx="3752999" cy="2113400"/>
          </a:xfrm>
          <a:prstGeom prst="rect">
            <a:avLst/>
          </a:prstGeom>
          <a:noFill/>
          <a:ln>
            <a:noFill/>
          </a:ln>
        </p:spPr>
      </p:pic>
      <p:pic>
        <p:nvPicPr>
          <p:cNvPr id="110" name="Google Shape;110;p19"/>
          <p:cNvPicPr preferRelativeResize="0"/>
          <p:nvPr/>
        </p:nvPicPr>
        <p:blipFill>
          <a:blip r:embed="rId5">
            <a:alphaModFix/>
          </a:blip>
          <a:stretch>
            <a:fillRect/>
          </a:stretch>
        </p:blipFill>
        <p:spPr>
          <a:xfrm>
            <a:off x="431200" y="851225"/>
            <a:ext cx="4140800" cy="1767550"/>
          </a:xfrm>
          <a:prstGeom prst="rect">
            <a:avLst/>
          </a:prstGeom>
          <a:noFill/>
          <a:ln>
            <a:noFill/>
          </a:ln>
        </p:spPr>
      </p:pic>
      <p:pic>
        <p:nvPicPr>
          <p:cNvPr id="111" name="Google Shape;111;p19"/>
          <p:cNvPicPr preferRelativeResize="0"/>
          <p:nvPr/>
        </p:nvPicPr>
        <p:blipFill>
          <a:blip r:embed="rId6">
            <a:alphaModFix/>
          </a:blip>
          <a:stretch>
            <a:fillRect/>
          </a:stretch>
        </p:blipFill>
        <p:spPr>
          <a:xfrm>
            <a:off x="431200" y="2797550"/>
            <a:ext cx="4140800" cy="187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0"/>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pic>
        <p:nvPicPr>
          <p:cNvPr id="117" name="Google Shape;117;p20"/>
          <p:cNvPicPr preferRelativeResize="0"/>
          <p:nvPr/>
        </p:nvPicPr>
        <p:blipFill>
          <a:blip r:embed="rId4">
            <a:alphaModFix/>
          </a:blip>
          <a:stretch>
            <a:fillRect/>
          </a:stretch>
        </p:blipFill>
        <p:spPr>
          <a:xfrm>
            <a:off x="-35700" y="4935650"/>
            <a:ext cx="9210674" cy="212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Conclusion</a:t>
            </a:r>
            <a:endParaRPr b="1"/>
          </a:p>
        </p:txBody>
      </p:sp>
      <p:sp>
        <p:nvSpPr>
          <p:cNvPr id="123" name="Google Shape;123;p21"/>
          <p:cNvSpPr txBox="1"/>
          <p:nvPr>
            <p:ph idx="1" type="body"/>
          </p:nvPr>
        </p:nvSpPr>
        <p:spPr>
          <a:xfrm>
            <a:off x="453775" y="1017800"/>
            <a:ext cx="8255700" cy="3215700"/>
          </a:xfrm>
          <a:prstGeom prst="rect">
            <a:avLst/>
          </a:prstGeom>
        </p:spPr>
        <p:txBody>
          <a:bodyPr anchorCtr="0" anchor="t" bIns="91425" lIns="91425" spcFirstLastPara="1" rIns="91425" wrap="square" tIns="91425">
            <a:normAutofit lnSpcReduction="10000"/>
          </a:bodyPr>
          <a:lstStyle/>
          <a:p>
            <a:pPr indent="0" lvl="0" marL="0" rtl="0" algn="just">
              <a:lnSpc>
                <a:spcPct val="130000"/>
              </a:lnSpc>
              <a:spcBef>
                <a:spcPts val="0"/>
              </a:spcBef>
              <a:spcAft>
                <a:spcPts val="1200"/>
              </a:spcAft>
              <a:buSzPts val="935"/>
              <a:buNone/>
            </a:pPr>
            <a:r>
              <a:rPr lang="en" sz="1840">
                <a:latin typeface="Times New Roman"/>
                <a:ea typeface="Times New Roman"/>
                <a:cs typeface="Times New Roman"/>
                <a:sym typeface="Times New Roman"/>
              </a:rPr>
              <a:t>ElectViz effectively connects raw election data with meaningful public insights through a centralized and automated visualization system. The project converts complex electoral datasets into clear, interactive dashboards using features such as geographic maps and swing analysis visuals. This approach minimizes delays and reduces manual errors commonly found in traditional reporting methods. A well-structured data pipeline enables timely insights, helping analysts and media teams quickly identify trends like voter shifts and anti-incumbency patterns. Overall, ElectViz provides a scalable and efficient solution that strengthens transparency and delivers presentation-ready election insights for modern digital platforms.</a:t>
            </a:r>
            <a:endParaRPr sz="133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nvSpPr>
        <p:spPr>
          <a:xfrm>
            <a:off x="311700" y="154950"/>
            <a:ext cx="8520600" cy="5703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3000">
                <a:solidFill>
                  <a:schemeClr val="accent1"/>
                </a:solidFill>
                <a:latin typeface="Times New Roman"/>
                <a:ea typeface="Times New Roman"/>
                <a:cs typeface="Times New Roman"/>
                <a:sym typeface="Times New Roman"/>
              </a:rPr>
              <a:t>Acknowledgement </a:t>
            </a:r>
            <a:endParaRPr b="1" sz="3000">
              <a:solidFill>
                <a:schemeClr val="accent1"/>
              </a:solidFill>
              <a:latin typeface="Times New Roman"/>
              <a:ea typeface="Times New Roman"/>
              <a:cs typeface="Times New Roman"/>
              <a:sym typeface="Times New Roman"/>
            </a:endParaRPr>
          </a:p>
        </p:txBody>
      </p:sp>
      <p:sp>
        <p:nvSpPr>
          <p:cNvPr id="129" name="Google Shape;129;p22"/>
          <p:cNvSpPr txBox="1"/>
          <p:nvPr/>
        </p:nvSpPr>
        <p:spPr>
          <a:xfrm>
            <a:off x="369625" y="725250"/>
            <a:ext cx="8520600" cy="1650300"/>
          </a:xfrm>
          <a:prstGeom prst="rect">
            <a:avLst/>
          </a:prstGeom>
          <a:noFill/>
          <a:ln>
            <a:noFill/>
          </a:ln>
        </p:spPr>
        <p:txBody>
          <a:bodyPr anchorCtr="0" anchor="t" bIns="91425" lIns="91425" spcFirstLastPara="1" rIns="91425" wrap="square" tIns="91425">
            <a:noAutofit/>
          </a:bodyPr>
          <a:lstStyle/>
          <a:p>
            <a:pPr indent="0" lvl="0" marL="0" rtl="0" algn="l">
              <a:lnSpc>
                <a:spcPct val="83000"/>
              </a:lnSpc>
              <a:spcBef>
                <a:spcPts val="0"/>
              </a:spcBef>
              <a:spcAft>
                <a:spcPts val="0"/>
              </a:spcAft>
              <a:buNone/>
            </a:pPr>
            <a:r>
              <a:rPr lang="en" sz="1300">
                <a:solidFill>
                  <a:srgbClr val="0A0A0A"/>
                </a:solidFill>
                <a:latin typeface="Times New Roman"/>
                <a:ea typeface="Times New Roman"/>
                <a:cs typeface="Times New Roman"/>
                <a:sym typeface="Times New Roman"/>
              </a:rPr>
              <a:t>We would like to express our heartfelt gratitude to :</a:t>
            </a:r>
            <a:endParaRPr sz="1300">
              <a:solidFill>
                <a:srgbClr val="0A0A0A"/>
              </a:solidFill>
              <a:latin typeface="Times New Roman"/>
              <a:ea typeface="Times New Roman"/>
              <a:cs typeface="Times New Roman"/>
              <a:sym typeface="Times New Roman"/>
            </a:endParaRPr>
          </a:p>
          <a:p>
            <a:pPr indent="-311150" lvl="0" marL="457200" rtl="0" algn="l">
              <a:lnSpc>
                <a:spcPct val="83000"/>
              </a:lnSpc>
              <a:spcBef>
                <a:spcPts val="1200"/>
              </a:spcBef>
              <a:spcAft>
                <a:spcPts val="0"/>
              </a:spcAft>
              <a:buClr>
                <a:srgbClr val="0A0A0A"/>
              </a:buClr>
              <a:buSzPts val="1300"/>
              <a:buFont typeface="Times New Roman"/>
              <a:buChar char="-"/>
            </a:pPr>
            <a:r>
              <a:rPr b="1" lang="en" sz="1300">
                <a:solidFill>
                  <a:srgbClr val="0A0A0A"/>
                </a:solidFill>
                <a:latin typeface="Times New Roman"/>
                <a:ea typeface="Times New Roman"/>
                <a:cs typeface="Times New Roman"/>
                <a:sym typeface="Times New Roman"/>
              </a:rPr>
              <a:t>Infosys Springboard Team </a:t>
            </a:r>
            <a:r>
              <a:rPr lang="en" sz="1300">
                <a:solidFill>
                  <a:srgbClr val="0A0A0A"/>
                </a:solidFill>
                <a:latin typeface="Times New Roman"/>
                <a:ea typeface="Times New Roman"/>
                <a:cs typeface="Times New Roman"/>
                <a:sym typeface="Times New Roman"/>
              </a:rPr>
              <a:t>- for organizing this valuable internship opportunity.</a:t>
            </a:r>
            <a:endParaRPr sz="1300">
              <a:solidFill>
                <a:srgbClr val="0A0A0A"/>
              </a:solidFill>
              <a:latin typeface="Times New Roman"/>
              <a:ea typeface="Times New Roman"/>
              <a:cs typeface="Times New Roman"/>
              <a:sym typeface="Times New Roman"/>
            </a:endParaRPr>
          </a:p>
          <a:p>
            <a:pPr indent="-311150" lvl="0" marL="457200" rtl="0" algn="l">
              <a:lnSpc>
                <a:spcPct val="83000"/>
              </a:lnSpc>
              <a:spcBef>
                <a:spcPts val="0"/>
              </a:spcBef>
              <a:spcAft>
                <a:spcPts val="0"/>
              </a:spcAft>
              <a:buClr>
                <a:srgbClr val="0A0A0A"/>
              </a:buClr>
              <a:buSzPts val="1300"/>
              <a:buFont typeface="Times New Roman"/>
              <a:buChar char="-"/>
            </a:pPr>
            <a:r>
              <a:rPr b="1" lang="en" sz="1300">
                <a:solidFill>
                  <a:srgbClr val="0A0A0A"/>
                </a:solidFill>
                <a:latin typeface="Times New Roman"/>
                <a:ea typeface="Times New Roman"/>
                <a:cs typeface="Times New Roman"/>
                <a:sym typeface="Times New Roman"/>
              </a:rPr>
              <a:t>My</a:t>
            </a:r>
            <a:r>
              <a:rPr b="1" lang="en" sz="1300">
                <a:solidFill>
                  <a:srgbClr val="0A0A0A"/>
                </a:solidFill>
                <a:latin typeface="Times New Roman"/>
                <a:ea typeface="Times New Roman"/>
                <a:cs typeface="Times New Roman"/>
                <a:sym typeface="Times New Roman"/>
              </a:rPr>
              <a:t> Mentor</a:t>
            </a:r>
            <a:r>
              <a:rPr lang="en" sz="1300">
                <a:solidFill>
                  <a:srgbClr val="0A0A0A"/>
                </a:solidFill>
                <a:latin typeface="Times New Roman"/>
                <a:ea typeface="Times New Roman"/>
                <a:cs typeface="Times New Roman"/>
                <a:sym typeface="Times New Roman"/>
              </a:rPr>
              <a:t> - for her continuous support and feedback.</a:t>
            </a:r>
            <a:endParaRPr sz="1300">
              <a:solidFill>
                <a:srgbClr val="0A0A0A"/>
              </a:solidFill>
              <a:latin typeface="Times New Roman"/>
              <a:ea typeface="Times New Roman"/>
              <a:cs typeface="Times New Roman"/>
              <a:sym typeface="Times New Roman"/>
            </a:endParaRPr>
          </a:p>
          <a:p>
            <a:pPr indent="-311150" lvl="0" marL="457200" rtl="0" algn="l">
              <a:lnSpc>
                <a:spcPct val="83000"/>
              </a:lnSpc>
              <a:spcBef>
                <a:spcPts val="0"/>
              </a:spcBef>
              <a:spcAft>
                <a:spcPts val="0"/>
              </a:spcAft>
              <a:buClr>
                <a:srgbClr val="0A0A0A"/>
              </a:buClr>
              <a:buSzPts val="1300"/>
              <a:buFont typeface="Times New Roman"/>
              <a:buChar char="-"/>
            </a:pPr>
            <a:r>
              <a:rPr b="1" lang="en" sz="1300">
                <a:solidFill>
                  <a:srgbClr val="0A0A0A"/>
                </a:solidFill>
                <a:latin typeface="Times New Roman"/>
                <a:ea typeface="Times New Roman"/>
                <a:cs typeface="Times New Roman"/>
                <a:sym typeface="Times New Roman"/>
              </a:rPr>
              <a:t>My</a:t>
            </a:r>
            <a:r>
              <a:rPr b="1" lang="en" sz="1300">
                <a:solidFill>
                  <a:srgbClr val="0A0A0A"/>
                </a:solidFill>
                <a:latin typeface="Times New Roman"/>
                <a:ea typeface="Times New Roman"/>
                <a:cs typeface="Times New Roman"/>
                <a:sym typeface="Times New Roman"/>
              </a:rPr>
              <a:t> Teammates</a:t>
            </a:r>
            <a:r>
              <a:rPr lang="en" sz="1300">
                <a:solidFill>
                  <a:srgbClr val="0A0A0A"/>
                </a:solidFill>
                <a:latin typeface="Times New Roman"/>
                <a:ea typeface="Times New Roman"/>
                <a:cs typeface="Times New Roman"/>
                <a:sym typeface="Times New Roman"/>
              </a:rPr>
              <a:t> - for collaboration, encouragement, and insights</a:t>
            </a:r>
            <a:endParaRPr sz="1300">
              <a:solidFill>
                <a:srgbClr val="0A0A0A"/>
              </a:solidFill>
              <a:latin typeface="Times New Roman"/>
              <a:ea typeface="Times New Roman"/>
              <a:cs typeface="Times New Roman"/>
              <a:sym typeface="Times New Roman"/>
            </a:endParaRPr>
          </a:p>
          <a:p>
            <a:pPr indent="0" lvl="0" marL="0" rtl="0" algn="l">
              <a:lnSpc>
                <a:spcPct val="83000"/>
              </a:lnSpc>
              <a:spcBef>
                <a:spcPts val="1200"/>
              </a:spcBef>
              <a:spcAft>
                <a:spcPts val="0"/>
              </a:spcAft>
              <a:buNone/>
            </a:pPr>
            <a:r>
              <a:rPr lang="en" sz="1300">
                <a:solidFill>
                  <a:srgbClr val="0A0A0A"/>
                </a:solidFill>
                <a:latin typeface="Times New Roman"/>
                <a:ea typeface="Times New Roman"/>
                <a:cs typeface="Times New Roman"/>
                <a:sym typeface="Times New Roman"/>
              </a:rPr>
              <a:t>This internship has been a significant step in our professional growth and technical journey and we are grateful to be a part of this great learning experience.</a:t>
            </a:r>
            <a:endParaRPr sz="1300">
              <a:solidFill>
                <a:srgbClr val="0A0A0A"/>
              </a:solidFill>
              <a:latin typeface="Times New Roman"/>
              <a:ea typeface="Times New Roman"/>
              <a:cs typeface="Times New Roman"/>
              <a:sym typeface="Times New Roman"/>
            </a:endParaRPr>
          </a:p>
          <a:p>
            <a:pPr indent="0" lvl="0" marL="0" rtl="0" algn="l">
              <a:lnSpc>
                <a:spcPct val="83000"/>
              </a:lnSpc>
              <a:spcBef>
                <a:spcPts val="1200"/>
              </a:spcBef>
              <a:spcAft>
                <a:spcPts val="0"/>
              </a:spcAft>
              <a:buNone/>
            </a:pPr>
            <a:r>
              <a:t/>
            </a:r>
            <a:endParaRPr sz="1300">
              <a:solidFill>
                <a:srgbClr val="434343"/>
              </a:solidFill>
              <a:latin typeface="Roboto"/>
              <a:ea typeface="Roboto"/>
              <a:cs typeface="Roboto"/>
              <a:sym typeface="Roboto"/>
            </a:endParaRPr>
          </a:p>
          <a:p>
            <a:pPr indent="0" lvl="0" marL="0" rtl="0" algn="l">
              <a:lnSpc>
                <a:spcPct val="80000"/>
              </a:lnSpc>
              <a:spcBef>
                <a:spcPts val="0"/>
              </a:spcBef>
              <a:spcAft>
                <a:spcPts val="0"/>
              </a:spcAft>
              <a:buNone/>
            </a:pPr>
            <a:r>
              <a:t/>
            </a:r>
            <a:endParaRPr sz="1300">
              <a:solidFill>
                <a:srgbClr val="2A3990"/>
              </a:solidFill>
              <a:latin typeface="Roboto"/>
              <a:ea typeface="Roboto"/>
              <a:cs typeface="Roboto"/>
              <a:sym typeface="Roboto"/>
            </a:endParaRPr>
          </a:p>
          <a:p>
            <a:pPr indent="0" lvl="0" marL="0" rtl="0" algn="l">
              <a:lnSpc>
                <a:spcPct val="83000"/>
              </a:lnSpc>
              <a:spcBef>
                <a:spcPts val="0"/>
              </a:spcBef>
              <a:spcAft>
                <a:spcPts val="0"/>
              </a:spcAft>
              <a:buNone/>
            </a:pPr>
            <a:r>
              <a:t/>
            </a:r>
            <a:endParaRPr sz="1300">
              <a:solidFill>
                <a:srgbClr val="434343"/>
              </a:solidFill>
              <a:latin typeface="Roboto"/>
              <a:ea typeface="Roboto"/>
              <a:cs typeface="Roboto"/>
              <a:sym typeface="Roboto"/>
            </a:endParaRPr>
          </a:p>
          <a:p>
            <a:pPr indent="0" lvl="0" marL="0" rtl="0" algn="l">
              <a:lnSpc>
                <a:spcPct val="80000"/>
              </a:lnSpc>
              <a:spcBef>
                <a:spcPts val="1200"/>
              </a:spcBef>
              <a:spcAft>
                <a:spcPts val="1200"/>
              </a:spcAft>
              <a:buNone/>
            </a:pPr>
            <a:r>
              <a:t/>
            </a:r>
            <a:endParaRPr sz="1300">
              <a:solidFill>
                <a:srgbClr val="434343"/>
              </a:solidFill>
              <a:latin typeface="Roboto"/>
              <a:ea typeface="Roboto"/>
              <a:cs typeface="Roboto"/>
              <a:sym typeface="Roboto"/>
            </a:endParaRPr>
          </a:p>
        </p:txBody>
      </p:sp>
      <p:sp>
        <p:nvSpPr>
          <p:cNvPr id="130" name="Google Shape;130;p22"/>
          <p:cNvSpPr txBox="1"/>
          <p:nvPr/>
        </p:nvSpPr>
        <p:spPr>
          <a:xfrm>
            <a:off x="369625" y="2320350"/>
            <a:ext cx="8520600" cy="5028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sz="3000">
                <a:solidFill>
                  <a:schemeClr val="accent1"/>
                </a:solidFill>
                <a:latin typeface="Times New Roman"/>
                <a:ea typeface="Times New Roman"/>
                <a:cs typeface="Times New Roman"/>
                <a:sym typeface="Times New Roman"/>
              </a:rPr>
              <a:t>References  </a:t>
            </a:r>
            <a:endParaRPr b="1" sz="3000">
              <a:solidFill>
                <a:schemeClr val="accent1"/>
              </a:solidFill>
              <a:latin typeface="Times New Roman"/>
              <a:ea typeface="Times New Roman"/>
              <a:cs typeface="Times New Roman"/>
              <a:sym typeface="Times New Roman"/>
            </a:endParaRPr>
          </a:p>
        </p:txBody>
      </p:sp>
      <p:sp>
        <p:nvSpPr>
          <p:cNvPr id="131" name="Google Shape;131;p22"/>
          <p:cNvSpPr txBox="1"/>
          <p:nvPr/>
        </p:nvSpPr>
        <p:spPr>
          <a:xfrm>
            <a:off x="369625" y="2947125"/>
            <a:ext cx="7446900" cy="1704300"/>
          </a:xfrm>
          <a:prstGeom prst="rect">
            <a:avLst/>
          </a:prstGeom>
          <a:noFill/>
          <a:ln>
            <a:noFill/>
          </a:ln>
        </p:spPr>
        <p:txBody>
          <a:bodyPr anchorCtr="0" anchor="t" bIns="91425" lIns="91425" spcFirstLastPara="1" rIns="91425" wrap="square" tIns="91425">
            <a:noAutofit/>
          </a:bodyPr>
          <a:lstStyle/>
          <a:p>
            <a:pPr indent="-311150" lvl="0" marL="457200" rtl="0" algn="l">
              <a:lnSpc>
                <a:spcPct val="103000"/>
              </a:lnSpc>
              <a:spcBef>
                <a:spcPts val="0"/>
              </a:spcBef>
              <a:spcAft>
                <a:spcPts val="0"/>
              </a:spcAft>
              <a:buClr>
                <a:srgbClr val="0A0A0A"/>
              </a:buClr>
              <a:buSzPts val="1300"/>
              <a:buFont typeface="Times New Roman"/>
              <a:buChar char="-"/>
            </a:pPr>
            <a:r>
              <a:rPr lang="en" sz="1300">
                <a:solidFill>
                  <a:srgbClr val="0A0A0A"/>
                </a:solidFill>
                <a:latin typeface="Times New Roman"/>
                <a:ea typeface="Times New Roman"/>
                <a:cs typeface="Times New Roman"/>
                <a:sym typeface="Times New Roman"/>
              </a:rPr>
              <a:t>Election Dataset(Indian Election Dataset/ Kaggle source) </a:t>
            </a:r>
            <a:endParaRPr sz="1300">
              <a:solidFill>
                <a:srgbClr val="0A0A0A"/>
              </a:solidFill>
              <a:latin typeface="Times New Roman"/>
              <a:ea typeface="Times New Roman"/>
              <a:cs typeface="Times New Roman"/>
              <a:sym typeface="Times New Roman"/>
            </a:endParaRPr>
          </a:p>
          <a:p>
            <a:pPr indent="0" lvl="0" marL="457200" rtl="0" algn="l">
              <a:lnSpc>
                <a:spcPct val="103000"/>
              </a:lnSpc>
              <a:spcBef>
                <a:spcPts val="1200"/>
              </a:spcBef>
              <a:spcAft>
                <a:spcPts val="0"/>
              </a:spcAft>
              <a:buNone/>
            </a:pPr>
            <a:r>
              <a:rPr lang="en" sz="1300">
                <a:latin typeface="Times New Roman"/>
                <a:ea typeface="Times New Roman"/>
                <a:cs typeface="Times New Roman"/>
                <a:sym typeface="Times New Roman"/>
              </a:rPr>
              <a:t> “Indian Election Dataset” by Nanadan Pandey           </a:t>
            </a:r>
            <a:r>
              <a:rPr lang="en" sz="13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https://www.kaggle.com/datasets/awadhi123/indian-election-dataset</a:t>
            </a:r>
            <a:endParaRPr sz="1300">
              <a:solidFill>
                <a:schemeClr val="dk2"/>
              </a:solidFill>
              <a:latin typeface="Times New Roman"/>
              <a:ea typeface="Times New Roman"/>
              <a:cs typeface="Times New Roman"/>
              <a:sym typeface="Times New Roman"/>
            </a:endParaRPr>
          </a:p>
          <a:p>
            <a:pPr indent="-311150" lvl="0" marL="457200" rtl="0" algn="l">
              <a:lnSpc>
                <a:spcPct val="103000"/>
              </a:lnSpc>
              <a:spcBef>
                <a:spcPts val="1200"/>
              </a:spcBef>
              <a:spcAft>
                <a:spcPts val="0"/>
              </a:spcAft>
              <a:buClr>
                <a:srgbClr val="0A0A0A"/>
              </a:buClr>
              <a:buSzPts val="1300"/>
              <a:buFont typeface="Times New Roman"/>
              <a:buChar char="-"/>
            </a:pPr>
            <a:r>
              <a:rPr lang="en" sz="1300">
                <a:latin typeface="Times New Roman"/>
                <a:ea typeface="Times New Roman"/>
                <a:cs typeface="Times New Roman"/>
                <a:sym typeface="Times New Roman"/>
              </a:rPr>
              <a:t> </a:t>
            </a:r>
            <a:r>
              <a:rPr lang="en" sz="1300">
                <a:solidFill>
                  <a:srgbClr val="0A0A0A"/>
                </a:solidFill>
                <a:latin typeface="Times New Roman"/>
                <a:ea typeface="Times New Roman"/>
                <a:cs typeface="Times New Roman"/>
                <a:sym typeface="Times New Roman"/>
              </a:rPr>
              <a:t>Microsoft Power BI Documentation</a:t>
            </a:r>
            <a:endParaRPr sz="1300">
              <a:solidFill>
                <a:srgbClr val="0A0A0A"/>
              </a:solidFill>
              <a:latin typeface="Times New Roman"/>
              <a:ea typeface="Times New Roman"/>
              <a:cs typeface="Times New Roman"/>
              <a:sym typeface="Times New Roman"/>
            </a:endParaRPr>
          </a:p>
          <a:p>
            <a:pPr indent="-311150" lvl="0" marL="457200" rtl="0" algn="l">
              <a:lnSpc>
                <a:spcPct val="103000"/>
              </a:lnSpc>
              <a:spcBef>
                <a:spcPts val="0"/>
              </a:spcBef>
              <a:spcAft>
                <a:spcPts val="0"/>
              </a:spcAft>
              <a:buClr>
                <a:srgbClr val="0A0A0A"/>
              </a:buClr>
              <a:buSzPts val="1300"/>
              <a:buFont typeface="Times New Roman"/>
              <a:buChar char="-"/>
            </a:pPr>
            <a:r>
              <a:rPr lang="en" sz="1300">
                <a:solidFill>
                  <a:srgbClr val="0A0A0A"/>
                </a:solidFill>
                <a:latin typeface="Times New Roman"/>
                <a:ea typeface="Times New Roman"/>
                <a:cs typeface="Times New Roman"/>
                <a:sym typeface="Times New Roman"/>
              </a:rPr>
              <a:t>Infosys Springboard Virtual Internship course materials</a:t>
            </a:r>
            <a:endParaRPr sz="1300">
              <a:solidFill>
                <a:srgbClr val="0A0A0A"/>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1300">
              <a:solidFill>
                <a:srgbClr val="434343"/>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2059225" y="1131450"/>
            <a:ext cx="4645200" cy="197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5600"/>
              <a:t>Thankyou!</a:t>
            </a:r>
            <a:endParaRPr b="1" sz="5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