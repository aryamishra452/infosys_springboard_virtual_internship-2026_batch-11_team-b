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embeddedFontLst>
    <p:embeddedFont>
      <p:font typeface="Robot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ED59372-A20B-40F8-8136-38D034288E66}">
  <a:tblStyle styleId="{BED59372-A20B-40F8-8136-38D034288E6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font" Target="fonts/Roboto-regular.fntdata"/><Relationship Id="rId21" Type="http://schemas.openxmlformats.org/officeDocument/2006/relationships/slide" Target="slides/slide15.xml"/><Relationship Id="rId24" Type="http://schemas.openxmlformats.org/officeDocument/2006/relationships/font" Target="fonts/Roboto-italic.fntdata"/><Relationship Id="rId23" Type="http://schemas.openxmlformats.org/officeDocument/2006/relationships/font" Target="fonts/Robot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5" Type="http://schemas.openxmlformats.org/officeDocument/2006/relationships/font" Target="fonts/Robot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bc8ab441a6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bc8ab441a6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bda4e5dd89_0_7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bda4e5dd89_0_7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c6ad67ade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c6ad67ade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bef3d3c22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bef3d3c22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bd9592cb7e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3" name="Google Shape;183;g3bd9592cb7e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bd9592cb7e_0_8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bd9592cb7e_0_8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bd9592cb7e_1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bd9592cb7e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bc8ab441a6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 name="Google Shape;209;g3bc8ab441a6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bd617c27d4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3bd617c27d4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bc8ab441a6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bc8ab441a6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bc8ab441a6_0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bc8ab441a6_0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bc8ab441a6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bc8ab441a6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bc8ab441a6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bc8ab441a6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bf153cf9e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3bf153cf9e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598100" y="1775222"/>
            <a:ext cx="8222100" cy="838800"/>
          </a:xfrm>
          <a:prstGeom prst="rect">
            <a:avLst/>
          </a:prstGeom>
        </p:spPr>
        <p:txBody>
          <a:bodyPr anchorCtr="0" anchor="b"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7" name="Google Shape;17;p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p:txBody>
      </p:sp>
      <p:sp>
        <p:nvSpPr>
          <p:cNvPr id="18" name="Google Shape;18;p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9"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Google Shape;26;p3"/>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27" name="Google Shape;27;p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8"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7170274" y="3903669"/>
              <a:ext cx="989100" cy="9879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p:nvPr/>
          </p:nvSpPr>
          <p:spPr>
            <a:xfrm>
              <a:off x="0" y="4891594"/>
              <a:ext cx="9144000" cy="2520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 name="Google Shape;35;p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6" name="Google Shape;36;p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 name="Google Shape;37;p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8" name="Shape 38"/>
        <p:cNvGrpSpPr/>
        <p:nvPr/>
      </p:nvGrpSpPr>
      <p:grpSpPr>
        <a:xfrm>
          <a:off x="0" y="0"/>
          <a:ext cx="0" cy="0"/>
          <a:chOff x="0" y="0"/>
          <a:chExt cx="0" cy="0"/>
        </a:xfrm>
      </p:grpSpPr>
      <p:sp>
        <p:nvSpPr>
          <p:cNvPr id="39" name="Google Shape;39;p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 name="Google Shape;40;p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1" name="Google Shape;41;p5"/>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2" name="Google Shape;42;p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3" name="Shape 43"/>
        <p:cNvGrpSpPr/>
        <p:nvPr/>
      </p:nvGrpSpPr>
      <p:grpSpPr>
        <a:xfrm>
          <a:off x="0" y="0"/>
          <a:ext cx="0" cy="0"/>
          <a:chOff x="0" y="0"/>
          <a:chExt cx="0" cy="0"/>
        </a:xfrm>
      </p:grpSpPr>
      <p:sp>
        <p:nvSpPr>
          <p:cNvPr id="44" name="Google Shape;44;p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5" name="Google Shape;45;p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6" name="Shape 46"/>
        <p:cNvGrpSpPr/>
        <p:nvPr/>
      </p:nvGrpSpPr>
      <p:grpSpPr>
        <a:xfrm>
          <a:off x="0" y="0"/>
          <a:ext cx="0" cy="0"/>
          <a:chOff x="0" y="0"/>
          <a:chExt cx="0" cy="0"/>
        </a:xfrm>
      </p:grpSpPr>
      <p:sp>
        <p:nvSpPr>
          <p:cNvPr id="47" name="Google Shape;47;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8" name="Google Shape;48;p7"/>
          <p:cNvSpPr txBox="1"/>
          <p:nvPr>
            <p:ph idx="1" type="body"/>
          </p:nvPr>
        </p:nvSpPr>
        <p:spPr>
          <a:xfrm>
            <a:off x="311700" y="1465804"/>
            <a:ext cx="2808000" cy="31032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9" name="Google Shape;49;p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4"/>
        </a:solidFill>
      </p:bgPr>
    </p:bg>
    <p:spTree>
      <p:nvGrpSpPr>
        <p:cNvPr id="50"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8"/>
            <p:cNvSpPr/>
            <p:nvPr/>
          </p:nvSpPr>
          <p:spPr>
            <a:xfrm flipH="1" rot="10800000">
              <a:off x="7113588" y="107"/>
              <a:ext cx="1015200" cy="10152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 name="Google Shape;57;p8"/>
          <p:cNvSpPr txBox="1"/>
          <p:nvPr>
            <p:ph type="title"/>
          </p:nvPr>
        </p:nvSpPr>
        <p:spPr>
          <a:xfrm>
            <a:off x="490250" y="526350"/>
            <a:ext cx="56187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58" name="Google Shape;58;p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9"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1" name="Google Shape;6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62" name="Google Shape;62;p9"/>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63" name="Google Shape;63;p9"/>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64" name="Google Shape;64;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65" name="Google Shape;65;p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6" name="Shape 66"/>
        <p:cNvGrpSpPr/>
        <p:nvPr/>
      </p:nvGrpSpPr>
      <p:grpSpPr>
        <a:xfrm>
          <a:off x="0" y="0"/>
          <a:ext cx="0" cy="0"/>
          <a:chOff x="0" y="0"/>
          <a:chExt cx="0" cy="0"/>
        </a:xfrm>
      </p:grpSpPr>
      <p:sp>
        <p:nvSpPr>
          <p:cNvPr id="67" name="Google Shape;67;p10"/>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68" name="Google Shape;68;p1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9"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11"/>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 name="Google Shape;76;p11"/>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78" name="Google Shape;78;p1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9" name="Shape 79"/>
        <p:cNvGrpSpPr/>
        <p:nvPr/>
      </p:nvGrpSpPr>
      <p:grpSpPr>
        <a:xfrm>
          <a:off x="0" y="0"/>
          <a:ext cx="0" cy="0"/>
          <a:chOff x="0" y="0"/>
          <a:chExt cx="0" cy="0"/>
        </a:xfrm>
      </p:grpSpPr>
      <p:sp>
        <p:nvSpPr>
          <p:cNvPr id="80" name="Google Shape;80;p1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indent="-317500" lvl="1" marL="914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indent="-317500" lvl="2" marL="1371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indent="-317500" lvl="3" marL="1828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indent="-317500" lvl="4" marL="22860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indent="-317500" lvl="5" marL="27432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indent="-317500" lvl="6" marL="3200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indent="-317500" lvl="7" marL="3657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indent="-317500" lvl="8" marL="4114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www.kaggle.com/datasets/awadhi123/indian-election-datase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txBox="1"/>
          <p:nvPr>
            <p:ph type="ctrTitle"/>
          </p:nvPr>
        </p:nvSpPr>
        <p:spPr>
          <a:xfrm>
            <a:off x="598100" y="206700"/>
            <a:ext cx="8087400" cy="19023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sz="3600"/>
              <a:t>Infosys SpringBoard Virtual Internship Batch 11 Group 1 - ElectViz Election Data Visualization for Media</a:t>
            </a:r>
            <a:endParaRPr sz="3600"/>
          </a:p>
        </p:txBody>
      </p:sp>
      <p:sp>
        <p:nvSpPr>
          <p:cNvPr id="86" name="Google Shape;86;p13"/>
          <p:cNvSpPr txBox="1"/>
          <p:nvPr>
            <p:ph idx="1" type="subTitle"/>
          </p:nvPr>
        </p:nvSpPr>
        <p:spPr>
          <a:xfrm>
            <a:off x="598100" y="2571750"/>
            <a:ext cx="8222100" cy="2571600"/>
          </a:xfrm>
          <a:prstGeom prst="rect">
            <a:avLst/>
          </a:prstGeom>
        </p:spPr>
        <p:txBody>
          <a:bodyPr anchorCtr="0" anchor="t" bIns="91425" lIns="91425" spcFirstLastPara="1" rIns="91425" wrap="square" tIns="91425">
            <a:normAutofit fontScale="92500"/>
          </a:bodyPr>
          <a:lstStyle/>
          <a:p>
            <a:pPr indent="0" lvl="0" marL="0" rtl="0" algn="ctr">
              <a:lnSpc>
                <a:spcPct val="100000"/>
              </a:lnSpc>
              <a:spcBef>
                <a:spcPts val="0"/>
              </a:spcBef>
              <a:spcAft>
                <a:spcPts val="0"/>
              </a:spcAft>
              <a:buNone/>
            </a:pPr>
            <a:r>
              <a:rPr lang="en"/>
              <a:t>                                                                                Under the supervision of :</a:t>
            </a:r>
            <a:endParaRPr/>
          </a:p>
          <a:p>
            <a:pPr indent="0" lvl="0" marL="0" rtl="0" algn="l">
              <a:lnSpc>
                <a:spcPct val="100000"/>
              </a:lnSpc>
              <a:spcBef>
                <a:spcPts val="0"/>
              </a:spcBef>
              <a:spcAft>
                <a:spcPts val="0"/>
              </a:spcAft>
              <a:buNone/>
            </a:pPr>
            <a:r>
              <a:rPr lang="en"/>
              <a:t>                                                                                           Mrs.Nithyasri S J</a:t>
            </a:r>
            <a:endParaRPr/>
          </a:p>
          <a:p>
            <a:pPr indent="0" lvl="0" marL="0" rtl="0" algn="ctr">
              <a:lnSpc>
                <a:spcPct val="100000"/>
              </a:lnSpc>
              <a:spcBef>
                <a:spcPts val="0"/>
              </a:spcBef>
              <a:spcAft>
                <a:spcPts val="0"/>
              </a:spcAft>
              <a:buNone/>
            </a:pPr>
            <a:r>
              <a:rPr lang="en"/>
              <a:t>                                                                              </a:t>
            </a:r>
            <a:endParaRPr/>
          </a:p>
          <a:p>
            <a:pPr indent="0" lvl="0" marL="0" rtl="0" algn="ctr">
              <a:lnSpc>
                <a:spcPct val="100000"/>
              </a:lnSpc>
              <a:spcBef>
                <a:spcPts val="0"/>
              </a:spcBef>
              <a:spcAft>
                <a:spcPts val="0"/>
              </a:spcAft>
              <a:buNone/>
            </a:pPr>
            <a:r>
              <a:rPr lang="en"/>
              <a:t>                                                                                 Interns (</a:t>
            </a:r>
            <a:r>
              <a:rPr lang="en"/>
              <a:t>Team B)</a:t>
            </a:r>
            <a:r>
              <a:rPr lang="en"/>
              <a:t>:</a:t>
            </a:r>
            <a:endParaRPr/>
          </a:p>
          <a:p>
            <a:pPr indent="0" lvl="0" marL="0" rtl="0" algn="ctr">
              <a:lnSpc>
                <a:spcPct val="100000"/>
              </a:lnSpc>
              <a:spcBef>
                <a:spcPts val="0"/>
              </a:spcBef>
              <a:spcAft>
                <a:spcPts val="0"/>
              </a:spcAft>
              <a:buNone/>
            </a:pPr>
            <a:r>
              <a:rPr lang="en"/>
              <a:t>                                                                                Arya Mishra</a:t>
            </a:r>
            <a:endParaRPr/>
          </a:p>
          <a:p>
            <a:pPr indent="0" lvl="0" marL="0" rtl="0" algn="ctr">
              <a:lnSpc>
                <a:spcPct val="100000"/>
              </a:lnSpc>
              <a:spcBef>
                <a:spcPts val="0"/>
              </a:spcBef>
              <a:spcAft>
                <a:spcPts val="0"/>
              </a:spcAft>
              <a:buNone/>
            </a:pPr>
            <a:r>
              <a:rPr lang="en"/>
              <a:t>                                                                                Kritika Balpande</a:t>
            </a:r>
            <a:endParaRPr/>
          </a:p>
          <a:p>
            <a:pPr indent="0" lvl="0" marL="0" rtl="0" algn="ctr">
              <a:lnSpc>
                <a:spcPct val="100000"/>
              </a:lnSpc>
              <a:spcBef>
                <a:spcPts val="0"/>
              </a:spcBef>
              <a:spcAft>
                <a:spcPts val="0"/>
              </a:spcAft>
              <a:buNone/>
            </a:pPr>
            <a:r>
              <a:rPr lang="en"/>
              <a:t>                                                                                 Radha sri</a:t>
            </a:r>
            <a:endParaRPr/>
          </a:p>
          <a:p>
            <a:pPr indent="0" lvl="0" marL="0" rtl="0" algn="ctr">
              <a:lnSpc>
                <a:spcPct val="100000"/>
              </a:lnSpc>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Introduction</a:t>
            </a:r>
            <a:endParaRPr b="1">
              <a:latin typeface="Times New Roman"/>
              <a:ea typeface="Times New Roman"/>
              <a:cs typeface="Times New Roman"/>
              <a:sym typeface="Times New Roman"/>
            </a:endParaRPr>
          </a:p>
        </p:txBody>
      </p:sp>
      <p:sp>
        <p:nvSpPr>
          <p:cNvPr id="92" name="Google Shape;92;p14"/>
          <p:cNvSpPr txBox="1"/>
          <p:nvPr>
            <p:ph idx="1" type="body"/>
          </p:nvPr>
        </p:nvSpPr>
        <p:spPr>
          <a:xfrm>
            <a:off x="311700" y="938300"/>
            <a:ext cx="8520600" cy="38538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Electviz is data visualization project developed using power BI . </a:t>
            </a:r>
            <a:endParaRPr sz="1600">
              <a:solidFill>
                <a:srgbClr val="000000"/>
              </a:solidFill>
              <a:latin typeface="Times New Roman"/>
              <a:ea typeface="Times New Roman"/>
              <a:cs typeface="Times New Roman"/>
              <a:sym typeface="Times New Roman"/>
            </a:endParaRPr>
          </a:p>
          <a:p>
            <a:pPr indent="-330200" lvl="0" marL="457200" rtl="0" algn="l">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Electviz</a:t>
            </a:r>
            <a:r>
              <a:rPr lang="en" sz="1600">
                <a:solidFill>
                  <a:srgbClr val="000000"/>
                </a:solidFill>
                <a:latin typeface="Times New Roman"/>
                <a:ea typeface="Times New Roman"/>
                <a:cs typeface="Times New Roman"/>
                <a:sym typeface="Times New Roman"/>
              </a:rPr>
              <a:t> transform large scale election data into interactive and informative dashboard that present clear analysis and insights from raw election data in an engaging manner , thereby improving clarity, transparency, and understanding.</a:t>
            </a:r>
            <a:endParaRPr sz="1600">
              <a:solidFill>
                <a:srgbClr val="000000"/>
              </a:solidFill>
              <a:latin typeface="Times New Roman"/>
              <a:ea typeface="Times New Roman"/>
              <a:cs typeface="Times New Roman"/>
              <a:sym typeface="Times New Roman"/>
            </a:endParaRPr>
          </a:p>
          <a:p>
            <a:pPr indent="-330200" lvl="0" marL="457200" rtl="0" algn="l">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The problem addressed by the ElectViz project is the absence of an interactive and visual analytical system that can simplify complex election datasets while maintaining accuracy and depth of analysis. </a:t>
            </a:r>
            <a:endParaRPr sz="1600">
              <a:solidFill>
                <a:srgbClr val="0A0A0A"/>
              </a:solidFill>
              <a:highlight>
                <a:srgbClr val="FFFFFF"/>
              </a:highlight>
              <a:latin typeface="Times New Roman"/>
              <a:ea typeface="Times New Roman"/>
              <a:cs typeface="Times New Roman"/>
              <a:sym typeface="Times New Roman"/>
            </a:endParaRPr>
          </a:p>
          <a:p>
            <a:pPr indent="-330200" lvl="0" marL="457200" rtl="0" algn="l">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By leveraging Power BI’s visualization and interactivity features, the project enables users to explore election data efficiently, supporting transparent, fact-based interpretation and enhanced political reporting.</a:t>
            </a:r>
            <a:endParaRPr sz="1600">
              <a:solidFill>
                <a:srgbClr val="000000"/>
              </a:solidFill>
              <a:latin typeface="Times New Roman"/>
              <a:ea typeface="Times New Roman"/>
              <a:cs typeface="Times New Roman"/>
              <a:sym typeface="Times New Roman"/>
            </a:endParaRPr>
          </a:p>
          <a:p>
            <a:pPr indent="0" lvl="0" marL="0" rtl="0" algn="l">
              <a:spcBef>
                <a:spcPts val="100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pic>
        <p:nvPicPr>
          <p:cNvPr descr="Beautify this slide" id="97" name="Google Shape;97;p15"/>
          <p:cNvPicPr preferRelativeResize="0"/>
          <p:nvPr/>
        </p:nvPicPr>
        <p:blipFill rotWithShape="1">
          <a:blip r:embed="rId3">
            <a:alphaModFix/>
          </a:blip>
          <a:srcRect b="0" l="0" r="0" t="18032"/>
          <a:stretch/>
        </p:blipFill>
        <p:spPr>
          <a:xfrm>
            <a:off x="-35700" y="927425"/>
            <a:ext cx="9210675" cy="4216076"/>
          </a:xfrm>
          <a:prstGeom prst="rect">
            <a:avLst/>
          </a:prstGeom>
          <a:noFill/>
          <a:ln>
            <a:noFill/>
          </a:ln>
        </p:spPr>
      </p:pic>
      <p:sp>
        <p:nvSpPr>
          <p:cNvPr id="98" name="Google Shape;98;p15"/>
          <p:cNvSpPr txBox="1"/>
          <p:nvPr>
            <p:ph idx="4294967295" type="title"/>
          </p:nvPr>
        </p:nvSpPr>
        <p:spPr>
          <a:xfrm>
            <a:off x="230600" y="2130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Objectives</a:t>
            </a:r>
            <a:endParaRPr b="1">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grpSp>
        <p:nvGrpSpPr>
          <p:cNvPr id="103" name="Google Shape;103;p16"/>
          <p:cNvGrpSpPr/>
          <p:nvPr/>
        </p:nvGrpSpPr>
        <p:grpSpPr>
          <a:xfrm flipH="1">
            <a:off x="5543897" y="2611639"/>
            <a:ext cx="3231128" cy="1243361"/>
            <a:chOff x="650399" y="1767509"/>
            <a:chExt cx="3231128" cy="1243361"/>
          </a:xfrm>
        </p:grpSpPr>
        <p:sp>
          <p:nvSpPr>
            <p:cNvPr id="104" name="Google Shape;104;p16"/>
            <p:cNvSpPr txBox="1"/>
            <p:nvPr/>
          </p:nvSpPr>
          <p:spPr>
            <a:xfrm>
              <a:off x="650399" y="1923970"/>
              <a:ext cx="2077200" cy="1086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200">
                  <a:latin typeface="Times New Roman"/>
                  <a:ea typeface="Times New Roman"/>
                  <a:cs typeface="Times New Roman"/>
                  <a:sym typeface="Times New Roman"/>
                </a:rPr>
                <a:t>Milestone 3</a:t>
              </a:r>
              <a:endParaRPr b="1" sz="1200">
                <a:latin typeface="Times New Roman"/>
                <a:ea typeface="Times New Roman"/>
                <a:cs typeface="Times New Roman"/>
                <a:sym typeface="Times New Roman"/>
              </a:endParaRPr>
            </a:p>
            <a:p>
              <a:pPr indent="0" lvl="0" marL="0" rtl="0" algn="l">
                <a:spcBef>
                  <a:spcPts val="0"/>
                </a:spcBef>
                <a:spcAft>
                  <a:spcPts val="0"/>
                </a:spcAft>
                <a:buNone/>
              </a:pPr>
              <a:r>
                <a:t/>
              </a:r>
              <a:endParaRPr b="1" sz="800">
                <a:latin typeface="Times New Roman"/>
                <a:ea typeface="Times New Roman"/>
                <a:cs typeface="Times New Roman"/>
                <a:sym typeface="Times New Roman"/>
              </a:endParaRPr>
            </a:p>
            <a:p>
              <a:pPr indent="0" lvl="0" marL="0" rtl="0" algn="just">
                <a:spcBef>
                  <a:spcPts val="0"/>
                </a:spcBef>
                <a:spcAft>
                  <a:spcPts val="1600"/>
                </a:spcAft>
                <a:buNone/>
              </a:pPr>
              <a:r>
                <a:rPr lang="en" sz="1150">
                  <a:latin typeface="Times New Roman"/>
                  <a:ea typeface="Times New Roman"/>
                  <a:cs typeface="Times New Roman"/>
                  <a:sym typeface="Times New Roman"/>
                </a:rPr>
                <a:t>After analysing party performance and distribution of parliamentary constituency . The two more dashboard i.e. Year wise analysis and state level analysis added .</a:t>
              </a:r>
              <a:endParaRPr sz="1150">
                <a:latin typeface="Times New Roman"/>
                <a:ea typeface="Times New Roman"/>
                <a:cs typeface="Times New Roman"/>
                <a:sym typeface="Times New Roman"/>
              </a:endParaRPr>
            </a:p>
          </p:txBody>
        </p:sp>
        <p:cxnSp>
          <p:nvCxnSpPr>
            <p:cNvPr id="105" name="Google Shape;105;p16"/>
            <p:cNvCxnSpPr>
              <a:endCxn id="106" idx="3"/>
            </p:cNvCxnSpPr>
            <p:nvPr/>
          </p:nvCxnSpPr>
          <p:spPr>
            <a:xfrm rot="10800000">
              <a:off x="3243427" y="1923959"/>
              <a:ext cx="638100" cy="0"/>
            </a:xfrm>
            <a:prstGeom prst="straightConnector1">
              <a:avLst/>
            </a:prstGeom>
            <a:noFill/>
            <a:ln cap="flat" cmpd="sng" w="9525">
              <a:solidFill>
                <a:srgbClr val="C2C2C2"/>
              </a:solidFill>
              <a:prstDash val="solid"/>
              <a:round/>
              <a:headEnd len="sm" w="sm" type="none"/>
              <a:tailEnd len="sm" w="sm" type="none"/>
            </a:ln>
          </p:spPr>
        </p:cxnSp>
        <p:sp>
          <p:nvSpPr>
            <p:cNvPr id="107" name="Google Shape;107;p16"/>
            <p:cNvSpPr/>
            <p:nvPr/>
          </p:nvSpPr>
          <p:spPr>
            <a:xfrm>
              <a:off x="3020371" y="1824826"/>
              <a:ext cx="198600" cy="198300"/>
            </a:xfrm>
            <a:prstGeom prst="ellipse">
              <a:avLst/>
            </a:prstGeom>
            <a:solidFill>
              <a:srgbClr val="8020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6"/>
            <p:cNvSpPr txBox="1"/>
            <p:nvPr/>
          </p:nvSpPr>
          <p:spPr>
            <a:xfrm>
              <a:off x="2995927" y="1767509"/>
              <a:ext cx="247500" cy="312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800">
                  <a:solidFill>
                    <a:srgbClr val="FFFFFF"/>
                  </a:solidFill>
                  <a:latin typeface="Roboto"/>
                  <a:ea typeface="Roboto"/>
                  <a:cs typeface="Roboto"/>
                  <a:sym typeface="Roboto"/>
                </a:rPr>
                <a:t>3</a:t>
              </a:r>
              <a:endParaRPr>
                <a:solidFill>
                  <a:srgbClr val="FFFFFF"/>
                </a:solidFill>
              </a:endParaRPr>
            </a:p>
          </p:txBody>
        </p:sp>
      </p:grpSp>
      <p:grpSp>
        <p:nvGrpSpPr>
          <p:cNvPr id="108" name="Google Shape;108;p16"/>
          <p:cNvGrpSpPr/>
          <p:nvPr/>
        </p:nvGrpSpPr>
        <p:grpSpPr>
          <a:xfrm>
            <a:off x="306525" y="2788575"/>
            <a:ext cx="3548729" cy="1282800"/>
            <a:chOff x="628505" y="1448770"/>
            <a:chExt cx="3548729" cy="1282800"/>
          </a:xfrm>
        </p:grpSpPr>
        <p:sp>
          <p:nvSpPr>
            <p:cNvPr id="109" name="Google Shape;109;p16"/>
            <p:cNvSpPr txBox="1"/>
            <p:nvPr/>
          </p:nvSpPr>
          <p:spPr>
            <a:xfrm>
              <a:off x="628505" y="1448770"/>
              <a:ext cx="2306100" cy="1282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 sz="1200">
                  <a:latin typeface="Times New Roman"/>
                  <a:ea typeface="Times New Roman"/>
                  <a:cs typeface="Times New Roman"/>
                  <a:sym typeface="Times New Roman"/>
                </a:rPr>
                <a:t>Milestone </a:t>
              </a:r>
              <a:r>
                <a:rPr b="1" lang="en" sz="1200">
                  <a:latin typeface="Roboto"/>
                  <a:ea typeface="Roboto"/>
                  <a:cs typeface="Roboto"/>
                  <a:sym typeface="Roboto"/>
                </a:rPr>
                <a:t>4</a:t>
              </a:r>
              <a:endParaRPr b="1" sz="1200">
                <a:latin typeface="Roboto"/>
                <a:ea typeface="Roboto"/>
                <a:cs typeface="Roboto"/>
                <a:sym typeface="Roboto"/>
              </a:endParaRPr>
            </a:p>
            <a:p>
              <a:pPr indent="0" lvl="0" marL="0" rtl="0" algn="l">
                <a:spcBef>
                  <a:spcPts val="0"/>
                </a:spcBef>
                <a:spcAft>
                  <a:spcPts val="0"/>
                </a:spcAft>
                <a:buNone/>
              </a:pPr>
              <a:r>
                <a:t/>
              </a:r>
              <a:endParaRPr b="1" sz="1200">
                <a:latin typeface="Roboto"/>
                <a:ea typeface="Roboto"/>
                <a:cs typeface="Roboto"/>
                <a:sym typeface="Roboto"/>
              </a:endParaRPr>
            </a:p>
            <a:p>
              <a:pPr indent="0" lvl="0" marL="0" rtl="0" algn="just">
                <a:spcBef>
                  <a:spcPts val="0"/>
                </a:spcBef>
                <a:spcAft>
                  <a:spcPts val="1600"/>
                </a:spcAft>
                <a:buNone/>
              </a:pPr>
              <a:r>
                <a:rPr lang="en" sz="1150">
                  <a:latin typeface="Times New Roman"/>
                  <a:ea typeface="Times New Roman"/>
                  <a:cs typeface="Times New Roman"/>
                  <a:sym typeface="Times New Roman"/>
                </a:rPr>
                <a:t>After year wise and state level analysis , the three dashboard i.e. candidate performance analysis , Gender wise analysis and electoral competitiveness to understand gender representation , party performance and competitive nature of election.</a:t>
              </a:r>
              <a:endParaRPr b="1" sz="1150">
                <a:latin typeface="Times New Roman"/>
                <a:ea typeface="Times New Roman"/>
                <a:cs typeface="Times New Roman"/>
                <a:sym typeface="Times New Roman"/>
              </a:endParaRPr>
            </a:p>
          </p:txBody>
        </p:sp>
        <p:cxnSp>
          <p:nvCxnSpPr>
            <p:cNvPr id="110" name="Google Shape;110;p16"/>
            <p:cNvCxnSpPr/>
            <p:nvPr/>
          </p:nvCxnSpPr>
          <p:spPr>
            <a:xfrm rot="10800000">
              <a:off x="3046834" y="2215329"/>
              <a:ext cx="1130400" cy="0"/>
            </a:xfrm>
            <a:prstGeom prst="straightConnector1">
              <a:avLst/>
            </a:prstGeom>
            <a:noFill/>
            <a:ln cap="flat" cmpd="sng" w="9525">
              <a:solidFill>
                <a:srgbClr val="C2C2C2"/>
              </a:solidFill>
              <a:prstDash val="solid"/>
              <a:round/>
              <a:headEnd len="sm" w="sm" type="none"/>
              <a:tailEnd len="sm" w="sm" type="none"/>
            </a:ln>
          </p:spPr>
        </p:cxnSp>
        <p:sp>
          <p:nvSpPr>
            <p:cNvPr id="111" name="Google Shape;111;p16"/>
            <p:cNvSpPr/>
            <p:nvPr/>
          </p:nvSpPr>
          <p:spPr>
            <a:xfrm>
              <a:off x="3020371" y="2111851"/>
              <a:ext cx="198600" cy="198300"/>
            </a:xfrm>
            <a:prstGeom prst="ellipse">
              <a:avLst/>
            </a:prstGeom>
            <a:solidFill>
              <a:srgbClr val="9325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6"/>
            <p:cNvSpPr txBox="1"/>
            <p:nvPr/>
          </p:nvSpPr>
          <p:spPr>
            <a:xfrm>
              <a:off x="2995927" y="2051434"/>
              <a:ext cx="247500" cy="312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800">
                  <a:solidFill>
                    <a:srgbClr val="FFFFFF"/>
                  </a:solidFill>
                  <a:latin typeface="Roboto"/>
                  <a:ea typeface="Roboto"/>
                  <a:cs typeface="Roboto"/>
                  <a:sym typeface="Roboto"/>
                </a:rPr>
                <a:t>4</a:t>
              </a:r>
              <a:endParaRPr>
                <a:solidFill>
                  <a:srgbClr val="FFFFFF"/>
                </a:solidFill>
              </a:endParaRPr>
            </a:p>
          </p:txBody>
        </p:sp>
      </p:grpSp>
      <p:grpSp>
        <p:nvGrpSpPr>
          <p:cNvPr id="113" name="Google Shape;113;p16"/>
          <p:cNvGrpSpPr/>
          <p:nvPr/>
        </p:nvGrpSpPr>
        <p:grpSpPr>
          <a:xfrm flipH="1">
            <a:off x="4755243" y="-74750"/>
            <a:ext cx="4326307" cy="2587500"/>
            <a:chOff x="343874" y="143895"/>
            <a:chExt cx="4326307" cy="2587500"/>
          </a:xfrm>
        </p:grpSpPr>
        <p:sp>
          <p:nvSpPr>
            <p:cNvPr id="114" name="Google Shape;114;p16"/>
            <p:cNvSpPr txBox="1"/>
            <p:nvPr/>
          </p:nvSpPr>
          <p:spPr>
            <a:xfrm>
              <a:off x="343874" y="143895"/>
              <a:ext cx="2941800" cy="25875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b="1" lang="en" sz="1200">
                  <a:latin typeface="Times New Roman"/>
                  <a:ea typeface="Times New Roman"/>
                  <a:cs typeface="Times New Roman"/>
                  <a:sym typeface="Times New Roman"/>
                </a:rPr>
                <a:t>Milestone 1  (</a:t>
              </a:r>
              <a:r>
                <a:rPr b="1" lang="en" sz="1200">
                  <a:latin typeface="Times New Roman"/>
                  <a:ea typeface="Times New Roman"/>
                  <a:cs typeface="Times New Roman"/>
                  <a:sym typeface="Times New Roman"/>
                </a:rPr>
                <a:t>Data Collection and Preprocessing )</a:t>
              </a:r>
              <a:endParaRPr b="1" sz="1200">
                <a:latin typeface="Times New Roman"/>
                <a:ea typeface="Times New Roman"/>
                <a:cs typeface="Times New Roman"/>
                <a:sym typeface="Times New Roman"/>
              </a:endParaRPr>
            </a:p>
            <a:p>
              <a:pPr indent="0" lvl="0" marL="0" rtl="0" algn="l">
                <a:lnSpc>
                  <a:spcPct val="100000"/>
                </a:lnSpc>
                <a:spcBef>
                  <a:spcPts val="0"/>
                </a:spcBef>
                <a:spcAft>
                  <a:spcPts val="0"/>
                </a:spcAft>
                <a:buNone/>
              </a:pPr>
              <a:r>
                <a:rPr lang="en" sz="1150">
                  <a:latin typeface="Times New Roman"/>
                  <a:ea typeface="Times New Roman"/>
                  <a:cs typeface="Times New Roman"/>
                  <a:sym typeface="Times New Roman"/>
                </a:rPr>
                <a:t>The dataset collected from kaggle ‘Indian Election Dataset’.</a:t>
              </a:r>
              <a:endParaRPr sz="1150">
                <a:latin typeface="Times New Roman"/>
                <a:ea typeface="Times New Roman"/>
                <a:cs typeface="Times New Roman"/>
                <a:sym typeface="Times New Roman"/>
              </a:endParaRPr>
            </a:p>
            <a:p>
              <a:pPr indent="0" lvl="0" marL="0" rtl="0" algn="l">
                <a:spcBef>
                  <a:spcPts val="0"/>
                </a:spcBef>
                <a:spcAft>
                  <a:spcPts val="0"/>
                </a:spcAft>
                <a:buNone/>
              </a:pPr>
              <a:r>
                <a:rPr lang="en" sz="1150">
                  <a:latin typeface="Times New Roman"/>
                  <a:ea typeface="Times New Roman"/>
                  <a:cs typeface="Times New Roman"/>
                  <a:sym typeface="Times New Roman"/>
                </a:rPr>
                <a:t>Before creating dashboard we first preprocessed the data by handling null values and missing values , identifying duplicate rows and standardising values of categorical columns like state name and party name .</a:t>
              </a:r>
              <a:endParaRPr sz="1150">
                <a:latin typeface="Times New Roman"/>
                <a:ea typeface="Times New Roman"/>
                <a:cs typeface="Times New Roman"/>
                <a:sym typeface="Times New Roman"/>
              </a:endParaRPr>
            </a:p>
            <a:p>
              <a:pPr indent="0" lvl="0" marL="0" rtl="0" algn="l">
                <a:spcBef>
                  <a:spcPts val="0"/>
                </a:spcBef>
                <a:spcAft>
                  <a:spcPts val="0"/>
                </a:spcAft>
                <a:buNone/>
              </a:pPr>
              <a:r>
                <a:rPr lang="en" sz="1150">
                  <a:latin typeface="Times New Roman"/>
                  <a:ea typeface="Times New Roman"/>
                  <a:cs typeface="Times New Roman"/>
                  <a:sym typeface="Times New Roman"/>
                </a:rPr>
                <a:t>Also custom column creation like turnout% and winner.</a:t>
              </a:r>
              <a:endParaRPr sz="1150">
                <a:latin typeface="Times New Roman"/>
                <a:ea typeface="Times New Roman"/>
                <a:cs typeface="Times New Roman"/>
                <a:sym typeface="Times New Roman"/>
              </a:endParaRPr>
            </a:p>
          </p:txBody>
        </p:sp>
        <p:cxnSp>
          <p:nvCxnSpPr>
            <p:cNvPr id="115" name="Google Shape;115;p16"/>
            <p:cNvCxnSpPr>
              <a:endCxn id="116" idx="1"/>
            </p:cNvCxnSpPr>
            <p:nvPr/>
          </p:nvCxnSpPr>
          <p:spPr>
            <a:xfrm rot="10800000">
              <a:off x="3569180" y="1385545"/>
              <a:ext cx="1101000" cy="52500"/>
            </a:xfrm>
            <a:prstGeom prst="straightConnector1">
              <a:avLst/>
            </a:prstGeom>
            <a:noFill/>
            <a:ln cap="flat" cmpd="sng" w="9525">
              <a:solidFill>
                <a:srgbClr val="C2C2C2"/>
              </a:solidFill>
              <a:prstDash val="solid"/>
              <a:round/>
              <a:headEnd len="sm" w="sm" type="none"/>
              <a:tailEnd len="sm" w="sm" type="none"/>
            </a:ln>
          </p:spPr>
        </p:cxnSp>
        <p:sp>
          <p:nvSpPr>
            <p:cNvPr id="117" name="Google Shape;117;p16"/>
            <p:cNvSpPr/>
            <p:nvPr/>
          </p:nvSpPr>
          <p:spPr>
            <a:xfrm>
              <a:off x="3328121" y="1286401"/>
              <a:ext cx="198600" cy="198300"/>
            </a:xfrm>
            <a:prstGeom prst="ellipse">
              <a:avLst/>
            </a:prstGeom>
            <a:solidFill>
              <a:srgbClr val="701C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6"/>
            <p:cNvSpPr txBox="1"/>
            <p:nvPr/>
          </p:nvSpPr>
          <p:spPr>
            <a:xfrm flipH="1">
              <a:off x="3285680" y="1229095"/>
              <a:ext cx="283500" cy="312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800">
                  <a:solidFill>
                    <a:srgbClr val="FFFFFF"/>
                  </a:solidFill>
                  <a:latin typeface="Roboto"/>
                  <a:ea typeface="Roboto"/>
                  <a:cs typeface="Roboto"/>
                  <a:sym typeface="Roboto"/>
                </a:rPr>
                <a:t>1</a:t>
              </a:r>
              <a:endParaRPr>
                <a:solidFill>
                  <a:srgbClr val="FFFFFF"/>
                </a:solidFill>
              </a:endParaRPr>
            </a:p>
          </p:txBody>
        </p:sp>
      </p:grpSp>
      <p:grpSp>
        <p:nvGrpSpPr>
          <p:cNvPr id="118" name="Google Shape;118;p16"/>
          <p:cNvGrpSpPr/>
          <p:nvPr/>
        </p:nvGrpSpPr>
        <p:grpSpPr>
          <a:xfrm>
            <a:off x="2817247" y="771060"/>
            <a:ext cx="3671622" cy="3900367"/>
            <a:chOff x="3217473" y="1225350"/>
            <a:chExt cx="3118150" cy="3159727"/>
          </a:xfrm>
        </p:grpSpPr>
        <p:sp>
          <p:nvSpPr>
            <p:cNvPr id="119" name="Google Shape;119;p16"/>
            <p:cNvSpPr/>
            <p:nvPr/>
          </p:nvSpPr>
          <p:spPr>
            <a:xfrm>
              <a:off x="3579175" y="2711400"/>
              <a:ext cx="2396410" cy="971161"/>
            </a:xfrm>
            <a:custGeom>
              <a:rect b="b" l="l" r="r" t="t"/>
              <a:pathLst>
                <a:path extrusionOk="0" h="12970" w="39012">
                  <a:moveTo>
                    <a:pt x="0" y="5914"/>
                  </a:moveTo>
                  <a:lnTo>
                    <a:pt x="19531" y="12970"/>
                  </a:lnTo>
                  <a:lnTo>
                    <a:pt x="39012" y="5914"/>
                  </a:lnTo>
                  <a:lnTo>
                    <a:pt x="19581" y="0"/>
                  </a:lnTo>
                  <a:close/>
                </a:path>
              </a:pathLst>
            </a:custGeom>
            <a:solidFill>
              <a:srgbClr val="D9D9D9"/>
            </a:solidFill>
            <a:ln>
              <a:noFill/>
            </a:ln>
          </p:spPr>
        </p:sp>
        <p:sp>
          <p:nvSpPr>
            <p:cNvPr id="120" name="Google Shape;120;p16"/>
            <p:cNvSpPr/>
            <p:nvPr/>
          </p:nvSpPr>
          <p:spPr>
            <a:xfrm>
              <a:off x="3730755" y="2527208"/>
              <a:ext cx="2079127" cy="837209"/>
            </a:xfrm>
            <a:custGeom>
              <a:rect b="b" l="l" r="r" t="t"/>
              <a:pathLst>
                <a:path extrusionOk="0" h="16300" w="49248">
                  <a:moveTo>
                    <a:pt x="0" y="7554"/>
                  </a:moveTo>
                  <a:lnTo>
                    <a:pt x="24649" y="16300"/>
                  </a:lnTo>
                  <a:lnTo>
                    <a:pt x="49248" y="7604"/>
                  </a:lnTo>
                  <a:lnTo>
                    <a:pt x="24599" y="0"/>
                  </a:lnTo>
                  <a:close/>
                </a:path>
              </a:pathLst>
            </a:custGeom>
            <a:solidFill>
              <a:srgbClr val="D9D9D9"/>
            </a:solidFill>
            <a:ln>
              <a:noFill/>
            </a:ln>
          </p:spPr>
        </p:sp>
        <p:sp>
          <p:nvSpPr>
            <p:cNvPr id="121" name="Google Shape;121;p16"/>
            <p:cNvSpPr/>
            <p:nvPr/>
          </p:nvSpPr>
          <p:spPr>
            <a:xfrm>
              <a:off x="3946479" y="2252239"/>
              <a:ext cx="1647477" cy="663383"/>
            </a:xfrm>
            <a:custGeom>
              <a:rect b="b" l="l" r="r" t="t"/>
              <a:pathLst>
                <a:path extrusionOk="0" h="12970" w="39012">
                  <a:moveTo>
                    <a:pt x="0" y="5914"/>
                  </a:moveTo>
                  <a:lnTo>
                    <a:pt x="19531" y="12970"/>
                  </a:lnTo>
                  <a:lnTo>
                    <a:pt x="39012" y="5914"/>
                  </a:lnTo>
                  <a:lnTo>
                    <a:pt x="19581" y="0"/>
                  </a:lnTo>
                  <a:close/>
                </a:path>
              </a:pathLst>
            </a:custGeom>
            <a:solidFill>
              <a:srgbClr val="D9D9D9"/>
            </a:solidFill>
            <a:ln>
              <a:noFill/>
            </a:ln>
          </p:spPr>
        </p:sp>
        <p:sp>
          <p:nvSpPr>
            <p:cNvPr id="122" name="Google Shape;122;p16"/>
            <p:cNvSpPr/>
            <p:nvPr/>
          </p:nvSpPr>
          <p:spPr>
            <a:xfrm>
              <a:off x="4265445" y="1828277"/>
              <a:ext cx="1014014" cy="416547"/>
            </a:xfrm>
            <a:custGeom>
              <a:rect b="b" l="l" r="r" t="t"/>
              <a:pathLst>
                <a:path extrusionOk="0" h="8150" w="24053">
                  <a:moveTo>
                    <a:pt x="0" y="3827"/>
                  </a:moveTo>
                  <a:lnTo>
                    <a:pt x="11976" y="8150"/>
                  </a:lnTo>
                  <a:lnTo>
                    <a:pt x="24053" y="3827"/>
                  </a:lnTo>
                  <a:lnTo>
                    <a:pt x="12126" y="0"/>
                  </a:lnTo>
                  <a:close/>
                </a:path>
              </a:pathLst>
            </a:custGeom>
            <a:solidFill>
              <a:srgbClr val="D9D9D9"/>
            </a:solidFill>
            <a:ln>
              <a:noFill/>
            </a:ln>
          </p:spPr>
        </p:sp>
        <p:sp>
          <p:nvSpPr>
            <p:cNvPr id="123" name="Google Shape;123;p16"/>
            <p:cNvSpPr/>
            <p:nvPr/>
          </p:nvSpPr>
          <p:spPr>
            <a:xfrm>
              <a:off x="3217473" y="3154705"/>
              <a:ext cx="1559116" cy="1230372"/>
            </a:xfrm>
            <a:custGeom>
              <a:rect b="b" l="l" r="r" t="t"/>
              <a:pathLst>
                <a:path extrusionOk="0" h="20822" w="31954">
                  <a:moveTo>
                    <a:pt x="7355" y="0"/>
                  </a:moveTo>
                  <a:lnTo>
                    <a:pt x="31954" y="8796"/>
                  </a:lnTo>
                  <a:lnTo>
                    <a:pt x="31954" y="20822"/>
                  </a:lnTo>
                  <a:lnTo>
                    <a:pt x="0" y="8895"/>
                  </a:lnTo>
                  <a:close/>
                </a:path>
              </a:pathLst>
            </a:custGeom>
            <a:solidFill>
              <a:srgbClr val="561561"/>
            </a:solidFill>
            <a:ln>
              <a:noFill/>
            </a:ln>
          </p:spPr>
        </p:sp>
        <p:sp>
          <p:nvSpPr>
            <p:cNvPr id="124" name="Google Shape;124;p16"/>
            <p:cNvSpPr/>
            <p:nvPr/>
          </p:nvSpPr>
          <p:spPr>
            <a:xfrm>
              <a:off x="3790596" y="2554725"/>
              <a:ext cx="982143" cy="653205"/>
            </a:xfrm>
            <a:custGeom>
              <a:rect b="b" l="l" r="r" t="t"/>
              <a:pathLst>
                <a:path extrusionOk="0" h="12771" w="23257">
                  <a:moveTo>
                    <a:pt x="3727" y="0"/>
                  </a:moveTo>
                  <a:lnTo>
                    <a:pt x="0" y="4522"/>
                  </a:lnTo>
                  <a:lnTo>
                    <a:pt x="23257" y="12771"/>
                  </a:lnTo>
                  <a:lnTo>
                    <a:pt x="23257" y="7056"/>
                  </a:lnTo>
                  <a:close/>
                </a:path>
              </a:pathLst>
            </a:custGeom>
            <a:gradFill>
              <a:gsLst>
                <a:gs pos="0">
                  <a:srgbClr val="FFCA37"/>
                </a:gs>
                <a:gs pos="100000">
                  <a:srgbClr val="AD8107"/>
                </a:gs>
              </a:gsLst>
              <a:lin ang="5400012" scaled="0"/>
            </a:gradFill>
            <a:ln>
              <a:noFill/>
            </a:ln>
          </p:spPr>
        </p:sp>
        <p:sp>
          <p:nvSpPr>
            <p:cNvPr id="125" name="Google Shape;125;p16"/>
            <p:cNvSpPr/>
            <p:nvPr/>
          </p:nvSpPr>
          <p:spPr>
            <a:xfrm flipH="1">
              <a:off x="4770690" y="2554725"/>
              <a:ext cx="982143" cy="653205"/>
            </a:xfrm>
            <a:custGeom>
              <a:rect b="b" l="l" r="r" t="t"/>
              <a:pathLst>
                <a:path extrusionOk="0" h="12771" w="23257">
                  <a:moveTo>
                    <a:pt x="3727" y="0"/>
                  </a:moveTo>
                  <a:lnTo>
                    <a:pt x="0" y="4522"/>
                  </a:lnTo>
                  <a:lnTo>
                    <a:pt x="23257" y="12771"/>
                  </a:lnTo>
                  <a:lnTo>
                    <a:pt x="23257" y="7056"/>
                  </a:lnTo>
                  <a:close/>
                </a:path>
              </a:pathLst>
            </a:custGeom>
            <a:solidFill>
              <a:srgbClr val="F4B400"/>
            </a:solidFill>
            <a:ln>
              <a:noFill/>
            </a:ln>
          </p:spPr>
        </p:sp>
        <p:sp>
          <p:nvSpPr>
            <p:cNvPr id="126" name="Google Shape;126;p16"/>
            <p:cNvSpPr/>
            <p:nvPr/>
          </p:nvSpPr>
          <p:spPr>
            <a:xfrm>
              <a:off x="4002555" y="2023456"/>
              <a:ext cx="770191" cy="721896"/>
            </a:xfrm>
            <a:custGeom>
              <a:rect b="b" l="l" r="r" t="t"/>
              <a:pathLst>
                <a:path extrusionOk="0" h="14114" w="18238">
                  <a:moveTo>
                    <a:pt x="6262" y="0"/>
                  </a:moveTo>
                  <a:lnTo>
                    <a:pt x="18238" y="4324"/>
                  </a:lnTo>
                  <a:lnTo>
                    <a:pt x="18238" y="14114"/>
                  </a:lnTo>
                  <a:lnTo>
                    <a:pt x="0" y="7554"/>
                  </a:lnTo>
                  <a:close/>
                </a:path>
              </a:pathLst>
            </a:custGeom>
            <a:solidFill>
              <a:srgbClr val="561561"/>
            </a:solidFill>
            <a:ln>
              <a:noFill/>
            </a:ln>
          </p:spPr>
        </p:sp>
        <p:sp>
          <p:nvSpPr>
            <p:cNvPr id="127" name="Google Shape;127;p16"/>
            <p:cNvSpPr/>
            <p:nvPr/>
          </p:nvSpPr>
          <p:spPr>
            <a:xfrm flipH="1">
              <a:off x="4770683" y="2023456"/>
              <a:ext cx="770191" cy="721896"/>
            </a:xfrm>
            <a:custGeom>
              <a:rect b="b" l="l" r="r" t="t"/>
              <a:pathLst>
                <a:path extrusionOk="0" h="14114" w="18238">
                  <a:moveTo>
                    <a:pt x="6262" y="0"/>
                  </a:moveTo>
                  <a:lnTo>
                    <a:pt x="18238" y="4324"/>
                  </a:lnTo>
                  <a:lnTo>
                    <a:pt x="18238" y="14114"/>
                  </a:lnTo>
                  <a:lnTo>
                    <a:pt x="0" y="7554"/>
                  </a:lnTo>
                  <a:close/>
                </a:path>
              </a:pathLst>
            </a:custGeom>
            <a:solidFill>
              <a:srgbClr val="771E86"/>
            </a:solidFill>
            <a:ln>
              <a:noFill/>
            </a:ln>
          </p:spPr>
        </p:sp>
        <p:sp>
          <p:nvSpPr>
            <p:cNvPr id="128" name="Google Shape;128;p16"/>
            <p:cNvSpPr/>
            <p:nvPr/>
          </p:nvSpPr>
          <p:spPr>
            <a:xfrm>
              <a:off x="4323640" y="1225350"/>
              <a:ext cx="449116" cy="854010"/>
            </a:xfrm>
            <a:custGeom>
              <a:rect b="b" l="l" r="r" t="t"/>
              <a:pathLst>
                <a:path extrusionOk="0" h="16697" w="10635">
                  <a:moveTo>
                    <a:pt x="10635" y="0"/>
                  </a:moveTo>
                  <a:lnTo>
                    <a:pt x="0" y="12722"/>
                  </a:lnTo>
                  <a:lnTo>
                    <a:pt x="10635" y="16697"/>
                  </a:lnTo>
                  <a:close/>
                </a:path>
              </a:pathLst>
            </a:custGeom>
            <a:solidFill>
              <a:srgbClr val="561561"/>
            </a:solidFill>
            <a:ln>
              <a:noFill/>
            </a:ln>
          </p:spPr>
        </p:sp>
        <p:sp>
          <p:nvSpPr>
            <p:cNvPr id="129" name="Google Shape;129;p16"/>
            <p:cNvSpPr/>
            <p:nvPr/>
          </p:nvSpPr>
          <p:spPr>
            <a:xfrm flipH="1">
              <a:off x="4770673" y="1225350"/>
              <a:ext cx="449116" cy="854010"/>
            </a:xfrm>
            <a:custGeom>
              <a:rect b="b" l="l" r="r" t="t"/>
              <a:pathLst>
                <a:path extrusionOk="0" h="16697" w="10635">
                  <a:moveTo>
                    <a:pt x="10635" y="0"/>
                  </a:moveTo>
                  <a:lnTo>
                    <a:pt x="0" y="12722"/>
                  </a:lnTo>
                  <a:lnTo>
                    <a:pt x="10635" y="16697"/>
                  </a:lnTo>
                  <a:close/>
                </a:path>
              </a:pathLst>
            </a:custGeom>
            <a:solidFill>
              <a:srgbClr val="701C7F"/>
            </a:solidFill>
            <a:ln>
              <a:noFill/>
            </a:ln>
          </p:spPr>
        </p:sp>
        <p:sp>
          <p:nvSpPr>
            <p:cNvPr id="130" name="Google Shape;130;p16"/>
            <p:cNvSpPr/>
            <p:nvPr/>
          </p:nvSpPr>
          <p:spPr>
            <a:xfrm>
              <a:off x="3636034" y="2553603"/>
              <a:ext cx="1136642" cy="946913"/>
            </a:xfrm>
            <a:custGeom>
              <a:rect b="b" l="l" r="r" t="t"/>
              <a:pathLst>
                <a:path extrusionOk="0" h="46623" w="65016">
                  <a:moveTo>
                    <a:pt x="17858" y="0"/>
                  </a:moveTo>
                  <a:lnTo>
                    <a:pt x="0" y="22135"/>
                  </a:lnTo>
                  <a:lnTo>
                    <a:pt x="65016" y="46623"/>
                  </a:lnTo>
                  <a:lnTo>
                    <a:pt x="65016" y="17537"/>
                  </a:lnTo>
                  <a:close/>
                </a:path>
              </a:pathLst>
            </a:custGeom>
            <a:solidFill>
              <a:srgbClr val="561561"/>
            </a:solidFill>
            <a:ln>
              <a:noFill/>
            </a:ln>
          </p:spPr>
        </p:sp>
        <p:sp>
          <p:nvSpPr>
            <p:cNvPr id="131" name="Google Shape;131;p16"/>
            <p:cNvSpPr/>
            <p:nvPr/>
          </p:nvSpPr>
          <p:spPr>
            <a:xfrm flipH="1">
              <a:off x="4770657" y="2555106"/>
              <a:ext cx="1136642" cy="946913"/>
            </a:xfrm>
            <a:custGeom>
              <a:rect b="b" l="l" r="r" t="t"/>
              <a:pathLst>
                <a:path extrusionOk="0" h="46623" w="65016">
                  <a:moveTo>
                    <a:pt x="17858" y="0"/>
                  </a:moveTo>
                  <a:lnTo>
                    <a:pt x="0" y="22135"/>
                  </a:lnTo>
                  <a:lnTo>
                    <a:pt x="65016" y="46623"/>
                  </a:lnTo>
                  <a:lnTo>
                    <a:pt x="65016" y="17537"/>
                  </a:lnTo>
                  <a:close/>
                </a:path>
              </a:pathLst>
            </a:custGeom>
            <a:solidFill>
              <a:srgbClr val="802090"/>
            </a:solidFill>
            <a:ln>
              <a:noFill/>
            </a:ln>
          </p:spPr>
        </p:sp>
        <p:sp>
          <p:nvSpPr>
            <p:cNvPr id="132" name="Google Shape;132;p16"/>
            <p:cNvSpPr/>
            <p:nvPr/>
          </p:nvSpPr>
          <p:spPr>
            <a:xfrm flipH="1">
              <a:off x="4776508" y="3154705"/>
              <a:ext cx="1559116" cy="1230372"/>
            </a:xfrm>
            <a:custGeom>
              <a:rect b="b" l="l" r="r" t="t"/>
              <a:pathLst>
                <a:path extrusionOk="0" h="20822" w="31954">
                  <a:moveTo>
                    <a:pt x="7355" y="0"/>
                  </a:moveTo>
                  <a:lnTo>
                    <a:pt x="31954" y="8796"/>
                  </a:lnTo>
                  <a:lnTo>
                    <a:pt x="31954" y="20822"/>
                  </a:lnTo>
                  <a:lnTo>
                    <a:pt x="0" y="8895"/>
                  </a:lnTo>
                  <a:close/>
                </a:path>
              </a:pathLst>
            </a:custGeom>
            <a:solidFill>
              <a:srgbClr val="9325A5"/>
            </a:solidFill>
            <a:ln>
              <a:noFill/>
            </a:ln>
          </p:spPr>
        </p:sp>
      </p:grpSp>
      <p:grpSp>
        <p:nvGrpSpPr>
          <p:cNvPr id="133" name="Google Shape;133;p16"/>
          <p:cNvGrpSpPr/>
          <p:nvPr/>
        </p:nvGrpSpPr>
        <p:grpSpPr>
          <a:xfrm>
            <a:off x="119625" y="988050"/>
            <a:ext cx="3735629" cy="1680900"/>
            <a:chOff x="441605" y="1252530"/>
            <a:chExt cx="3735629" cy="1680900"/>
          </a:xfrm>
        </p:grpSpPr>
        <p:sp>
          <p:nvSpPr>
            <p:cNvPr id="134" name="Google Shape;134;p16"/>
            <p:cNvSpPr txBox="1"/>
            <p:nvPr/>
          </p:nvSpPr>
          <p:spPr>
            <a:xfrm>
              <a:off x="441605" y="1252530"/>
              <a:ext cx="2493000" cy="1680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200">
                  <a:latin typeface="Times New Roman"/>
                  <a:ea typeface="Times New Roman"/>
                  <a:cs typeface="Times New Roman"/>
                  <a:sym typeface="Times New Roman"/>
                </a:rPr>
                <a:t>Milestone 2 (Dashboard creation started )</a:t>
              </a:r>
              <a:endParaRPr b="1" sz="1200">
                <a:latin typeface="Times New Roman"/>
                <a:ea typeface="Times New Roman"/>
                <a:cs typeface="Times New Roman"/>
                <a:sym typeface="Times New Roman"/>
              </a:endParaRPr>
            </a:p>
            <a:p>
              <a:pPr indent="0" lvl="0" marL="0" rtl="0" algn="r">
                <a:spcBef>
                  <a:spcPts val="0"/>
                </a:spcBef>
                <a:spcAft>
                  <a:spcPts val="0"/>
                </a:spcAft>
                <a:buNone/>
              </a:pPr>
              <a:r>
                <a:t/>
              </a:r>
              <a:endParaRPr b="1" sz="1200">
                <a:latin typeface="Times New Roman"/>
                <a:ea typeface="Times New Roman"/>
                <a:cs typeface="Times New Roman"/>
                <a:sym typeface="Times New Roman"/>
              </a:endParaRPr>
            </a:p>
            <a:p>
              <a:pPr indent="0" lvl="0" marL="0" rtl="0" algn="just">
                <a:spcBef>
                  <a:spcPts val="0"/>
                </a:spcBef>
                <a:spcAft>
                  <a:spcPts val="1600"/>
                </a:spcAft>
                <a:buNone/>
              </a:pPr>
              <a:r>
                <a:rPr lang="en" sz="1150">
                  <a:latin typeface="Times New Roman"/>
                  <a:ea typeface="Times New Roman"/>
                  <a:cs typeface="Times New Roman"/>
                  <a:sym typeface="Times New Roman"/>
                </a:rPr>
                <a:t>Dashboard development started in milestone 2 .The three dashboard i.e. election overview , party performance analysis and distribution of parliamentary constituency created in milestone 2.</a:t>
              </a:r>
              <a:endParaRPr b="1" sz="1150">
                <a:latin typeface="Times New Roman"/>
                <a:ea typeface="Times New Roman"/>
                <a:cs typeface="Times New Roman"/>
                <a:sym typeface="Times New Roman"/>
              </a:endParaRPr>
            </a:p>
          </p:txBody>
        </p:sp>
        <p:cxnSp>
          <p:nvCxnSpPr>
            <p:cNvPr id="135" name="Google Shape;135;p16"/>
            <p:cNvCxnSpPr/>
            <p:nvPr/>
          </p:nvCxnSpPr>
          <p:spPr>
            <a:xfrm rot="10800000">
              <a:off x="3046834" y="2215329"/>
              <a:ext cx="1130400" cy="0"/>
            </a:xfrm>
            <a:prstGeom prst="straightConnector1">
              <a:avLst/>
            </a:prstGeom>
            <a:noFill/>
            <a:ln cap="flat" cmpd="sng" w="9525">
              <a:solidFill>
                <a:srgbClr val="C2C2C2"/>
              </a:solidFill>
              <a:prstDash val="solid"/>
              <a:round/>
              <a:headEnd len="sm" w="sm" type="none"/>
              <a:tailEnd len="sm" w="sm" type="none"/>
            </a:ln>
          </p:spPr>
        </p:cxnSp>
        <p:sp>
          <p:nvSpPr>
            <p:cNvPr id="136" name="Google Shape;136;p16"/>
            <p:cNvSpPr/>
            <p:nvPr/>
          </p:nvSpPr>
          <p:spPr>
            <a:xfrm>
              <a:off x="3020371" y="2111851"/>
              <a:ext cx="198600" cy="198300"/>
            </a:xfrm>
            <a:prstGeom prst="ellipse">
              <a:avLst/>
            </a:prstGeom>
            <a:solidFill>
              <a:srgbClr val="771E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6"/>
            <p:cNvSpPr txBox="1"/>
            <p:nvPr/>
          </p:nvSpPr>
          <p:spPr>
            <a:xfrm>
              <a:off x="2995927" y="2051434"/>
              <a:ext cx="247500" cy="312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1600"/>
                </a:spcAft>
                <a:buNone/>
              </a:pPr>
              <a:r>
                <a:rPr lang="en" sz="800">
                  <a:solidFill>
                    <a:srgbClr val="FFFFFF"/>
                  </a:solidFill>
                  <a:latin typeface="Roboto"/>
                  <a:ea typeface="Roboto"/>
                  <a:cs typeface="Roboto"/>
                  <a:sym typeface="Roboto"/>
                </a:rPr>
                <a:t>2</a:t>
              </a:r>
              <a:endParaRPr>
                <a:solidFill>
                  <a:srgbClr val="FFFFFF"/>
                </a:solidFill>
              </a:endParaRPr>
            </a:p>
          </p:txBody>
        </p:sp>
      </p:grpSp>
      <p:sp>
        <p:nvSpPr>
          <p:cNvPr id="138" name="Google Shape;138;p16"/>
          <p:cNvSpPr txBox="1"/>
          <p:nvPr/>
        </p:nvSpPr>
        <p:spPr>
          <a:xfrm>
            <a:off x="229450" y="276750"/>
            <a:ext cx="36258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700">
                <a:solidFill>
                  <a:schemeClr val="accent1"/>
                </a:solidFill>
                <a:latin typeface="Times New Roman"/>
                <a:ea typeface="Times New Roman"/>
                <a:cs typeface="Times New Roman"/>
                <a:sym typeface="Times New Roman"/>
              </a:rPr>
              <a:t>Milestones</a:t>
            </a:r>
            <a:endParaRPr b="1" sz="2700">
              <a:solidFill>
                <a:schemeClr val="accen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grpSp>
        <p:nvGrpSpPr>
          <p:cNvPr id="143" name="Google Shape;143;p17"/>
          <p:cNvGrpSpPr/>
          <p:nvPr/>
        </p:nvGrpSpPr>
        <p:grpSpPr>
          <a:xfrm>
            <a:off x="294175" y="1465300"/>
            <a:ext cx="2417388" cy="924600"/>
            <a:chOff x="373375" y="1465300"/>
            <a:chExt cx="2417388" cy="924600"/>
          </a:xfrm>
        </p:grpSpPr>
        <p:cxnSp>
          <p:nvCxnSpPr>
            <p:cNvPr id="144" name="Google Shape;144;p17"/>
            <p:cNvCxnSpPr/>
            <p:nvPr/>
          </p:nvCxnSpPr>
          <p:spPr>
            <a:xfrm flipH="1">
              <a:off x="2325163" y="1923125"/>
              <a:ext cx="465600" cy="117900"/>
            </a:xfrm>
            <a:prstGeom prst="straightConnector1">
              <a:avLst/>
            </a:prstGeom>
            <a:noFill/>
            <a:ln cap="flat" cmpd="sng" w="9525">
              <a:solidFill>
                <a:srgbClr val="F4B400"/>
              </a:solidFill>
              <a:prstDash val="solid"/>
              <a:round/>
              <a:headEnd len="sm" w="sm" type="none"/>
              <a:tailEnd len="med" w="med" type="oval"/>
            </a:ln>
          </p:spPr>
        </p:cxnSp>
        <p:sp>
          <p:nvSpPr>
            <p:cNvPr id="145" name="Google Shape;145;p17"/>
            <p:cNvSpPr txBox="1"/>
            <p:nvPr/>
          </p:nvSpPr>
          <p:spPr>
            <a:xfrm>
              <a:off x="373375" y="1465300"/>
              <a:ext cx="1990200" cy="924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200">
                  <a:latin typeface="Roboto"/>
                  <a:ea typeface="Roboto"/>
                  <a:cs typeface="Roboto"/>
                  <a:sym typeface="Roboto"/>
                </a:rPr>
                <a:t>Data Collection</a:t>
              </a:r>
              <a:endParaRPr b="1" sz="1200">
                <a:latin typeface="Roboto"/>
                <a:ea typeface="Roboto"/>
                <a:cs typeface="Roboto"/>
                <a:sym typeface="Roboto"/>
              </a:endParaRPr>
            </a:p>
            <a:p>
              <a:pPr indent="0" lvl="0" marL="0" rtl="0" algn="l">
                <a:spcBef>
                  <a:spcPts val="0"/>
                </a:spcBef>
                <a:spcAft>
                  <a:spcPts val="0"/>
                </a:spcAft>
                <a:buNone/>
              </a:pPr>
              <a:r>
                <a:rPr lang="en" sz="1000">
                  <a:latin typeface="Times New Roman"/>
                  <a:ea typeface="Times New Roman"/>
                  <a:cs typeface="Times New Roman"/>
                  <a:sym typeface="Times New Roman"/>
                </a:rPr>
                <a:t>The dataset used for this project was sourced from Kaggle, titled “Indian Election Dataset” by </a:t>
              </a:r>
              <a:r>
                <a:rPr lang="en" sz="1000">
                  <a:latin typeface="Times New Roman"/>
                  <a:ea typeface="Times New Roman"/>
                  <a:cs typeface="Times New Roman"/>
                  <a:sym typeface="Times New Roman"/>
                </a:rPr>
                <a:t>Nandan</a:t>
              </a:r>
              <a:r>
                <a:rPr lang="en" sz="1000">
                  <a:latin typeface="Times New Roman"/>
                  <a:ea typeface="Times New Roman"/>
                  <a:cs typeface="Times New Roman"/>
                  <a:sym typeface="Times New Roman"/>
                </a:rPr>
                <a:t> Pandey. </a:t>
              </a:r>
              <a:endParaRPr sz="1000">
                <a:latin typeface="Times New Roman"/>
                <a:ea typeface="Times New Roman"/>
                <a:cs typeface="Times New Roman"/>
                <a:sym typeface="Times New Roman"/>
              </a:endParaRPr>
            </a:p>
            <a:p>
              <a:pPr indent="0" lvl="0" marL="0" rtl="0" algn="l">
                <a:spcBef>
                  <a:spcPts val="0"/>
                </a:spcBef>
                <a:spcAft>
                  <a:spcPts val="0"/>
                </a:spcAft>
                <a:buNone/>
              </a:pPr>
              <a:r>
                <a:rPr lang="en" sz="1000">
                  <a:latin typeface="Times New Roman"/>
                  <a:ea typeface="Times New Roman"/>
                  <a:cs typeface="Times New Roman"/>
                  <a:sym typeface="Times New Roman"/>
                </a:rPr>
                <a:t>This dataset contains detailed candidate-level election data.</a:t>
              </a:r>
              <a:endParaRPr sz="1000">
                <a:latin typeface="Roboto"/>
                <a:ea typeface="Roboto"/>
                <a:cs typeface="Roboto"/>
                <a:sym typeface="Roboto"/>
              </a:endParaRPr>
            </a:p>
          </p:txBody>
        </p:sp>
      </p:grpSp>
      <p:grpSp>
        <p:nvGrpSpPr>
          <p:cNvPr id="146" name="Google Shape;146;p17"/>
          <p:cNvGrpSpPr/>
          <p:nvPr/>
        </p:nvGrpSpPr>
        <p:grpSpPr>
          <a:xfrm>
            <a:off x="308850" y="3064775"/>
            <a:ext cx="2553813" cy="1540500"/>
            <a:chOff x="308850" y="3064775"/>
            <a:chExt cx="2553813" cy="1540500"/>
          </a:xfrm>
        </p:grpSpPr>
        <p:cxnSp>
          <p:nvCxnSpPr>
            <p:cNvPr id="147" name="Google Shape;147;p17"/>
            <p:cNvCxnSpPr>
              <a:stCxn id="148" idx="1"/>
            </p:cNvCxnSpPr>
            <p:nvPr/>
          </p:nvCxnSpPr>
          <p:spPr>
            <a:xfrm flipH="1">
              <a:off x="2289663" y="3435460"/>
              <a:ext cx="573000" cy="301200"/>
            </a:xfrm>
            <a:prstGeom prst="straightConnector1">
              <a:avLst/>
            </a:prstGeom>
            <a:noFill/>
            <a:ln cap="flat" cmpd="sng" w="9525">
              <a:solidFill>
                <a:srgbClr val="F4B400"/>
              </a:solidFill>
              <a:prstDash val="solid"/>
              <a:round/>
              <a:headEnd len="sm" w="sm" type="none"/>
              <a:tailEnd len="med" w="med" type="oval"/>
            </a:ln>
          </p:spPr>
        </p:cxnSp>
        <p:sp>
          <p:nvSpPr>
            <p:cNvPr id="149" name="Google Shape;149;p17"/>
            <p:cNvSpPr txBox="1"/>
            <p:nvPr/>
          </p:nvSpPr>
          <p:spPr>
            <a:xfrm>
              <a:off x="308850" y="3064775"/>
              <a:ext cx="2124000" cy="1540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200">
                  <a:latin typeface="Roboto"/>
                  <a:ea typeface="Roboto"/>
                  <a:cs typeface="Roboto"/>
                  <a:sym typeface="Roboto"/>
                </a:rPr>
                <a:t>Data Preprocessing</a:t>
              </a:r>
              <a:endParaRPr b="1" sz="1200">
                <a:latin typeface="Roboto"/>
                <a:ea typeface="Roboto"/>
                <a:cs typeface="Roboto"/>
                <a:sym typeface="Roboto"/>
              </a:endParaRPr>
            </a:p>
            <a:p>
              <a:pPr indent="0" lvl="0" marL="0" rtl="0" algn="l">
                <a:spcBef>
                  <a:spcPts val="0"/>
                </a:spcBef>
                <a:spcAft>
                  <a:spcPts val="0"/>
                </a:spcAft>
                <a:buNone/>
              </a:pPr>
              <a:r>
                <a:rPr lang="en" sz="1000">
                  <a:latin typeface="Times New Roman"/>
                  <a:ea typeface="Times New Roman"/>
                  <a:cs typeface="Times New Roman"/>
                  <a:sym typeface="Times New Roman"/>
                </a:rPr>
                <a:t>Before creating dashboard we first preprocessed the data by handling null values and missing values , identifying duplicate rows and standardising values of categorical columns like state name and party name .</a:t>
              </a:r>
              <a:endParaRPr sz="1000">
                <a:latin typeface="Times New Roman"/>
                <a:ea typeface="Times New Roman"/>
                <a:cs typeface="Times New Roman"/>
                <a:sym typeface="Times New Roman"/>
              </a:endParaRPr>
            </a:p>
            <a:p>
              <a:pPr indent="0" lvl="0" marL="0" rtl="0" algn="l">
                <a:spcBef>
                  <a:spcPts val="0"/>
                </a:spcBef>
                <a:spcAft>
                  <a:spcPts val="0"/>
                </a:spcAft>
                <a:buNone/>
              </a:pPr>
              <a:r>
                <a:rPr lang="en" sz="1000">
                  <a:latin typeface="Times New Roman"/>
                  <a:ea typeface="Times New Roman"/>
                  <a:cs typeface="Times New Roman"/>
                  <a:sym typeface="Times New Roman"/>
                </a:rPr>
                <a:t>Also custom column creation like turnout% and winner.</a:t>
              </a:r>
              <a:endParaRPr sz="1000">
                <a:latin typeface="Times New Roman"/>
                <a:ea typeface="Times New Roman"/>
                <a:cs typeface="Times New Roman"/>
                <a:sym typeface="Times New Roman"/>
              </a:endParaRPr>
            </a:p>
            <a:p>
              <a:pPr indent="0" lvl="0" marL="0" rtl="0" algn="r">
                <a:spcBef>
                  <a:spcPts val="0"/>
                </a:spcBef>
                <a:spcAft>
                  <a:spcPts val="1600"/>
                </a:spcAft>
                <a:buNone/>
              </a:pPr>
              <a:r>
                <a:t/>
              </a:r>
              <a:endParaRPr sz="800">
                <a:latin typeface="Roboto"/>
                <a:ea typeface="Roboto"/>
                <a:cs typeface="Roboto"/>
                <a:sym typeface="Roboto"/>
              </a:endParaRPr>
            </a:p>
          </p:txBody>
        </p:sp>
      </p:grpSp>
      <p:grpSp>
        <p:nvGrpSpPr>
          <p:cNvPr id="150" name="Google Shape;150;p17"/>
          <p:cNvGrpSpPr/>
          <p:nvPr/>
        </p:nvGrpSpPr>
        <p:grpSpPr>
          <a:xfrm>
            <a:off x="3586475" y="3427200"/>
            <a:ext cx="2596200" cy="1476950"/>
            <a:chOff x="3616375" y="3337475"/>
            <a:chExt cx="2596200" cy="1476950"/>
          </a:xfrm>
        </p:grpSpPr>
        <p:cxnSp>
          <p:nvCxnSpPr>
            <p:cNvPr id="151" name="Google Shape;151;p17"/>
            <p:cNvCxnSpPr/>
            <p:nvPr/>
          </p:nvCxnSpPr>
          <p:spPr>
            <a:xfrm>
              <a:off x="4256300" y="3337475"/>
              <a:ext cx="338400" cy="259200"/>
            </a:xfrm>
            <a:prstGeom prst="straightConnector1">
              <a:avLst/>
            </a:prstGeom>
            <a:noFill/>
            <a:ln cap="flat" cmpd="sng" w="9525">
              <a:solidFill>
                <a:srgbClr val="F4B400"/>
              </a:solidFill>
              <a:prstDash val="solid"/>
              <a:round/>
              <a:headEnd len="sm" w="sm" type="none"/>
              <a:tailEnd len="med" w="med" type="oval"/>
            </a:ln>
          </p:spPr>
        </p:cxnSp>
        <p:sp>
          <p:nvSpPr>
            <p:cNvPr id="152" name="Google Shape;152;p17"/>
            <p:cNvSpPr txBox="1"/>
            <p:nvPr/>
          </p:nvSpPr>
          <p:spPr>
            <a:xfrm>
              <a:off x="3616375" y="3837325"/>
              <a:ext cx="2596200" cy="9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200">
                  <a:latin typeface="Roboto"/>
                  <a:ea typeface="Roboto"/>
                  <a:cs typeface="Roboto"/>
                  <a:sym typeface="Roboto"/>
                </a:rPr>
                <a:t>Documentation and presentation</a:t>
              </a:r>
              <a:endParaRPr b="1" sz="1200">
                <a:latin typeface="Roboto"/>
                <a:ea typeface="Roboto"/>
                <a:cs typeface="Roboto"/>
                <a:sym typeface="Roboto"/>
              </a:endParaRPr>
            </a:p>
            <a:p>
              <a:pPr indent="0" lvl="0" marL="0" rtl="0" algn="l">
                <a:lnSpc>
                  <a:spcPct val="115000"/>
                </a:lnSpc>
                <a:spcBef>
                  <a:spcPts val="0"/>
                </a:spcBef>
                <a:spcAft>
                  <a:spcPts val="0"/>
                </a:spcAft>
                <a:buNone/>
              </a:pPr>
              <a:r>
                <a:rPr lang="en" sz="900">
                  <a:latin typeface="Times New Roman"/>
                  <a:ea typeface="Times New Roman"/>
                  <a:cs typeface="Times New Roman"/>
                  <a:sym typeface="Times New Roman"/>
                </a:rPr>
                <a:t>After building the dashboard and analyzing insights, we documented the complete project including methodology, calculations, and findings, and prepared a structured presentation for demonstration.</a:t>
              </a:r>
              <a:endParaRPr sz="900">
                <a:latin typeface="Times New Roman"/>
                <a:ea typeface="Times New Roman"/>
                <a:cs typeface="Times New Roman"/>
                <a:sym typeface="Times New Roman"/>
              </a:endParaRPr>
            </a:p>
            <a:p>
              <a:pPr indent="0" lvl="0" marL="0" rtl="0" algn="l">
                <a:spcBef>
                  <a:spcPts val="0"/>
                </a:spcBef>
                <a:spcAft>
                  <a:spcPts val="1600"/>
                </a:spcAft>
                <a:buNone/>
              </a:pPr>
              <a:r>
                <a:t/>
              </a:r>
              <a:endParaRPr sz="600">
                <a:latin typeface="Roboto"/>
                <a:ea typeface="Roboto"/>
                <a:cs typeface="Roboto"/>
                <a:sym typeface="Roboto"/>
              </a:endParaRPr>
            </a:p>
          </p:txBody>
        </p:sp>
      </p:grpSp>
      <p:grpSp>
        <p:nvGrpSpPr>
          <p:cNvPr id="153" name="Google Shape;153;p17"/>
          <p:cNvGrpSpPr/>
          <p:nvPr/>
        </p:nvGrpSpPr>
        <p:grpSpPr>
          <a:xfrm>
            <a:off x="3758400" y="754750"/>
            <a:ext cx="2836650" cy="924600"/>
            <a:chOff x="4087350" y="851925"/>
            <a:chExt cx="2836650" cy="924600"/>
          </a:xfrm>
        </p:grpSpPr>
        <p:sp>
          <p:nvSpPr>
            <p:cNvPr id="154" name="Google Shape;154;p17"/>
            <p:cNvSpPr txBox="1"/>
            <p:nvPr/>
          </p:nvSpPr>
          <p:spPr>
            <a:xfrm>
              <a:off x="5028300" y="851925"/>
              <a:ext cx="1895700" cy="924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200">
                  <a:latin typeface="Roboto"/>
                  <a:ea typeface="Roboto"/>
                  <a:cs typeface="Roboto"/>
                  <a:sym typeface="Roboto"/>
                </a:rPr>
                <a:t>Problem Identification</a:t>
              </a:r>
              <a:endParaRPr b="1" sz="1200">
                <a:latin typeface="Roboto"/>
                <a:ea typeface="Roboto"/>
                <a:cs typeface="Roboto"/>
                <a:sym typeface="Roboto"/>
              </a:endParaRPr>
            </a:p>
            <a:p>
              <a:pPr indent="0" lvl="0" marL="0" rtl="0" algn="l">
                <a:spcBef>
                  <a:spcPts val="0"/>
                </a:spcBef>
                <a:spcAft>
                  <a:spcPts val="0"/>
                </a:spcAft>
                <a:buNone/>
              </a:pPr>
              <a:r>
                <a:rPr lang="en" sz="900">
                  <a:latin typeface="Times New Roman"/>
                  <a:ea typeface="Times New Roman"/>
                  <a:cs typeface="Times New Roman"/>
                  <a:sym typeface="Times New Roman"/>
                </a:rPr>
                <a:t>The analysis and interpretation of election data pose significant challenges due to the large volume, complexity, and multidimensional structure of electoral datasets. This problem addressed by the ElectViz project which is the the interactive dashboard that can simplify complex election datasets into interactive visuals.</a:t>
              </a:r>
              <a:endParaRPr sz="900">
                <a:latin typeface="Times New Roman"/>
                <a:ea typeface="Times New Roman"/>
                <a:cs typeface="Times New Roman"/>
                <a:sym typeface="Times New Roman"/>
              </a:endParaRPr>
            </a:p>
            <a:p>
              <a:pPr indent="0" lvl="0" marL="0" rtl="0" algn="l">
                <a:spcBef>
                  <a:spcPts val="0"/>
                </a:spcBef>
                <a:spcAft>
                  <a:spcPts val="1600"/>
                </a:spcAft>
                <a:buNone/>
              </a:pPr>
              <a:r>
                <a:t/>
              </a:r>
              <a:endParaRPr sz="800">
                <a:latin typeface="Roboto"/>
                <a:ea typeface="Roboto"/>
                <a:cs typeface="Roboto"/>
                <a:sym typeface="Roboto"/>
              </a:endParaRPr>
            </a:p>
          </p:txBody>
        </p:sp>
        <p:cxnSp>
          <p:nvCxnSpPr>
            <p:cNvPr id="155" name="Google Shape;155;p17"/>
            <p:cNvCxnSpPr/>
            <p:nvPr/>
          </p:nvCxnSpPr>
          <p:spPr>
            <a:xfrm flipH="1" rot="10800000">
              <a:off x="4087350" y="1313975"/>
              <a:ext cx="871200" cy="187200"/>
            </a:xfrm>
            <a:prstGeom prst="straightConnector1">
              <a:avLst/>
            </a:prstGeom>
            <a:noFill/>
            <a:ln cap="flat" cmpd="sng" w="9525">
              <a:solidFill>
                <a:srgbClr val="F4B400"/>
              </a:solidFill>
              <a:prstDash val="solid"/>
              <a:round/>
              <a:headEnd len="sm" w="sm" type="none"/>
              <a:tailEnd len="med" w="med" type="oval"/>
            </a:ln>
          </p:spPr>
        </p:cxnSp>
      </p:grpSp>
      <p:grpSp>
        <p:nvGrpSpPr>
          <p:cNvPr id="156" name="Google Shape;156;p17"/>
          <p:cNvGrpSpPr/>
          <p:nvPr/>
        </p:nvGrpSpPr>
        <p:grpSpPr>
          <a:xfrm>
            <a:off x="4636950" y="2140175"/>
            <a:ext cx="2173996" cy="924600"/>
            <a:chOff x="4291000" y="2717050"/>
            <a:chExt cx="2173996" cy="924600"/>
          </a:xfrm>
        </p:grpSpPr>
        <p:cxnSp>
          <p:nvCxnSpPr>
            <p:cNvPr id="157" name="Google Shape;157;p17"/>
            <p:cNvCxnSpPr>
              <a:stCxn id="158" idx="3"/>
            </p:cNvCxnSpPr>
            <p:nvPr/>
          </p:nvCxnSpPr>
          <p:spPr>
            <a:xfrm flipH="1" rot="10800000">
              <a:off x="4291000" y="2813437"/>
              <a:ext cx="766500" cy="10800"/>
            </a:xfrm>
            <a:prstGeom prst="straightConnector1">
              <a:avLst/>
            </a:prstGeom>
            <a:noFill/>
            <a:ln cap="flat" cmpd="sng" w="9525">
              <a:solidFill>
                <a:srgbClr val="F4B400"/>
              </a:solidFill>
              <a:prstDash val="solid"/>
              <a:round/>
              <a:headEnd len="sm" w="sm" type="none"/>
              <a:tailEnd len="med" w="med" type="oval"/>
            </a:ln>
          </p:spPr>
        </p:cxnSp>
        <p:sp>
          <p:nvSpPr>
            <p:cNvPr id="159" name="Google Shape;159;p17"/>
            <p:cNvSpPr txBox="1"/>
            <p:nvPr/>
          </p:nvSpPr>
          <p:spPr>
            <a:xfrm>
              <a:off x="5033096" y="2717050"/>
              <a:ext cx="1431900" cy="924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200">
                  <a:latin typeface="Roboto"/>
                  <a:ea typeface="Roboto"/>
                  <a:cs typeface="Roboto"/>
                  <a:sym typeface="Roboto"/>
                </a:rPr>
                <a:t>Dashboard Creation and KPI calculation</a:t>
              </a:r>
              <a:endParaRPr b="1" sz="800">
                <a:latin typeface="Roboto"/>
                <a:ea typeface="Roboto"/>
                <a:cs typeface="Roboto"/>
                <a:sym typeface="Roboto"/>
              </a:endParaRPr>
            </a:p>
            <a:p>
              <a:pPr indent="0" lvl="0" marL="0" rtl="0" algn="l">
                <a:lnSpc>
                  <a:spcPct val="115000"/>
                </a:lnSpc>
                <a:spcBef>
                  <a:spcPts val="0"/>
                </a:spcBef>
                <a:spcAft>
                  <a:spcPts val="0"/>
                </a:spcAft>
                <a:buNone/>
              </a:pPr>
              <a:r>
                <a:rPr lang="en" sz="1000">
                  <a:latin typeface="Times New Roman"/>
                  <a:ea typeface="Times New Roman"/>
                  <a:cs typeface="Times New Roman"/>
                  <a:sym typeface="Times New Roman"/>
                </a:rPr>
                <a:t>Created a simple and elegant dashboard using different visuals and DAX measures like victory margin %.  </a:t>
              </a:r>
              <a:endParaRPr sz="800">
                <a:latin typeface="Roboto"/>
                <a:ea typeface="Roboto"/>
                <a:cs typeface="Roboto"/>
                <a:sym typeface="Roboto"/>
              </a:endParaRPr>
            </a:p>
          </p:txBody>
        </p:sp>
      </p:grpSp>
      <p:grpSp>
        <p:nvGrpSpPr>
          <p:cNvPr id="160" name="Google Shape;160;p17"/>
          <p:cNvGrpSpPr/>
          <p:nvPr/>
        </p:nvGrpSpPr>
        <p:grpSpPr>
          <a:xfrm rot="189957">
            <a:off x="1932258" y="920133"/>
            <a:ext cx="3231333" cy="3226634"/>
            <a:chOff x="2610905" y="610653"/>
            <a:chExt cx="3922200" cy="3922200"/>
          </a:xfrm>
        </p:grpSpPr>
        <p:sp>
          <p:nvSpPr>
            <p:cNvPr id="161" name="Google Shape;161;p17"/>
            <p:cNvSpPr/>
            <p:nvPr/>
          </p:nvSpPr>
          <p:spPr>
            <a:xfrm rot="-4980021">
              <a:off x="3204123" y="1186472"/>
              <a:ext cx="2771960" cy="2771960"/>
            </a:xfrm>
            <a:prstGeom prst="blockArc">
              <a:avLst>
                <a:gd fmla="val 12602522" name="adj1"/>
                <a:gd fmla="val 16867657" name="adj2"/>
                <a:gd fmla="val 20844" name="adj3"/>
              </a:avLst>
            </a:prstGeom>
            <a:solidFill>
              <a:srgbClr val="C06ECF"/>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sz="1161"/>
            </a:p>
          </p:txBody>
        </p:sp>
        <p:sp>
          <p:nvSpPr>
            <p:cNvPr id="162" name="Google Shape;162;p17"/>
            <p:cNvSpPr/>
            <p:nvPr/>
          </p:nvSpPr>
          <p:spPr>
            <a:xfrm rot="7920309">
              <a:off x="3183402" y="1183149"/>
              <a:ext cx="2777207" cy="2777207"/>
            </a:xfrm>
            <a:prstGeom prst="blockArc">
              <a:avLst>
                <a:gd fmla="val 12602522" name="adj1"/>
                <a:gd fmla="val 16867657" name="adj2"/>
                <a:gd fmla="val 20844" name="adj3"/>
              </a:avLst>
            </a:prstGeom>
            <a:solidFill>
              <a:srgbClr val="842F93"/>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63" name="Google Shape;163;p17"/>
            <p:cNvSpPr/>
            <p:nvPr/>
          </p:nvSpPr>
          <p:spPr>
            <a:xfrm rot="3600063">
              <a:off x="3186335" y="1195681"/>
              <a:ext cx="2777488" cy="2777488"/>
            </a:xfrm>
            <a:prstGeom prst="blockArc">
              <a:avLst>
                <a:gd fmla="val 12602522" name="adj1"/>
                <a:gd fmla="val 16867657" name="adj2"/>
                <a:gd fmla="val 20844" name="adj3"/>
              </a:avLst>
            </a:prstGeom>
            <a:solidFill>
              <a:srgbClr val="9325A5"/>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64" name="Google Shape;164;p17"/>
            <p:cNvSpPr/>
            <p:nvPr/>
          </p:nvSpPr>
          <p:spPr>
            <a:xfrm rot="4024705">
              <a:off x="5326681" y="1940898"/>
              <a:ext cx="578477" cy="579147"/>
            </a:xfrm>
            <a:prstGeom prst="pie">
              <a:avLst>
                <a:gd fmla="val 6190354" name="adj1"/>
                <a:gd fmla="val 14996165" name="adj2"/>
              </a:avLst>
            </a:prstGeom>
            <a:solidFill>
              <a:srgbClr val="701C7F"/>
            </a:solidFill>
            <a:ln>
              <a:noFill/>
            </a:ln>
            <a:effectLst>
              <a:outerShdw blurRad="117711" rotWithShape="0" algn="bl">
                <a:srgbClr val="000000">
                  <a:alpha val="43000"/>
                </a:srgbClr>
              </a:outerShdw>
            </a:effectLst>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65" name="Google Shape;165;p17"/>
            <p:cNvSpPr/>
            <p:nvPr/>
          </p:nvSpPr>
          <p:spPr>
            <a:xfrm rot="-6816027">
              <a:off x="5326729" y="1940918"/>
              <a:ext cx="578485" cy="579035"/>
            </a:xfrm>
            <a:prstGeom prst="pie">
              <a:avLst>
                <a:gd fmla="val 4028252" name="adj1"/>
                <a:gd fmla="val 17183677" name="adj2"/>
              </a:avLst>
            </a:prstGeom>
            <a:solidFill>
              <a:srgbClr val="701C7F"/>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66" name="Google Shape;166;p17"/>
            <p:cNvSpPr/>
            <p:nvPr/>
          </p:nvSpPr>
          <p:spPr>
            <a:xfrm rot="-9359762">
              <a:off x="3193941" y="1176205"/>
              <a:ext cx="2777287" cy="2777287"/>
            </a:xfrm>
            <a:prstGeom prst="blockArc">
              <a:avLst>
                <a:gd fmla="val 12602522" name="adj1"/>
                <a:gd fmla="val 16867657" name="adj2"/>
                <a:gd fmla="val 20844" name="adj3"/>
              </a:avLst>
            </a:prstGeom>
            <a:solidFill>
              <a:srgbClr val="771E86"/>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67" name="Google Shape;167;p17"/>
            <p:cNvSpPr/>
            <p:nvPr/>
          </p:nvSpPr>
          <p:spPr>
            <a:xfrm rot="-8936366">
              <a:off x="3659126" y="3173505"/>
              <a:ext cx="578551" cy="578963"/>
            </a:xfrm>
            <a:prstGeom prst="pie">
              <a:avLst>
                <a:gd fmla="val 6190354" name="adj1"/>
                <a:gd fmla="val 14996165" name="adj2"/>
              </a:avLst>
            </a:prstGeom>
            <a:solidFill>
              <a:srgbClr val="701C7F"/>
            </a:solidFill>
            <a:ln>
              <a:noFill/>
            </a:ln>
            <a:effectLst>
              <a:outerShdw blurRad="117711" rotWithShape="0" algn="bl">
                <a:srgbClr val="000000">
                  <a:alpha val="43000"/>
                </a:srgbClr>
              </a:outerShdw>
            </a:effectLst>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48" name="Google Shape;148;p17"/>
            <p:cNvSpPr/>
            <p:nvPr/>
          </p:nvSpPr>
          <p:spPr>
            <a:xfrm rot="1824498">
              <a:off x="3659375" y="3173497"/>
              <a:ext cx="578475" cy="578885"/>
            </a:xfrm>
            <a:prstGeom prst="pie">
              <a:avLst>
                <a:gd fmla="val 4028252" name="adj1"/>
                <a:gd fmla="val 17183677" name="adj2"/>
              </a:avLst>
            </a:prstGeom>
            <a:solidFill>
              <a:srgbClr val="701C7F"/>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68" name="Google Shape;168;p17"/>
            <p:cNvSpPr/>
            <p:nvPr/>
          </p:nvSpPr>
          <p:spPr>
            <a:xfrm rot="-600092">
              <a:off x="3198852" y="1195456"/>
              <a:ext cx="2777611" cy="2777611"/>
            </a:xfrm>
            <a:prstGeom prst="blockArc">
              <a:avLst>
                <a:gd fmla="val 12513247" name="adj1"/>
                <a:gd fmla="val 16867657" name="adj2"/>
                <a:gd fmla="val 20844" name="adj3"/>
              </a:avLst>
            </a:prstGeom>
            <a:solidFill>
              <a:srgbClr val="701C7F"/>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69" name="Google Shape;169;p17"/>
            <p:cNvSpPr/>
            <p:nvPr/>
          </p:nvSpPr>
          <p:spPr>
            <a:xfrm rot="-176551">
              <a:off x="4312105" y="1195442"/>
              <a:ext cx="578563" cy="579162"/>
            </a:xfrm>
            <a:prstGeom prst="pie">
              <a:avLst>
                <a:gd fmla="val 6190354" name="adj1"/>
                <a:gd fmla="val 14996165" name="adj2"/>
              </a:avLst>
            </a:prstGeom>
            <a:solidFill>
              <a:srgbClr val="701C7F"/>
            </a:solidFill>
            <a:ln>
              <a:noFill/>
            </a:ln>
            <a:effectLst>
              <a:outerShdw blurRad="117711" rotWithShape="0" algn="bl">
                <a:srgbClr val="000000">
                  <a:alpha val="43000"/>
                </a:srgbClr>
              </a:outerShdw>
            </a:effectLst>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70" name="Google Shape;170;p17"/>
            <p:cNvSpPr/>
            <p:nvPr/>
          </p:nvSpPr>
          <p:spPr>
            <a:xfrm rot="10584085">
              <a:off x="4312088" y="1195622"/>
              <a:ext cx="578340" cy="578939"/>
            </a:xfrm>
            <a:prstGeom prst="pie">
              <a:avLst>
                <a:gd fmla="val 4028252" name="adj1"/>
                <a:gd fmla="val 17183677" name="adj2"/>
              </a:avLst>
            </a:prstGeom>
            <a:solidFill>
              <a:srgbClr val="701C7F"/>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71" name="Google Shape;171;p17"/>
            <p:cNvSpPr/>
            <p:nvPr/>
          </p:nvSpPr>
          <p:spPr>
            <a:xfrm rot="8344778">
              <a:off x="4940929" y="3162886"/>
              <a:ext cx="578465" cy="578888"/>
            </a:xfrm>
            <a:prstGeom prst="pie">
              <a:avLst>
                <a:gd fmla="val 6190354" name="adj1"/>
                <a:gd fmla="val 14996165" name="adj2"/>
              </a:avLst>
            </a:prstGeom>
            <a:solidFill>
              <a:srgbClr val="701C7F"/>
            </a:solidFill>
            <a:ln>
              <a:noFill/>
            </a:ln>
            <a:effectLst>
              <a:outerShdw blurRad="117711" rotWithShape="0" algn="bl">
                <a:srgbClr val="000000">
                  <a:alpha val="43000"/>
                </a:srgbClr>
              </a:outerShdw>
            </a:effectLst>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72" name="Google Shape;172;p17"/>
            <p:cNvSpPr/>
            <p:nvPr/>
          </p:nvSpPr>
          <p:spPr>
            <a:xfrm rot="-2495643">
              <a:off x="4941000" y="3162728"/>
              <a:ext cx="578445" cy="579093"/>
            </a:xfrm>
            <a:prstGeom prst="pie">
              <a:avLst>
                <a:gd fmla="val 4028252" name="adj1"/>
                <a:gd fmla="val 17183677" name="adj2"/>
              </a:avLst>
            </a:prstGeom>
            <a:solidFill>
              <a:srgbClr val="701C7F"/>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73" name="Google Shape;173;p17"/>
            <p:cNvSpPr/>
            <p:nvPr/>
          </p:nvSpPr>
          <p:spPr>
            <a:xfrm rot="-4556960">
              <a:off x="3257335" y="1939059"/>
              <a:ext cx="578302" cy="578957"/>
            </a:xfrm>
            <a:prstGeom prst="pie">
              <a:avLst>
                <a:gd fmla="val 6190354" name="adj1"/>
                <a:gd fmla="val 14996165" name="adj2"/>
              </a:avLst>
            </a:prstGeom>
            <a:solidFill>
              <a:srgbClr val="701C7F"/>
            </a:solidFill>
            <a:ln>
              <a:noFill/>
            </a:ln>
            <a:effectLst>
              <a:outerShdw blurRad="117711" rotWithShape="0" algn="bl">
                <a:srgbClr val="000000">
                  <a:alpha val="43000"/>
                </a:srgbClr>
              </a:outerShdw>
            </a:effectLst>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74" name="Google Shape;174;p17"/>
            <p:cNvSpPr/>
            <p:nvPr/>
          </p:nvSpPr>
          <p:spPr>
            <a:xfrm rot="6204541">
              <a:off x="3257468" y="1938977"/>
              <a:ext cx="578264" cy="578917"/>
            </a:xfrm>
            <a:prstGeom prst="pie">
              <a:avLst>
                <a:gd fmla="val 4028252" name="adj1"/>
                <a:gd fmla="val 17183677" name="adj2"/>
              </a:avLst>
            </a:prstGeom>
            <a:solidFill>
              <a:srgbClr val="701C7F"/>
            </a:solidFill>
            <a:ln>
              <a:noFill/>
            </a:ln>
          </p:spPr>
          <p:txBody>
            <a:bodyPr anchorCtr="0" anchor="ctr" bIns="75325" lIns="75325" spcFirstLastPara="1" rIns="75325" wrap="square" tIns="75325">
              <a:noAutofit/>
            </a:bodyPr>
            <a:lstStyle/>
            <a:p>
              <a:pPr indent="0" lvl="0" marL="0" rtl="0" algn="l">
                <a:spcBef>
                  <a:spcPts val="0"/>
                </a:spcBef>
                <a:spcAft>
                  <a:spcPts val="0"/>
                </a:spcAft>
                <a:buNone/>
              </a:pPr>
              <a:r>
                <a:t/>
              </a:r>
              <a:endParaRPr/>
            </a:p>
          </p:txBody>
        </p:sp>
        <p:sp>
          <p:nvSpPr>
            <p:cNvPr id="175" name="Google Shape;175;p17"/>
            <p:cNvSpPr txBox="1"/>
            <p:nvPr/>
          </p:nvSpPr>
          <p:spPr>
            <a:xfrm>
              <a:off x="4341900" y="1271896"/>
              <a:ext cx="507900" cy="266100"/>
            </a:xfrm>
            <a:prstGeom prst="rect">
              <a:avLst/>
            </a:prstGeom>
            <a:solidFill>
              <a:srgbClr val="701C7F"/>
            </a:solidFill>
            <a:ln>
              <a:noFill/>
            </a:ln>
          </p:spPr>
          <p:txBody>
            <a:bodyPr anchorCtr="0" anchor="t" bIns="75325" lIns="75325" spcFirstLastPara="1" rIns="75325" wrap="square" tIns="75325">
              <a:noAutofit/>
            </a:bodyPr>
            <a:lstStyle/>
            <a:p>
              <a:pPr indent="0" lvl="0" marL="0" rtl="0" algn="ctr">
                <a:spcBef>
                  <a:spcPts val="0"/>
                </a:spcBef>
                <a:spcAft>
                  <a:spcPts val="0"/>
                </a:spcAft>
                <a:buNone/>
              </a:pPr>
              <a:r>
                <a:rPr b="1" lang="en" sz="1318">
                  <a:solidFill>
                    <a:srgbClr val="FFFFFF"/>
                  </a:solidFill>
                  <a:latin typeface="Roboto"/>
                  <a:ea typeface="Roboto"/>
                  <a:cs typeface="Roboto"/>
                  <a:sym typeface="Roboto"/>
                </a:rPr>
                <a:t>01</a:t>
              </a:r>
              <a:endParaRPr b="1" sz="1318">
                <a:solidFill>
                  <a:srgbClr val="FFFFFF"/>
                </a:solidFill>
                <a:latin typeface="Roboto"/>
                <a:ea typeface="Roboto"/>
                <a:cs typeface="Roboto"/>
                <a:sym typeface="Roboto"/>
              </a:endParaRPr>
            </a:p>
          </p:txBody>
        </p:sp>
        <p:sp>
          <p:nvSpPr>
            <p:cNvPr id="176" name="Google Shape;176;p17"/>
            <p:cNvSpPr txBox="1"/>
            <p:nvPr/>
          </p:nvSpPr>
          <p:spPr>
            <a:xfrm>
              <a:off x="3274219" y="2018364"/>
              <a:ext cx="507900" cy="266100"/>
            </a:xfrm>
            <a:prstGeom prst="rect">
              <a:avLst/>
            </a:prstGeom>
            <a:solidFill>
              <a:srgbClr val="701C7F"/>
            </a:solidFill>
            <a:ln>
              <a:noFill/>
            </a:ln>
          </p:spPr>
          <p:txBody>
            <a:bodyPr anchorCtr="0" anchor="t" bIns="75325" lIns="75325" spcFirstLastPara="1" rIns="75325" wrap="square" tIns="75325">
              <a:noAutofit/>
            </a:bodyPr>
            <a:lstStyle/>
            <a:p>
              <a:pPr indent="0" lvl="0" marL="0" rtl="0" algn="ctr">
                <a:spcBef>
                  <a:spcPts val="0"/>
                </a:spcBef>
                <a:spcAft>
                  <a:spcPts val="0"/>
                </a:spcAft>
                <a:buNone/>
              </a:pPr>
              <a:r>
                <a:rPr b="1" lang="en" sz="1318">
                  <a:solidFill>
                    <a:srgbClr val="FFFFFF"/>
                  </a:solidFill>
                  <a:latin typeface="Roboto"/>
                  <a:ea typeface="Roboto"/>
                  <a:cs typeface="Roboto"/>
                  <a:sym typeface="Roboto"/>
                </a:rPr>
                <a:t>02</a:t>
              </a:r>
              <a:endParaRPr b="1" sz="1318">
                <a:solidFill>
                  <a:srgbClr val="FFFFFF"/>
                </a:solidFill>
                <a:latin typeface="Roboto"/>
                <a:ea typeface="Roboto"/>
                <a:cs typeface="Roboto"/>
                <a:sym typeface="Roboto"/>
              </a:endParaRPr>
            </a:p>
          </p:txBody>
        </p:sp>
        <p:sp>
          <p:nvSpPr>
            <p:cNvPr id="177" name="Google Shape;177;p17"/>
            <p:cNvSpPr txBox="1"/>
            <p:nvPr/>
          </p:nvSpPr>
          <p:spPr>
            <a:xfrm>
              <a:off x="3685317" y="3247321"/>
              <a:ext cx="507900" cy="266100"/>
            </a:xfrm>
            <a:prstGeom prst="rect">
              <a:avLst/>
            </a:prstGeom>
            <a:solidFill>
              <a:srgbClr val="701C7F"/>
            </a:solidFill>
            <a:ln>
              <a:noFill/>
            </a:ln>
          </p:spPr>
          <p:txBody>
            <a:bodyPr anchorCtr="0" anchor="t" bIns="75325" lIns="75325" spcFirstLastPara="1" rIns="75325" wrap="square" tIns="75325">
              <a:noAutofit/>
            </a:bodyPr>
            <a:lstStyle/>
            <a:p>
              <a:pPr indent="0" lvl="0" marL="0" rtl="0" algn="ctr">
                <a:spcBef>
                  <a:spcPts val="0"/>
                </a:spcBef>
                <a:spcAft>
                  <a:spcPts val="0"/>
                </a:spcAft>
                <a:buNone/>
              </a:pPr>
              <a:r>
                <a:rPr b="1" lang="en" sz="1318">
                  <a:solidFill>
                    <a:srgbClr val="FFFFFF"/>
                  </a:solidFill>
                  <a:latin typeface="Roboto"/>
                  <a:ea typeface="Roboto"/>
                  <a:cs typeface="Roboto"/>
                  <a:sym typeface="Roboto"/>
                </a:rPr>
                <a:t>03</a:t>
              </a:r>
              <a:endParaRPr b="1" sz="1318">
                <a:solidFill>
                  <a:srgbClr val="FFFFFF"/>
                </a:solidFill>
                <a:latin typeface="Roboto"/>
                <a:ea typeface="Roboto"/>
                <a:cs typeface="Roboto"/>
                <a:sym typeface="Roboto"/>
              </a:endParaRPr>
            </a:p>
          </p:txBody>
        </p:sp>
        <p:sp>
          <p:nvSpPr>
            <p:cNvPr id="178" name="Google Shape;178;p17"/>
            <p:cNvSpPr txBox="1"/>
            <p:nvPr/>
          </p:nvSpPr>
          <p:spPr>
            <a:xfrm>
              <a:off x="4955323" y="3247321"/>
              <a:ext cx="507900" cy="266100"/>
            </a:xfrm>
            <a:prstGeom prst="rect">
              <a:avLst/>
            </a:prstGeom>
            <a:solidFill>
              <a:srgbClr val="701C7F"/>
            </a:solidFill>
            <a:ln>
              <a:noFill/>
            </a:ln>
          </p:spPr>
          <p:txBody>
            <a:bodyPr anchorCtr="0" anchor="t" bIns="75325" lIns="75325" spcFirstLastPara="1" rIns="75325" wrap="square" tIns="75325">
              <a:noAutofit/>
            </a:bodyPr>
            <a:lstStyle/>
            <a:p>
              <a:pPr indent="0" lvl="0" marL="0" rtl="0" algn="ctr">
                <a:spcBef>
                  <a:spcPts val="0"/>
                </a:spcBef>
                <a:spcAft>
                  <a:spcPts val="0"/>
                </a:spcAft>
                <a:buNone/>
              </a:pPr>
              <a:r>
                <a:rPr b="1" lang="en" sz="1318">
                  <a:solidFill>
                    <a:srgbClr val="FFFFFF"/>
                  </a:solidFill>
                  <a:latin typeface="Roboto"/>
                  <a:ea typeface="Roboto"/>
                  <a:cs typeface="Roboto"/>
                  <a:sym typeface="Roboto"/>
                </a:rPr>
                <a:t>04</a:t>
              </a:r>
              <a:endParaRPr b="1" sz="1318">
                <a:solidFill>
                  <a:srgbClr val="FFFFFF"/>
                </a:solidFill>
                <a:latin typeface="Roboto"/>
                <a:ea typeface="Roboto"/>
                <a:cs typeface="Roboto"/>
                <a:sym typeface="Roboto"/>
              </a:endParaRPr>
            </a:p>
          </p:txBody>
        </p:sp>
        <p:sp>
          <p:nvSpPr>
            <p:cNvPr id="158" name="Google Shape;158;p17"/>
            <p:cNvSpPr txBox="1"/>
            <p:nvPr/>
          </p:nvSpPr>
          <p:spPr>
            <a:xfrm>
              <a:off x="5364737" y="2018364"/>
              <a:ext cx="507900" cy="266100"/>
            </a:xfrm>
            <a:prstGeom prst="rect">
              <a:avLst/>
            </a:prstGeom>
            <a:solidFill>
              <a:srgbClr val="701C7F"/>
            </a:solidFill>
            <a:ln>
              <a:noFill/>
            </a:ln>
          </p:spPr>
          <p:txBody>
            <a:bodyPr anchorCtr="0" anchor="t" bIns="75325" lIns="75325" spcFirstLastPara="1" rIns="75325" wrap="square" tIns="75325">
              <a:noAutofit/>
            </a:bodyPr>
            <a:lstStyle/>
            <a:p>
              <a:pPr indent="0" lvl="0" marL="0" rtl="0" algn="ctr">
                <a:spcBef>
                  <a:spcPts val="0"/>
                </a:spcBef>
                <a:spcAft>
                  <a:spcPts val="0"/>
                </a:spcAft>
                <a:buNone/>
              </a:pPr>
              <a:r>
                <a:rPr b="1" lang="en" sz="1318">
                  <a:solidFill>
                    <a:srgbClr val="FFFFFF"/>
                  </a:solidFill>
                  <a:latin typeface="Roboto"/>
                  <a:ea typeface="Roboto"/>
                  <a:cs typeface="Roboto"/>
                  <a:sym typeface="Roboto"/>
                </a:rPr>
                <a:t>05</a:t>
              </a:r>
              <a:endParaRPr b="1" sz="1318">
                <a:solidFill>
                  <a:srgbClr val="FFFFFF"/>
                </a:solidFill>
                <a:latin typeface="Roboto"/>
                <a:ea typeface="Roboto"/>
                <a:cs typeface="Roboto"/>
                <a:sym typeface="Roboto"/>
              </a:endParaRPr>
            </a:p>
          </p:txBody>
        </p:sp>
      </p:grpSp>
      <p:sp>
        <p:nvSpPr>
          <p:cNvPr id="179" name="Google Shape;179;p17"/>
          <p:cNvSpPr txBox="1"/>
          <p:nvPr/>
        </p:nvSpPr>
        <p:spPr>
          <a:xfrm>
            <a:off x="680325" y="276625"/>
            <a:ext cx="36258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700">
                <a:solidFill>
                  <a:schemeClr val="accent1"/>
                </a:solidFill>
                <a:latin typeface="Times New Roman"/>
                <a:ea typeface="Times New Roman"/>
                <a:cs typeface="Times New Roman"/>
                <a:sym typeface="Times New Roman"/>
              </a:rPr>
              <a:t>Project Execution</a:t>
            </a:r>
            <a:endParaRPr b="1" sz="2700">
              <a:solidFill>
                <a:schemeClr val="accent1"/>
              </a:solidFill>
              <a:latin typeface="Times New Roman"/>
              <a:ea typeface="Times New Roman"/>
              <a:cs typeface="Times New Roman"/>
              <a:sym typeface="Times New Roman"/>
            </a:endParaRPr>
          </a:p>
        </p:txBody>
      </p:sp>
      <p:pic>
        <p:nvPicPr>
          <p:cNvPr id="180" name="Google Shape;180;p17"/>
          <p:cNvPicPr preferRelativeResize="0"/>
          <p:nvPr/>
        </p:nvPicPr>
        <p:blipFill>
          <a:blip r:embed="rId3">
            <a:alphaModFix/>
          </a:blip>
          <a:stretch>
            <a:fillRect/>
          </a:stretch>
        </p:blipFill>
        <p:spPr>
          <a:xfrm>
            <a:off x="6940800" y="276625"/>
            <a:ext cx="2062001" cy="34714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1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Dashboards</a:t>
            </a:r>
            <a:endParaRPr b="1">
              <a:latin typeface="Times New Roman"/>
              <a:ea typeface="Times New Roman"/>
              <a:cs typeface="Times New Roman"/>
              <a:sym typeface="Times New Roman"/>
            </a:endParaRPr>
          </a:p>
        </p:txBody>
      </p:sp>
      <p:pic>
        <p:nvPicPr>
          <p:cNvPr id="186" name="Google Shape;186;p18"/>
          <p:cNvPicPr preferRelativeResize="0"/>
          <p:nvPr/>
        </p:nvPicPr>
        <p:blipFill>
          <a:blip r:embed="rId3">
            <a:alphaModFix/>
          </a:blip>
          <a:stretch>
            <a:fillRect/>
          </a:stretch>
        </p:blipFill>
        <p:spPr>
          <a:xfrm>
            <a:off x="737825" y="1166600"/>
            <a:ext cx="3366500" cy="1687975"/>
          </a:xfrm>
          <a:prstGeom prst="rect">
            <a:avLst/>
          </a:prstGeom>
          <a:noFill/>
          <a:ln>
            <a:noFill/>
          </a:ln>
        </p:spPr>
      </p:pic>
      <p:pic>
        <p:nvPicPr>
          <p:cNvPr id="187" name="Google Shape;187;p18"/>
          <p:cNvPicPr preferRelativeResize="0"/>
          <p:nvPr/>
        </p:nvPicPr>
        <p:blipFill>
          <a:blip r:embed="rId4">
            <a:alphaModFix/>
          </a:blip>
          <a:stretch>
            <a:fillRect/>
          </a:stretch>
        </p:blipFill>
        <p:spPr>
          <a:xfrm>
            <a:off x="737825" y="2919525"/>
            <a:ext cx="3366501" cy="1687975"/>
          </a:xfrm>
          <a:prstGeom prst="rect">
            <a:avLst/>
          </a:prstGeom>
          <a:noFill/>
          <a:ln>
            <a:noFill/>
          </a:ln>
        </p:spPr>
      </p:pic>
      <p:pic>
        <p:nvPicPr>
          <p:cNvPr id="188" name="Google Shape;188;p18"/>
          <p:cNvPicPr preferRelativeResize="0"/>
          <p:nvPr/>
        </p:nvPicPr>
        <p:blipFill>
          <a:blip r:embed="rId5">
            <a:alphaModFix/>
          </a:blip>
          <a:stretch>
            <a:fillRect/>
          </a:stretch>
        </p:blipFill>
        <p:spPr>
          <a:xfrm>
            <a:off x="5221750" y="1145070"/>
            <a:ext cx="3206325" cy="1709505"/>
          </a:xfrm>
          <a:prstGeom prst="rect">
            <a:avLst/>
          </a:prstGeom>
          <a:noFill/>
          <a:ln>
            <a:noFill/>
          </a:ln>
        </p:spPr>
      </p:pic>
      <p:pic>
        <p:nvPicPr>
          <p:cNvPr id="189" name="Google Shape;189;p18"/>
          <p:cNvPicPr preferRelativeResize="0"/>
          <p:nvPr/>
        </p:nvPicPr>
        <p:blipFill>
          <a:blip r:embed="rId6">
            <a:alphaModFix/>
          </a:blip>
          <a:stretch>
            <a:fillRect/>
          </a:stretch>
        </p:blipFill>
        <p:spPr>
          <a:xfrm>
            <a:off x="5221750" y="2919525"/>
            <a:ext cx="3206325" cy="1687975"/>
          </a:xfrm>
          <a:prstGeom prst="rect">
            <a:avLst/>
          </a:prstGeom>
          <a:noFill/>
          <a:ln>
            <a:noFill/>
          </a:ln>
        </p:spPr>
      </p:pic>
      <p:pic>
        <p:nvPicPr>
          <p:cNvPr id="190" name="Google Shape;190;p18"/>
          <p:cNvPicPr preferRelativeResize="0"/>
          <p:nvPr/>
        </p:nvPicPr>
        <p:blipFill>
          <a:blip r:embed="rId7">
            <a:alphaModFix/>
          </a:blip>
          <a:stretch>
            <a:fillRect/>
          </a:stretch>
        </p:blipFill>
        <p:spPr>
          <a:xfrm>
            <a:off x="3452450" y="1166600"/>
            <a:ext cx="651875" cy="2653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9"/>
          <p:cNvSpPr txBox="1"/>
          <p:nvPr/>
        </p:nvSpPr>
        <p:spPr>
          <a:xfrm>
            <a:off x="280775" y="0"/>
            <a:ext cx="86364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3000">
                <a:solidFill>
                  <a:schemeClr val="dk1"/>
                </a:solidFill>
                <a:latin typeface="Times New Roman"/>
                <a:ea typeface="Times New Roman"/>
                <a:cs typeface="Times New Roman"/>
                <a:sym typeface="Times New Roman"/>
              </a:rPr>
              <a:t>Dashboards(continued)</a:t>
            </a:r>
            <a:endParaRPr/>
          </a:p>
        </p:txBody>
      </p:sp>
      <p:pic>
        <p:nvPicPr>
          <p:cNvPr id="196" name="Google Shape;196;p19"/>
          <p:cNvPicPr preferRelativeResize="0"/>
          <p:nvPr/>
        </p:nvPicPr>
        <p:blipFill>
          <a:blip r:embed="rId3">
            <a:alphaModFix/>
          </a:blip>
          <a:stretch>
            <a:fillRect/>
          </a:stretch>
        </p:blipFill>
        <p:spPr>
          <a:xfrm>
            <a:off x="4948600" y="2817975"/>
            <a:ext cx="3341200" cy="1951725"/>
          </a:xfrm>
          <a:prstGeom prst="rect">
            <a:avLst/>
          </a:prstGeom>
          <a:noFill/>
          <a:ln>
            <a:noFill/>
          </a:ln>
        </p:spPr>
      </p:pic>
      <p:pic>
        <p:nvPicPr>
          <p:cNvPr id="197" name="Google Shape;197;p19"/>
          <p:cNvPicPr preferRelativeResize="0"/>
          <p:nvPr/>
        </p:nvPicPr>
        <p:blipFill>
          <a:blip r:embed="rId4">
            <a:alphaModFix/>
          </a:blip>
          <a:stretch>
            <a:fillRect/>
          </a:stretch>
        </p:blipFill>
        <p:spPr>
          <a:xfrm>
            <a:off x="492475" y="2899775"/>
            <a:ext cx="3285350" cy="1866675"/>
          </a:xfrm>
          <a:prstGeom prst="rect">
            <a:avLst/>
          </a:prstGeom>
          <a:noFill/>
          <a:ln>
            <a:noFill/>
          </a:ln>
        </p:spPr>
      </p:pic>
      <p:pic>
        <p:nvPicPr>
          <p:cNvPr id="198" name="Google Shape;198;p19"/>
          <p:cNvPicPr preferRelativeResize="0"/>
          <p:nvPr/>
        </p:nvPicPr>
        <p:blipFill>
          <a:blip r:embed="rId5">
            <a:alphaModFix/>
          </a:blip>
          <a:stretch>
            <a:fillRect/>
          </a:stretch>
        </p:blipFill>
        <p:spPr>
          <a:xfrm>
            <a:off x="4948600" y="798900"/>
            <a:ext cx="3341199" cy="1866675"/>
          </a:xfrm>
          <a:prstGeom prst="rect">
            <a:avLst/>
          </a:prstGeom>
          <a:noFill/>
          <a:ln>
            <a:noFill/>
          </a:ln>
        </p:spPr>
      </p:pic>
      <p:pic>
        <p:nvPicPr>
          <p:cNvPr id="199" name="Google Shape;199;p19"/>
          <p:cNvPicPr preferRelativeResize="0"/>
          <p:nvPr/>
        </p:nvPicPr>
        <p:blipFill rotWithShape="1">
          <a:blip r:embed="rId6">
            <a:alphaModFix/>
          </a:blip>
          <a:srcRect b="0" l="2969" r="0" t="0"/>
          <a:stretch/>
        </p:blipFill>
        <p:spPr>
          <a:xfrm>
            <a:off x="492475" y="798900"/>
            <a:ext cx="3285350" cy="19484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20"/>
          <p:cNvSpPr txBox="1"/>
          <p:nvPr>
            <p:ph type="title"/>
          </p:nvPr>
        </p:nvSpPr>
        <p:spPr>
          <a:xfrm>
            <a:off x="311700" y="2130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Challenges and Resolutions</a:t>
            </a:r>
            <a:endParaRPr b="1">
              <a:latin typeface="Times New Roman"/>
              <a:ea typeface="Times New Roman"/>
              <a:cs typeface="Times New Roman"/>
              <a:sym typeface="Times New Roman"/>
            </a:endParaRPr>
          </a:p>
        </p:txBody>
      </p:sp>
      <p:graphicFrame>
        <p:nvGraphicFramePr>
          <p:cNvPr id="205" name="Google Shape;205;p20"/>
          <p:cNvGraphicFramePr/>
          <p:nvPr/>
        </p:nvGraphicFramePr>
        <p:xfrm>
          <a:off x="311675" y="936800"/>
          <a:ext cx="3000000" cy="3000000"/>
        </p:xfrm>
        <a:graphic>
          <a:graphicData uri="http://schemas.openxmlformats.org/drawingml/2006/table">
            <a:tbl>
              <a:tblPr>
                <a:noFill/>
                <a:tableStyleId>{BED59372-A20B-40F8-8136-38D034288E66}</a:tableStyleId>
              </a:tblPr>
              <a:tblGrid>
                <a:gridCol w="4345375"/>
                <a:gridCol w="4345375"/>
              </a:tblGrid>
              <a:tr h="421550">
                <a:tc>
                  <a:txBody>
                    <a:bodyPr/>
                    <a:lstStyle/>
                    <a:p>
                      <a:pPr indent="0" lvl="0" marL="0" rtl="0" algn="ctr">
                        <a:lnSpc>
                          <a:spcPct val="115000"/>
                        </a:lnSpc>
                        <a:spcBef>
                          <a:spcPts val="0"/>
                        </a:spcBef>
                        <a:spcAft>
                          <a:spcPts val="0"/>
                        </a:spcAft>
                        <a:buNone/>
                      </a:pPr>
                      <a:r>
                        <a:rPr b="1" lang="en" sz="1700">
                          <a:solidFill>
                            <a:schemeClr val="dk1"/>
                          </a:solidFill>
                          <a:latin typeface="Times New Roman"/>
                          <a:ea typeface="Times New Roman"/>
                          <a:cs typeface="Times New Roman"/>
                          <a:sym typeface="Times New Roman"/>
                        </a:rPr>
                        <a:t>Challenges</a:t>
                      </a:r>
                      <a:endParaRPr b="1" sz="17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lnSpc>
                          <a:spcPct val="115000"/>
                        </a:lnSpc>
                        <a:spcBef>
                          <a:spcPts val="0"/>
                        </a:spcBef>
                        <a:spcAft>
                          <a:spcPts val="0"/>
                        </a:spcAft>
                        <a:buNone/>
                      </a:pPr>
                      <a:r>
                        <a:rPr b="1" lang="en" sz="1700">
                          <a:solidFill>
                            <a:schemeClr val="dk1"/>
                          </a:solidFill>
                          <a:latin typeface="Times New Roman"/>
                          <a:ea typeface="Times New Roman"/>
                          <a:cs typeface="Times New Roman"/>
                          <a:sym typeface="Times New Roman"/>
                        </a:rPr>
                        <a:t>Resolution</a:t>
                      </a:r>
                      <a:endParaRPr b="1" sz="1700">
                        <a:solidFill>
                          <a:schemeClr val="dk1"/>
                        </a:solidFill>
                        <a:latin typeface="Times New Roman"/>
                        <a:ea typeface="Times New Roman"/>
                        <a:cs typeface="Times New Roman"/>
                        <a:sym typeface="Times New Roman"/>
                      </a:endParaRPr>
                    </a:p>
                  </a:txBody>
                  <a:tcPr marT="91425" marB="91425" marR="91425" marL="91425"/>
                </a:tc>
              </a:tr>
              <a:tr h="58145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High-volume, candidate-level election data increased processing and visualization complexity</a:t>
                      </a:r>
                      <a:endParaRPr sz="1300">
                        <a:latin typeface="Times New Roman"/>
                        <a:ea typeface="Times New Roman"/>
                        <a:cs typeface="Times New Roman"/>
                        <a:sym typeface="Times New Roman"/>
                      </a:endParaRPr>
                    </a:p>
                  </a:txBody>
                  <a:tcPr marT="91425" marB="91425" marR="91425" marL="91425"/>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Applied data aggregation and optimized DAX measures to enable efficient multi-level analysis</a:t>
                      </a:r>
                      <a:endParaRPr sz="1300">
                        <a:latin typeface="Times New Roman"/>
                        <a:ea typeface="Times New Roman"/>
                        <a:cs typeface="Times New Roman"/>
                        <a:sym typeface="Times New Roman"/>
                      </a:endParaRPr>
                    </a:p>
                  </a:txBody>
                  <a:tcPr marT="91425" marB="91425" marR="91425" marL="91425"/>
                </a:tc>
              </a:tr>
              <a:tr h="747025">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Lack of pre-defined winner, runner-up, and seat metrics in the dataset</a:t>
                      </a:r>
                      <a:endParaRPr sz="1300">
                        <a:latin typeface="Times New Roman"/>
                        <a:ea typeface="Times New Roman"/>
                        <a:cs typeface="Times New Roman"/>
                        <a:sym typeface="Times New Roman"/>
                      </a:endParaRPr>
                    </a:p>
                  </a:txBody>
                  <a:tcPr marT="91425" marB="91425" marR="91425" marL="91425"/>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Derived custom DAX calculations to identify winners, compute victory margins, and calculate seats won</a:t>
                      </a:r>
                      <a:endParaRPr sz="1300">
                        <a:latin typeface="Times New Roman"/>
                        <a:ea typeface="Times New Roman"/>
                        <a:cs typeface="Times New Roman"/>
                        <a:sym typeface="Times New Roman"/>
                      </a:endParaRPr>
                    </a:p>
                  </a:txBody>
                  <a:tcPr marT="91425" marB="91425" marR="91425" marL="91425"/>
                </a:tc>
              </a:tr>
              <a:tr h="58145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Maintaining metric consistency across overview, party, state, and constituency dashboards</a:t>
                      </a:r>
                      <a:endParaRPr sz="1300">
                        <a:latin typeface="Times New Roman"/>
                        <a:ea typeface="Times New Roman"/>
                        <a:cs typeface="Times New Roman"/>
                        <a:sym typeface="Times New Roman"/>
                      </a:endParaRPr>
                    </a:p>
                  </a:txBody>
                  <a:tcPr marT="91425" marB="91425" marR="91425" marL="91425"/>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Standardized reusable measures and applied uniform filtering logic across all pages</a:t>
                      </a:r>
                      <a:endParaRPr sz="1300">
                        <a:latin typeface="Times New Roman"/>
                        <a:ea typeface="Times New Roman"/>
                        <a:cs typeface="Times New Roman"/>
                        <a:sym typeface="Times New Roman"/>
                      </a:endParaRPr>
                    </a:p>
                  </a:txBody>
                  <a:tcPr marT="91425" marB="91425" marR="91425" marL="91425"/>
                </a:tc>
              </a:tr>
              <a:tr h="58145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Visual overcrowding due to large numbers of parties and candidates</a:t>
                      </a:r>
                      <a:endParaRPr sz="1300">
                        <a:latin typeface="Times New Roman"/>
                        <a:ea typeface="Times New Roman"/>
                        <a:cs typeface="Times New Roman"/>
                        <a:sym typeface="Times New Roman"/>
                      </a:endParaRPr>
                    </a:p>
                  </a:txBody>
                  <a:tcPr marT="91425" marB="91425" marR="91425" marL="91425"/>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Replaced dense charts with treemaps, tables, and trend-based visuals for improved clarity</a:t>
                      </a:r>
                      <a:endParaRPr sz="1300">
                        <a:latin typeface="Times New Roman"/>
                        <a:ea typeface="Times New Roman"/>
                        <a:cs typeface="Times New Roman"/>
                        <a:sym typeface="Times New Roman"/>
                      </a:endParaRPr>
                    </a:p>
                  </a:txBody>
                  <a:tcPr marT="91425" marB="91425" marR="91425" marL="91425"/>
                </a:tc>
              </a:tr>
              <a:tr h="58145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Handling dynamic cross-filtering across multiple dimensions</a:t>
                      </a:r>
                      <a:endParaRPr sz="1300">
                        <a:latin typeface="Times New Roman"/>
                        <a:ea typeface="Times New Roman"/>
                        <a:cs typeface="Times New Roman"/>
                        <a:sym typeface="Times New Roman"/>
                      </a:endParaRPr>
                    </a:p>
                  </a:txBody>
                  <a:tcPr marT="91425" marB="91425" marR="91425" marL="91425"/>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Implemented context-aware slicers and validated visual interactions</a:t>
                      </a:r>
                      <a:endParaRPr sz="1300">
                        <a:latin typeface="Times New Roman"/>
                        <a:ea typeface="Times New Roman"/>
                        <a:cs typeface="Times New Roman"/>
                        <a:sym typeface="Times New Roman"/>
                      </a:endParaRPr>
                    </a:p>
                  </a:txBody>
                  <a:tcPr marT="91425" marB="91425" marR="91425" marL="91425"/>
                </a:tc>
              </a:tr>
              <a:tr h="58145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Representing electoral competitiveness metrics in an interpretable manner</a:t>
                      </a:r>
                      <a:endParaRPr sz="1300">
                        <a:latin typeface="Times New Roman"/>
                        <a:ea typeface="Times New Roman"/>
                        <a:cs typeface="Times New Roman"/>
                        <a:sym typeface="Times New Roman"/>
                      </a:endParaRPr>
                    </a:p>
                  </a:txBody>
                  <a:tcPr marT="91425" marB="91425" marR="91425" marL="91425"/>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Translated complex metrics into KPIs and trend visuals for easier interpretation</a:t>
                      </a:r>
                      <a:endParaRPr sz="1300">
                        <a:latin typeface="Times New Roman"/>
                        <a:ea typeface="Times New Roman"/>
                        <a:cs typeface="Times New Roman"/>
                        <a:sym typeface="Times New Roman"/>
                      </a:endParaRPr>
                    </a:p>
                  </a:txBody>
                  <a:tcPr marT="91425" marB="91425" marR="91425" marL="91425"/>
                </a:tc>
              </a:tr>
            </a:tbl>
          </a:graphicData>
        </a:graphic>
      </p:graphicFrame>
      <p:pic>
        <p:nvPicPr>
          <p:cNvPr id="206" name="Google Shape;206;p20"/>
          <p:cNvPicPr preferRelativeResize="0"/>
          <p:nvPr/>
        </p:nvPicPr>
        <p:blipFill>
          <a:blip r:embed="rId3">
            <a:alphaModFix/>
          </a:blip>
          <a:stretch>
            <a:fillRect/>
          </a:stretch>
        </p:blipFill>
        <p:spPr>
          <a:xfrm flipH="1" rot="-10794000">
            <a:off x="7043597" y="15876"/>
            <a:ext cx="2093707" cy="77152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1"/>
          <p:cNvSpPr txBox="1"/>
          <p:nvPr/>
        </p:nvSpPr>
        <p:spPr>
          <a:xfrm>
            <a:off x="286775" y="151275"/>
            <a:ext cx="8723100" cy="4610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900">
                <a:solidFill>
                  <a:schemeClr val="dk1"/>
                </a:solidFill>
                <a:latin typeface="Times New Roman"/>
                <a:ea typeface="Times New Roman"/>
                <a:cs typeface="Times New Roman"/>
                <a:sym typeface="Times New Roman"/>
              </a:rPr>
              <a:t>Key Insights</a:t>
            </a:r>
            <a:endParaRPr b="1" sz="2900">
              <a:solidFill>
                <a:schemeClr val="dk1"/>
              </a:solidFill>
              <a:latin typeface="Times New Roman"/>
              <a:ea typeface="Times New Roman"/>
              <a:cs typeface="Times New Roman"/>
              <a:sym typeface="Times New Roman"/>
            </a:endParaRPr>
          </a:p>
          <a:p>
            <a:pPr indent="-336550" lvl="0" marL="457200" rtl="0" algn="l">
              <a:lnSpc>
                <a:spcPct val="115000"/>
              </a:lnSpc>
              <a:spcBef>
                <a:spcPts val="1200"/>
              </a:spcBef>
              <a:spcAft>
                <a:spcPts val="0"/>
              </a:spcAft>
              <a:buSzPts val="1700"/>
              <a:buChar char="●"/>
            </a:pPr>
            <a:r>
              <a:rPr lang="en" sz="1700">
                <a:latin typeface="Times New Roman"/>
                <a:ea typeface="Times New Roman"/>
                <a:cs typeface="Times New Roman"/>
                <a:sym typeface="Times New Roman"/>
              </a:rPr>
              <a:t>The data shows </a:t>
            </a:r>
            <a:r>
              <a:rPr b="1" lang="en" sz="1700">
                <a:latin typeface="Times New Roman"/>
                <a:ea typeface="Times New Roman"/>
                <a:cs typeface="Times New Roman"/>
                <a:sym typeface="Times New Roman"/>
              </a:rPr>
              <a:t>high diversity in candidates, parties, electors, states, and constituencies</a:t>
            </a:r>
            <a:r>
              <a:rPr lang="en" sz="1700">
                <a:latin typeface="Times New Roman"/>
                <a:ea typeface="Times New Roman"/>
                <a:cs typeface="Times New Roman"/>
                <a:sym typeface="Times New Roman"/>
              </a:rPr>
              <a:t>.</a:t>
            </a:r>
            <a:endParaRPr sz="1700">
              <a:latin typeface="Times New Roman"/>
              <a:ea typeface="Times New Roman"/>
              <a:cs typeface="Times New Roman"/>
              <a:sym typeface="Times New Roman"/>
            </a:endParaRPr>
          </a:p>
          <a:p>
            <a:pPr indent="-336550" lvl="0" marL="457200" rtl="0" algn="l">
              <a:lnSpc>
                <a:spcPct val="115000"/>
              </a:lnSpc>
              <a:spcBef>
                <a:spcPts val="0"/>
              </a:spcBef>
              <a:spcAft>
                <a:spcPts val="0"/>
              </a:spcAft>
              <a:buSzPts val="1700"/>
              <a:buChar char="●"/>
            </a:pPr>
            <a:r>
              <a:rPr b="1" lang="en" sz="1700">
                <a:latin typeface="Times New Roman"/>
                <a:ea typeface="Times New Roman"/>
                <a:cs typeface="Times New Roman"/>
                <a:sym typeface="Times New Roman"/>
              </a:rPr>
              <a:t>Indian National Congress and Bharatiya Janata Party</a:t>
            </a:r>
            <a:r>
              <a:rPr lang="en" sz="1700">
                <a:latin typeface="Times New Roman"/>
                <a:ea typeface="Times New Roman"/>
                <a:cs typeface="Times New Roman"/>
                <a:sym typeface="Times New Roman"/>
              </a:rPr>
              <a:t> have remained the </a:t>
            </a:r>
            <a:r>
              <a:rPr b="1" lang="en" sz="1700">
                <a:latin typeface="Times New Roman"/>
                <a:ea typeface="Times New Roman"/>
                <a:cs typeface="Times New Roman"/>
                <a:sym typeface="Times New Roman"/>
              </a:rPr>
              <a:t>most dominant parties</a:t>
            </a:r>
            <a:r>
              <a:rPr lang="en" sz="1700">
                <a:latin typeface="Times New Roman"/>
                <a:ea typeface="Times New Roman"/>
                <a:cs typeface="Times New Roman"/>
                <a:sym typeface="Times New Roman"/>
              </a:rPr>
              <a:t> over the years.</a:t>
            </a:r>
            <a:endParaRPr sz="1700">
              <a:latin typeface="Times New Roman"/>
              <a:ea typeface="Times New Roman"/>
              <a:cs typeface="Times New Roman"/>
              <a:sym typeface="Times New Roman"/>
            </a:endParaRPr>
          </a:p>
          <a:p>
            <a:pPr indent="-336550" lvl="0" marL="457200" rtl="0" algn="l">
              <a:lnSpc>
                <a:spcPct val="115000"/>
              </a:lnSpc>
              <a:spcBef>
                <a:spcPts val="0"/>
              </a:spcBef>
              <a:spcAft>
                <a:spcPts val="0"/>
              </a:spcAft>
              <a:buSzPts val="1700"/>
              <a:buChar char="●"/>
            </a:pPr>
            <a:r>
              <a:rPr b="1" lang="en" sz="1700">
                <a:latin typeface="Times New Roman"/>
                <a:ea typeface="Times New Roman"/>
                <a:cs typeface="Times New Roman"/>
                <a:sym typeface="Times New Roman"/>
              </a:rPr>
              <a:t>SC and ST constituencies</a:t>
            </a:r>
            <a:r>
              <a:rPr lang="en" sz="1700">
                <a:latin typeface="Times New Roman"/>
                <a:ea typeface="Times New Roman"/>
                <a:cs typeface="Times New Roman"/>
                <a:sym typeface="Times New Roman"/>
              </a:rPr>
              <a:t> record a </a:t>
            </a:r>
            <a:r>
              <a:rPr b="1" lang="en" sz="1700">
                <a:latin typeface="Times New Roman"/>
                <a:ea typeface="Times New Roman"/>
                <a:cs typeface="Times New Roman"/>
                <a:sym typeface="Times New Roman"/>
              </a:rPr>
              <a:t>higher average voter turnout</a:t>
            </a:r>
            <a:r>
              <a:rPr lang="en" sz="1700">
                <a:latin typeface="Times New Roman"/>
                <a:ea typeface="Times New Roman"/>
                <a:cs typeface="Times New Roman"/>
                <a:sym typeface="Times New Roman"/>
              </a:rPr>
              <a:t> compared to General seats.</a:t>
            </a:r>
            <a:endParaRPr sz="1700">
              <a:latin typeface="Times New Roman"/>
              <a:ea typeface="Times New Roman"/>
              <a:cs typeface="Times New Roman"/>
              <a:sym typeface="Times New Roman"/>
            </a:endParaRPr>
          </a:p>
          <a:p>
            <a:pPr indent="-336550" lvl="0" marL="457200" rtl="0" algn="l">
              <a:lnSpc>
                <a:spcPct val="115000"/>
              </a:lnSpc>
              <a:spcBef>
                <a:spcPts val="0"/>
              </a:spcBef>
              <a:spcAft>
                <a:spcPts val="0"/>
              </a:spcAft>
              <a:buSzPts val="1700"/>
              <a:buChar char="●"/>
            </a:pPr>
            <a:r>
              <a:rPr b="1" lang="en" sz="1700">
                <a:latin typeface="Times New Roman"/>
                <a:ea typeface="Times New Roman"/>
                <a:cs typeface="Times New Roman"/>
                <a:sym typeface="Times New Roman"/>
              </a:rPr>
              <a:t>Voter turnout peaked in 1977</a:t>
            </a:r>
            <a:r>
              <a:rPr lang="en" sz="1700">
                <a:latin typeface="Times New Roman"/>
                <a:ea typeface="Times New Roman"/>
                <a:cs typeface="Times New Roman"/>
                <a:sym typeface="Times New Roman"/>
              </a:rPr>
              <a:t>, declined until 1996, and then </a:t>
            </a:r>
            <a:r>
              <a:rPr b="1" lang="en" sz="1700">
                <a:latin typeface="Times New Roman"/>
                <a:ea typeface="Times New Roman"/>
                <a:cs typeface="Times New Roman"/>
                <a:sym typeface="Times New Roman"/>
              </a:rPr>
              <a:t>stabilized after increasing from 1998 onwards</a:t>
            </a:r>
            <a:r>
              <a:rPr lang="en" sz="1700">
                <a:latin typeface="Times New Roman"/>
                <a:ea typeface="Times New Roman"/>
                <a:cs typeface="Times New Roman"/>
                <a:sym typeface="Times New Roman"/>
              </a:rPr>
              <a:t>.</a:t>
            </a:r>
            <a:endParaRPr sz="1700">
              <a:latin typeface="Times New Roman"/>
              <a:ea typeface="Times New Roman"/>
              <a:cs typeface="Times New Roman"/>
              <a:sym typeface="Times New Roman"/>
            </a:endParaRPr>
          </a:p>
          <a:p>
            <a:pPr indent="-336550" lvl="0" marL="457200" rtl="0" algn="l">
              <a:lnSpc>
                <a:spcPct val="115000"/>
              </a:lnSpc>
              <a:spcBef>
                <a:spcPts val="0"/>
              </a:spcBef>
              <a:spcAft>
                <a:spcPts val="0"/>
              </a:spcAft>
              <a:buSzPts val="1700"/>
              <a:buChar char="●"/>
            </a:pPr>
            <a:r>
              <a:rPr b="1" lang="en" sz="1700">
                <a:latin typeface="Times New Roman"/>
                <a:ea typeface="Times New Roman"/>
                <a:cs typeface="Times New Roman"/>
                <a:sym typeface="Times New Roman"/>
              </a:rPr>
              <a:t>Male candidates dominate participation</a:t>
            </a:r>
            <a:r>
              <a:rPr lang="en" sz="1700">
                <a:latin typeface="Times New Roman"/>
                <a:ea typeface="Times New Roman"/>
                <a:cs typeface="Times New Roman"/>
                <a:sym typeface="Times New Roman"/>
              </a:rPr>
              <a:t>, though </a:t>
            </a:r>
            <a:r>
              <a:rPr b="1" lang="en" sz="1700">
                <a:latin typeface="Times New Roman"/>
                <a:ea typeface="Times New Roman"/>
                <a:cs typeface="Times New Roman"/>
                <a:sym typeface="Times New Roman"/>
              </a:rPr>
              <a:t>female representation has consistently increased over time</a:t>
            </a:r>
            <a:r>
              <a:rPr lang="en" sz="1700">
                <a:latin typeface="Times New Roman"/>
                <a:ea typeface="Times New Roman"/>
                <a:cs typeface="Times New Roman"/>
                <a:sym typeface="Times New Roman"/>
              </a:rPr>
              <a:t>.</a:t>
            </a:r>
            <a:endParaRPr sz="1700">
              <a:latin typeface="Times New Roman"/>
              <a:ea typeface="Times New Roman"/>
              <a:cs typeface="Times New Roman"/>
              <a:sym typeface="Times New Roman"/>
            </a:endParaRPr>
          </a:p>
          <a:p>
            <a:pPr indent="-336550" lvl="0" marL="457200" rtl="0" algn="l">
              <a:lnSpc>
                <a:spcPct val="115000"/>
              </a:lnSpc>
              <a:spcBef>
                <a:spcPts val="0"/>
              </a:spcBef>
              <a:spcAft>
                <a:spcPts val="0"/>
              </a:spcAft>
              <a:buSzPts val="1700"/>
              <a:buChar char="●"/>
            </a:pPr>
            <a:r>
              <a:rPr b="1" lang="en" sz="1700">
                <a:latin typeface="Times New Roman"/>
                <a:ea typeface="Times New Roman"/>
                <a:cs typeface="Times New Roman"/>
                <a:sym typeface="Times New Roman"/>
              </a:rPr>
              <a:t>Winner strength varies across election years</a:t>
            </a:r>
            <a:r>
              <a:rPr lang="en" sz="1700">
                <a:latin typeface="Times New Roman"/>
                <a:ea typeface="Times New Roman"/>
                <a:cs typeface="Times New Roman"/>
                <a:sym typeface="Times New Roman"/>
              </a:rPr>
              <a:t>, reflecting changing electoral competitiveness.</a:t>
            </a:r>
            <a:endParaRPr sz="2000">
              <a:solidFill>
                <a:schemeClr val="dk2"/>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22"/>
          <p:cNvSpPr txBox="1"/>
          <p:nvPr>
            <p:ph type="title"/>
          </p:nvPr>
        </p:nvSpPr>
        <p:spPr>
          <a:xfrm>
            <a:off x="311700" y="1899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Future Enhancements</a:t>
            </a:r>
            <a:endParaRPr b="1">
              <a:latin typeface="Times New Roman"/>
              <a:ea typeface="Times New Roman"/>
              <a:cs typeface="Times New Roman"/>
              <a:sym typeface="Times New Roman"/>
            </a:endParaRPr>
          </a:p>
        </p:txBody>
      </p:sp>
      <p:sp>
        <p:nvSpPr>
          <p:cNvPr id="217" name="Google Shape;217;p22"/>
          <p:cNvSpPr txBox="1"/>
          <p:nvPr>
            <p:ph idx="1" type="body"/>
          </p:nvPr>
        </p:nvSpPr>
        <p:spPr>
          <a:xfrm>
            <a:off x="311700" y="797700"/>
            <a:ext cx="8709600" cy="39063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b="1" lang="en" sz="1500">
                <a:solidFill>
                  <a:schemeClr val="accent4"/>
                </a:solidFill>
                <a:latin typeface="Times New Roman"/>
                <a:ea typeface="Times New Roman"/>
                <a:cs typeface="Times New Roman"/>
                <a:sym typeface="Times New Roman"/>
              </a:rPr>
              <a:t>Real-Time Data Integration</a:t>
            </a:r>
            <a:br>
              <a:rPr b="1" lang="en" sz="1500">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Include recent and upcoming election data to support updated and near real-time election analysis.</a:t>
            </a:r>
            <a:endParaRPr sz="15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b="1" lang="en" sz="1500">
                <a:solidFill>
                  <a:schemeClr val="accent4"/>
                </a:solidFill>
                <a:latin typeface="Times New Roman"/>
                <a:ea typeface="Times New Roman"/>
                <a:cs typeface="Times New Roman"/>
                <a:sym typeface="Times New Roman"/>
              </a:rPr>
              <a:t>Demographic and Socio-Economic Analysis</a:t>
            </a:r>
            <a:br>
              <a:rPr b="1" lang="en" sz="1500">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Combine election data with demographic and economic indicators to gain deeper insights into voting behavior.</a:t>
            </a:r>
            <a:endParaRPr sz="15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b="1" lang="en" sz="1500">
                <a:solidFill>
                  <a:schemeClr val="accent4"/>
                </a:solidFill>
                <a:latin typeface="Times New Roman"/>
                <a:ea typeface="Times New Roman"/>
                <a:cs typeface="Times New Roman"/>
                <a:sym typeface="Times New Roman"/>
              </a:rPr>
              <a:t>Predictive Election Modeling</a:t>
            </a:r>
            <a:br>
              <a:rPr b="1" lang="en" sz="1500">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Apply predictive analytics and trend forecasting techniques to estimate future election outcomes.</a:t>
            </a:r>
            <a:endParaRPr sz="15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b="1" lang="en" sz="1500">
                <a:solidFill>
                  <a:schemeClr val="accent4"/>
                </a:solidFill>
                <a:latin typeface="Times New Roman"/>
                <a:ea typeface="Times New Roman"/>
                <a:cs typeface="Times New Roman"/>
                <a:sym typeface="Times New Roman"/>
              </a:rPr>
              <a:t>Enhanced Interactivity</a:t>
            </a:r>
            <a:br>
              <a:rPr b="1" lang="en" sz="1500">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Enable drill-through pages and interactive tooltips for detailed constituency-wise and candidate-wise analysis.</a:t>
            </a:r>
            <a:endParaRPr sz="15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b="1" lang="en" sz="1500">
                <a:solidFill>
                  <a:schemeClr val="accent4"/>
                </a:solidFill>
                <a:latin typeface="Times New Roman"/>
                <a:ea typeface="Times New Roman"/>
                <a:cs typeface="Times New Roman"/>
                <a:sym typeface="Times New Roman"/>
              </a:rPr>
              <a:t>Cloud Deployment and Automation</a:t>
            </a:r>
            <a:br>
              <a:rPr b="1" lang="en" sz="1500">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Publish dashboards on Power BI Service with automated refresh and role-based access for wider usability.</a:t>
            </a:r>
            <a:endParaRPr sz="1500">
              <a:solidFill>
                <a:srgbClr val="000000"/>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2200">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2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Conclusion</a:t>
            </a:r>
            <a:endParaRPr b="1">
              <a:latin typeface="Times New Roman"/>
              <a:ea typeface="Times New Roman"/>
              <a:cs typeface="Times New Roman"/>
              <a:sym typeface="Times New Roman"/>
            </a:endParaRPr>
          </a:p>
        </p:txBody>
      </p:sp>
      <p:sp>
        <p:nvSpPr>
          <p:cNvPr id="223" name="Google Shape;223;p23"/>
          <p:cNvSpPr txBox="1"/>
          <p:nvPr>
            <p:ph idx="1" type="body"/>
          </p:nvPr>
        </p:nvSpPr>
        <p:spPr>
          <a:xfrm>
            <a:off x="453775" y="1017800"/>
            <a:ext cx="8255700" cy="3215700"/>
          </a:xfrm>
          <a:prstGeom prst="rect">
            <a:avLst/>
          </a:prstGeom>
        </p:spPr>
        <p:txBody>
          <a:bodyPr anchorCtr="0" anchor="t" bIns="91425" lIns="91425" spcFirstLastPara="1" rIns="91425" wrap="square" tIns="91425">
            <a:normAutofit lnSpcReduction="10000"/>
          </a:bodyPr>
          <a:lstStyle/>
          <a:p>
            <a:pPr indent="0" lvl="0" marL="0" rtl="0" algn="just">
              <a:lnSpc>
                <a:spcPct val="130000"/>
              </a:lnSpc>
              <a:spcBef>
                <a:spcPts val="0"/>
              </a:spcBef>
              <a:spcAft>
                <a:spcPts val="1200"/>
              </a:spcAft>
              <a:buSzPts val="935"/>
              <a:buNone/>
            </a:pPr>
            <a:r>
              <a:rPr b="1" lang="en" sz="1840">
                <a:solidFill>
                  <a:srgbClr val="000000"/>
                </a:solidFill>
                <a:latin typeface="Times New Roman"/>
                <a:ea typeface="Times New Roman"/>
                <a:cs typeface="Times New Roman"/>
                <a:sym typeface="Times New Roman"/>
              </a:rPr>
              <a:t>ElectViz</a:t>
            </a:r>
            <a:r>
              <a:rPr lang="en" sz="1840">
                <a:solidFill>
                  <a:srgbClr val="000000"/>
                </a:solidFill>
                <a:latin typeface="Times New Roman"/>
                <a:ea typeface="Times New Roman"/>
                <a:cs typeface="Times New Roman"/>
                <a:sym typeface="Times New Roman"/>
              </a:rPr>
              <a:t> successfully bridges the gap between raw electoral data and actionable public information by providing a centralized, automated visualization framework. By transforming complex datasets into intuitive, interactive dashboards featuring choropleth maps and swing-analysis charts, the platform overcomes the high latency and manual errors inherent in traditional reporting. The implementation of a robust data pipeline ensures that real-time insights enables newsrooms to identify critical "voter-shift" and "anti-incumbency" patterns instantly. Ultimately, this project offers a scalable, low-latency solution that enhances democratic transparency and provides broadcast-ready graphical insights for the digital age.</a:t>
            </a:r>
            <a:endParaRPr sz="1330">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4"/>
          <p:cNvSpPr txBox="1"/>
          <p:nvPr>
            <p:ph type="title"/>
          </p:nvPr>
        </p:nvSpPr>
        <p:spPr>
          <a:xfrm>
            <a:off x="311700" y="154950"/>
            <a:ext cx="8520600" cy="5703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Acknowledgement </a:t>
            </a:r>
            <a:endParaRPr b="1">
              <a:latin typeface="Times New Roman"/>
              <a:ea typeface="Times New Roman"/>
              <a:cs typeface="Times New Roman"/>
              <a:sym typeface="Times New Roman"/>
            </a:endParaRPr>
          </a:p>
        </p:txBody>
      </p:sp>
      <p:sp>
        <p:nvSpPr>
          <p:cNvPr id="229" name="Google Shape;229;p24"/>
          <p:cNvSpPr txBox="1"/>
          <p:nvPr>
            <p:ph idx="1" type="body"/>
          </p:nvPr>
        </p:nvSpPr>
        <p:spPr>
          <a:xfrm>
            <a:off x="369625" y="725250"/>
            <a:ext cx="8520600" cy="1650300"/>
          </a:xfrm>
          <a:prstGeom prst="rect">
            <a:avLst/>
          </a:prstGeom>
        </p:spPr>
        <p:txBody>
          <a:bodyPr anchorCtr="0" anchor="t" bIns="91425" lIns="91425" spcFirstLastPara="1" rIns="91425" wrap="square" tIns="91425">
            <a:noAutofit/>
          </a:bodyPr>
          <a:lstStyle/>
          <a:p>
            <a:pPr indent="0" lvl="0" marL="0" rtl="0" algn="l">
              <a:lnSpc>
                <a:spcPct val="83000"/>
              </a:lnSpc>
              <a:spcBef>
                <a:spcPts val="0"/>
              </a:spcBef>
              <a:spcAft>
                <a:spcPts val="0"/>
              </a:spcAft>
              <a:buSzPts val="275"/>
              <a:buNone/>
            </a:pPr>
            <a:r>
              <a:rPr lang="en" sz="1300">
                <a:solidFill>
                  <a:srgbClr val="0A0A0A"/>
                </a:solidFill>
                <a:latin typeface="Times New Roman"/>
                <a:ea typeface="Times New Roman"/>
                <a:cs typeface="Times New Roman"/>
                <a:sym typeface="Times New Roman"/>
              </a:rPr>
              <a:t>We </a:t>
            </a:r>
            <a:r>
              <a:rPr lang="en" sz="1300">
                <a:solidFill>
                  <a:srgbClr val="0A0A0A"/>
                </a:solidFill>
                <a:latin typeface="Times New Roman"/>
                <a:ea typeface="Times New Roman"/>
                <a:cs typeface="Times New Roman"/>
                <a:sym typeface="Times New Roman"/>
              </a:rPr>
              <a:t>would</a:t>
            </a:r>
            <a:r>
              <a:rPr lang="en" sz="1300">
                <a:solidFill>
                  <a:srgbClr val="0A0A0A"/>
                </a:solidFill>
                <a:latin typeface="Times New Roman"/>
                <a:ea typeface="Times New Roman"/>
                <a:cs typeface="Times New Roman"/>
                <a:sym typeface="Times New Roman"/>
              </a:rPr>
              <a:t> like to express our heartfelt gratitude to :</a:t>
            </a:r>
            <a:endParaRPr sz="1300">
              <a:solidFill>
                <a:srgbClr val="0A0A0A"/>
              </a:solidFill>
              <a:latin typeface="Times New Roman"/>
              <a:ea typeface="Times New Roman"/>
              <a:cs typeface="Times New Roman"/>
              <a:sym typeface="Times New Roman"/>
            </a:endParaRPr>
          </a:p>
          <a:p>
            <a:pPr indent="-311150" lvl="0" marL="457200" rtl="0" algn="l">
              <a:lnSpc>
                <a:spcPct val="83000"/>
              </a:lnSpc>
              <a:spcBef>
                <a:spcPts val="1200"/>
              </a:spcBef>
              <a:spcAft>
                <a:spcPts val="0"/>
              </a:spcAft>
              <a:buClr>
                <a:srgbClr val="0A0A0A"/>
              </a:buClr>
              <a:buSzPts val="1300"/>
              <a:buFont typeface="Times New Roman"/>
              <a:buChar char="-"/>
            </a:pPr>
            <a:r>
              <a:rPr b="1" lang="en" sz="1300">
                <a:solidFill>
                  <a:srgbClr val="0A0A0A"/>
                </a:solidFill>
                <a:latin typeface="Times New Roman"/>
                <a:ea typeface="Times New Roman"/>
                <a:cs typeface="Times New Roman"/>
                <a:sym typeface="Times New Roman"/>
              </a:rPr>
              <a:t>Infosys Springboard Team </a:t>
            </a:r>
            <a:r>
              <a:rPr lang="en" sz="1300">
                <a:solidFill>
                  <a:srgbClr val="0A0A0A"/>
                </a:solidFill>
                <a:latin typeface="Times New Roman"/>
                <a:ea typeface="Times New Roman"/>
                <a:cs typeface="Times New Roman"/>
                <a:sym typeface="Times New Roman"/>
              </a:rPr>
              <a:t>- for organizing this valuable internship </a:t>
            </a:r>
            <a:r>
              <a:rPr lang="en" sz="1300">
                <a:solidFill>
                  <a:srgbClr val="0A0A0A"/>
                </a:solidFill>
                <a:latin typeface="Times New Roman"/>
                <a:ea typeface="Times New Roman"/>
                <a:cs typeface="Times New Roman"/>
                <a:sym typeface="Times New Roman"/>
              </a:rPr>
              <a:t>opportunity</a:t>
            </a:r>
            <a:r>
              <a:rPr lang="en" sz="1300">
                <a:solidFill>
                  <a:srgbClr val="0A0A0A"/>
                </a:solidFill>
                <a:latin typeface="Times New Roman"/>
                <a:ea typeface="Times New Roman"/>
                <a:cs typeface="Times New Roman"/>
                <a:sym typeface="Times New Roman"/>
              </a:rPr>
              <a:t>.</a:t>
            </a:r>
            <a:endParaRPr sz="1300">
              <a:solidFill>
                <a:srgbClr val="0A0A0A"/>
              </a:solidFill>
              <a:latin typeface="Times New Roman"/>
              <a:ea typeface="Times New Roman"/>
              <a:cs typeface="Times New Roman"/>
              <a:sym typeface="Times New Roman"/>
            </a:endParaRPr>
          </a:p>
          <a:p>
            <a:pPr indent="-311150" lvl="0" marL="457200" rtl="0" algn="l">
              <a:lnSpc>
                <a:spcPct val="83000"/>
              </a:lnSpc>
              <a:spcBef>
                <a:spcPts val="0"/>
              </a:spcBef>
              <a:spcAft>
                <a:spcPts val="0"/>
              </a:spcAft>
              <a:buClr>
                <a:srgbClr val="0A0A0A"/>
              </a:buClr>
              <a:buSzPts val="1300"/>
              <a:buFont typeface="Times New Roman"/>
              <a:buChar char="-"/>
            </a:pPr>
            <a:r>
              <a:rPr b="1" lang="en" sz="1300">
                <a:solidFill>
                  <a:srgbClr val="0A0A0A"/>
                </a:solidFill>
                <a:latin typeface="Times New Roman"/>
                <a:ea typeface="Times New Roman"/>
                <a:cs typeface="Times New Roman"/>
                <a:sym typeface="Times New Roman"/>
              </a:rPr>
              <a:t>Our Mentor</a:t>
            </a:r>
            <a:r>
              <a:rPr lang="en" sz="1300">
                <a:solidFill>
                  <a:srgbClr val="0A0A0A"/>
                </a:solidFill>
                <a:latin typeface="Times New Roman"/>
                <a:ea typeface="Times New Roman"/>
                <a:cs typeface="Times New Roman"/>
                <a:sym typeface="Times New Roman"/>
              </a:rPr>
              <a:t> - for her continuous support and feedback.</a:t>
            </a:r>
            <a:endParaRPr sz="1300">
              <a:solidFill>
                <a:srgbClr val="0A0A0A"/>
              </a:solidFill>
              <a:latin typeface="Times New Roman"/>
              <a:ea typeface="Times New Roman"/>
              <a:cs typeface="Times New Roman"/>
              <a:sym typeface="Times New Roman"/>
            </a:endParaRPr>
          </a:p>
          <a:p>
            <a:pPr indent="-311150" lvl="0" marL="457200" rtl="0" algn="l">
              <a:lnSpc>
                <a:spcPct val="83000"/>
              </a:lnSpc>
              <a:spcBef>
                <a:spcPts val="0"/>
              </a:spcBef>
              <a:spcAft>
                <a:spcPts val="0"/>
              </a:spcAft>
              <a:buClr>
                <a:srgbClr val="0A0A0A"/>
              </a:buClr>
              <a:buSzPts val="1300"/>
              <a:buFont typeface="Times New Roman"/>
              <a:buChar char="-"/>
            </a:pPr>
            <a:r>
              <a:rPr b="1" lang="en" sz="1300">
                <a:solidFill>
                  <a:srgbClr val="0A0A0A"/>
                </a:solidFill>
                <a:latin typeface="Times New Roman"/>
                <a:ea typeface="Times New Roman"/>
                <a:cs typeface="Times New Roman"/>
                <a:sym typeface="Times New Roman"/>
              </a:rPr>
              <a:t>Our Teammates</a:t>
            </a:r>
            <a:r>
              <a:rPr lang="en" sz="1300">
                <a:solidFill>
                  <a:srgbClr val="0A0A0A"/>
                </a:solidFill>
                <a:latin typeface="Times New Roman"/>
                <a:ea typeface="Times New Roman"/>
                <a:cs typeface="Times New Roman"/>
                <a:sym typeface="Times New Roman"/>
              </a:rPr>
              <a:t> - for collaboration, encouragement, and insights</a:t>
            </a:r>
            <a:endParaRPr sz="1300">
              <a:solidFill>
                <a:srgbClr val="0A0A0A"/>
              </a:solidFill>
              <a:latin typeface="Times New Roman"/>
              <a:ea typeface="Times New Roman"/>
              <a:cs typeface="Times New Roman"/>
              <a:sym typeface="Times New Roman"/>
            </a:endParaRPr>
          </a:p>
          <a:p>
            <a:pPr indent="0" lvl="0" marL="0" rtl="0" algn="l">
              <a:lnSpc>
                <a:spcPct val="83000"/>
              </a:lnSpc>
              <a:spcBef>
                <a:spcPts val="1200"/>
              </a:spcBef>
              <a:spcAft>
                <a:spcPts val="0"/>
              </a:spcAft>
              <a:buSzPts val="275"/>
              <a:buNone/>
            </a:pPr>
            <a:r>
              <a:rPr lang="en" sz="1300">
                <a:solidFill>
                  <a:srgbClr val="0A0A0A"/>
                </a:solidFill>
                <a:latin typeface="Times New Roman"/>
                <a:ea typeface="Times New Roman"/>
                <a:cs typeface="Times New Roman"/>
                <a:sym typeface="Times New Roman"/>
              </a:rPr>
              <a:t>This </a:t>
            </a:r>
            <a:r>
              <a:rPr lang="en" sz="1300">
                <a:solidFill>
                  <a:srgbClr val="0A0A0A"/>
                </a:solidFill>
                <a:latin typeface="Times New Roman"/>
                <a:ea typeface="Times New Roman"/>
                <a:cs typeface="Times New Roman"/>
                <a:sym typeface="Times New Roman"/>
              </a:rPr>
              <a:t>internship</a:t>
            </a:r>
            <a:r>
              <a:rPr lang="en" sz="1300">
                <a:solidFill>
                  <a:srgbClr val="0A0A0A"/>
                </a:solidFill>
                <a:latin typeface="Times New Roman"/>
                <a:ea typeface="Times New Roman"/>
                <a:cs typeface="Times New Roman"/>
                <a:sym typeface="Times New Roman"/>
              </a:rPr>
              <a:t> has been a significant step in our professional growth and technical journey and we are grateful to be a part of this great learning experience.</a:t>
            </a:r>
            <a:endParaRPr sz="1300">
              <a:solidFill>
                <a:srgbClr val="0A0A0A"/>
              </a:solidFill>
              <a:latin typeface="Times New Roman"/>
              <a:ea typeface="Times New Roman"/>
              <a:cs typeface="Times New Roman"/>
              <a:sym typeface="Times New Roman"/>
            </a:endParaRPr>
          </a:p>
          <a:p>
            <a:pPr indent="0" lvl="0" marL="0" rtl="0" algn="l">
              <a:lnSpc>
                <a:spcPct val="83000"/>
              </a:lnSpc>
              <a:spcBef>
                <a:spcPts val="1200"/>
              </a:spcBef>
              <a:spcAft>
                <a:spcPts val="0"/>
              </a:spcAft>
              <a:buSzPts val="275"/>
              <a:buNone/>
            </a:pPr>
            <a:r>
              <a:t/>
            </a:r>
            <a:endParaRPr sz="1300"/>
          </a:p>
          <a:p>
            <a:pPr indent="0" lvl="0" marL="0" rtl="0" algn="l">
              <a:lnSpc>
                <a:spcPct val="80000"/>
              </a:lnSpc>
              <a:spcBef>
                <a:spcPts val="0"/>
              </a:spcBef>
              <a:spcAft>
                <a:spcPts val="0"/>
              </a:spcAft>
              <a:buSzPts val="275"/>
              <a:buNone/>
            </a:pPr>
            <a:r>
              <a:t/>
            </a:r>
            <a:endParaRPr sz="1300">
              <a:solidFill>
                <a:schemeClr val="dk1"/>
              </a:solidFill>
            </a:endParaRPr>
          </a:p>
          <a:p>
            <a:pPr indent="0" lvl="0" marL="0" rtl="0" algn="l">
              <a:lnSpc>
                <a:spcPct val="83000"/>
              </a:lnSpc>
              <a:spcBef>
                <a:spcPts val="0"/>
              </a:spcBef>
              <a:spcAft>
                <a:spcPts val="0"/>
              </a:spcAft>
              <a:buSzPts val="275"/>
              <a:buNone/>
            </a:pPr>
            <a:r>
              <a:t/>
            </a:r>
            <a:endParaRPr sz="1300"/>
          </a:p>
          <a:p>
            <a:pPr indent="0" lvl="0" marL="0" rtl="0" algn="l">
              <a:lnSpc>
                <a:spcPct val="80000"/>
              </a:lnSpc>
              <a:spcBef>
                <a:spcPts val="1200"/>
              </a:spcBef>
              <a:spcAft>
                <a:spcPts val="1200"/>
              </a:spcAft>
              <a:buSzPts val="275"/>
              <a:buNone/>
            </a:pPr>
            <a:r>
              <a:t/>
            </a:r>
            <a:endParaRPr sz="1300"/>
          </a:p>
        </p:txBody>
      </p:sp>
      <p:sp>
        <p:nvSpPr>
          <p:cNvPr id="230" name="Google Shape;230;p24"/>
          <p:cNvSpPr txBox="1"/>
          <p:nvPr>
            <p:ph type="title"/>
          </p:nvPr>
        </p:nvSpPr>
        <p:spPr>
          <a:xfrm>
            <a:off x="369625" y="2320350"/>
            <a:ext cx="8520600" cy="502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References  </a:t>
            </a:r>
            <a:endParaRPr b="1">
              <a:latin typeface="Times New Roman"/>
              <a:ea typeface="Times New Roman"/>
              <a:cs typeface="Times New Roman"/>
              <a:sym typeface="Times New Roman"/>
            </a:endParaRPr>
          </a:p>
        </p:txBody>
      </p:sp>
      <p:sp>
        <p:nvSpPr>
          <p:cNvPr id="231" name="Google Shape;231;p24"/>
          <p:cNvSpPr txBox="1"/>
          <p:nvPr>
            <p:ph idx="1" type="body"/>
          </p:nvPr>
        </p:nvSpPr>
        <p:spPr>
          <a:xfrm>
            <a:off x="369625" y="2947125"/>
            <a:ext cx="7446900" cy="1704300"/>
          </a:xfrm>
          <a:prstGeom prst="rect">
            <a:avLst/>
          </a:prstGeom>
        </p:spPr>
        <p:txBody>
          <a:bodyPr anchorCtr="0" anchor="t" bIns="91425" lIns="91425" spcFirstLastPara="1" rIns="91425" wrap="square" tIns="91425">
            <a:noAutofit/>
          </a:bodyPr>
          <a:lstStyle/>
          <a:p>
            <a:pPr indent="-311150" lvl="0" marL="457200" rtl="0" algn="l">
              <a:lnSpc>
                <a:spcPct val="103000"/>
              </a:lnSpc>
              <a:spcBef>
                <a:spcPts val="0"/>
              </a:spcBef>
              <a:spcAft>
                <a:spcPts val="0"/>
              </a:spcAft>
              <a:buClr>
                <a:srgbClr val="0A0A0A"/>
              </a:buClr>
              <a:buSzPts val="1300"/>
              <a:buFont typeface="Times New Roman"/>
              <a:buChar char="-"/>
            </a:pPr>
            <a:r>
              <a:rPr lang="en" sz="1300">
                <a:solidFill>
                  <a:srgbClr val="0A0A0A"/>
                </a:solidFill>
                <a:latin typeface="Times New Roman"/>
                <a:ea typeface="Times New Roman"/>
                <a:cs typeface="Times New Roman"/>
                <a:sym typeface="Times New Roman"/>
              </a:rPr>
              <a:t>Election Dataset(Indian Election Dataset/ Kaggle source) </a:t>
            </a:r>
            <a:endParaRPr sz="1300">
              <a:solidFill>
                <a:srgbClr val="0A0A0A"/>
              </a:solidFill>
              <a:latin typeface="Times New Roman"/>
              <a:ea typeface="Times New Roman"/>
              <a:cs typeface="Times New Roman"/>
              <a:sym typeface="Times New Roman"/>
            </a:endParaRPr>
          </a:p>
          <a:p>
            <a:pPr indent="0" lvl="0" marL="457200" rtl="0" algn="l">
              <a:lnSpc>
                <a:spcPct val="103000"/>
              </a:lnSpc>
              <a:spcBef>
                <a:spcPts val="1200"/>
              </a:spcBef>
              <a:spcAft>
                <a:spcPts val="0"/>
              </a:spcAft>
              <a:buNone/>
            </a:pPr>
            <a:r>
              <a:rPr lang="en" sz="1300">
                <a:solidFill>
                  <a:srgbClr val="000000"/>
                </a:solidFill>
                <a:latin typeface="Times New Roman"/>
                <a:ea typeface="Times New Roman"/>
                <a:cs typeface="Times New Roman"/>
                <a:sym typeface="Times New Roman"/>
              </a:rPr>
              <a:t> “Indian Election Dataset” by Nanadan Pandey           </a:t>
            </a:r>
            <a:r>
              <a:rPr lang="en" sz="1300" u="sng">
                <a:solidFill>
                  <a:srgbClr val="0000FF"/>
                </a:solidFill>
                <a:latin typeface="Times New Roman"/>
                <a:ea typeface="Times New Roman"/>
                <a:cs typeface="Times New Roman"/>
                <a:sym typeface="Times New Roman"/>
                <a:hlinkClick r:id="rId3">
                  <a:extLst>
                    <a:ext uri="{A12FA001-AC4F-418D-AE19-62706E023703}">
                      <ahyp:hlinkClr val="tx"/>
                    </a:ext>
                  </a:extLst>
                </a:hlinkClick>
              </a:rPr>
              <a:t>https://www.kaggle.com/datasets/awadhi123/indian-election-dataset</a:t>
            </a:r>
            <a:endParaRPr sz="1300">
              <a:solidFill>
                <a:srgbClr val="000000"/>
              </a:solidFill>
              <a:latin typeface="Times New Roman"/>
              <a:ea typeface="Times New Roman"/>
              <a:cs typeface="Times New Roman"/>
              <a:sym typeface="Times New Roman"/>
            </a:endParaRPr>
          </a:p>
          <a:p>
            <a:pPr indent="-311150" lvl="0" marL="457200" rtl="0" algn="l">
              <a:lnSpc>
                <a:spcPct val="103000"/>
              </a:lnSpc>
              <a:spcBef>
                <a:spcPts val="1200"/>
              </a:spcBef>
              <a:spcAft>
                <a:spcPts val="0"/>
              </a:spcAft>
              <a:buClr>
                <a:srgbClr val="0A0A0A"/>
              </a:buClr>
              <a:buSzPts val="1300"/>
              <a:buFont typeface="Times New Roman"/>
              <a:buChar char="-"/>
            </a:pPr>
            <a:r>
              <a:rPr lang="en" sz="1300">
                <a:solidFill>
                  <a:srgbClr val="000000"/>
                </a:solidFill>
                <a:latin typeface="Times New Roman"/>
                <a:ea typeface="Times New Roman"/>
                <a:cs typeface="Times New Roman"/>
                <a:sym typeface="Times New Roman"/>
              </a:rPr>
              <a:t> </a:t>
            </a:r>
            <a:r>
              <a:rPr lang="en" sz="1300">
                <a:solidFill>
                  <a:srgbClr val="0A0A0A"/>
                </a:solidFill>
                <a:latin typeface="Times New Roman"/>
                <a:ea typeface="Times New Roman"/>
                <a:cs typeface="Times New Roman"/>
                <a:sym typeface="Times New Roman"/>
              </a:rPr>
              <a:t>Microsoft Power BI Documentation</a:t>
            </a:r>
            <a:endParaRPr sz="1300">
              <a:solidFill>
                <a:srgbClr val="0A0A0A"/>
              </a:solidFill>
              <a:latin typeface="Times New Roman"/>
              <a:ea typeface="Times New Roman"/>
              <a:cs typeface="Times New Roman"/>
              <a:sym typeface="Times New Roman"/>
            </a:endParaRPr>
          </a:p>
          <a:p>
            <a:pPr indent="-311150" lvl="0" marL="457200" rtl="0" algn="l">
              <a:lnSpc>
                <a:spcPct val="103000"/>
              </a:lnSpc>
              <a:spcBef>
                <a:spcPts val="0"/>
              </a:spcBef>
              <a:spcAft>
                <a:spcPts val="0"/>
              </a:spcAft>
              <a:buClr>
                <a:srgbClr val="0A0A0A"/>
              </a:buClr>
              <a:buSzPts val="1300"/>
              <a:buFont typeface="Times New Roman"/>
              <a:buChar char="-"/>
            </a:pPr>
            <a:r>
              <a:rPr lang="en" sz="1300">
                <a:solidFill>
                  <a:srgbClr val="0A0A0A"/>
                </a:solidFill>
                <a:latin typeface="Times New Roman"/>
                <a:ea typeface="Times New Roman"/>
                <a:cs typeface="Times New Roman"/>
                <a:sym typeface="Times New Roman"/>
              </a:rPr>
              <a:t>Infosys Springboard Virtual Internship course materials</a:t>
            </a:r>
            <a:endParaRPr sz="1300">
              <a:solidFill>
                <a:srgbClr val="0A0A0A"/>
              </a:solidFill>
              <a:latin typeface="Times New Roman"/>
              <a:ea typeface="Times New Roman"/>
              <a:cs typeface="Times New Roman"/>
              <a:sym typeface="Times New Roman"/>
            </a:endParaRPr>
          </a:p>
          <a:p>
            <a:pPr indent="0" lvl="0" marL="457200" rtl="0" algn="l">
              <a:lnSpc>
                <a:spcPct val="100000"/>
              </a:lnSpc>
              <a:spcBef>
                <a:spcPts val="1200"/>
              </a:spcBef>
              <a:spcAft>
                <a:spcPts val="1200"/>
              </a:spcAft>
              <a:buNone/>
            </a:pPr>
            <a:r>
              <a:t/>
            </a:r>
            <a:endParaRPr sz="13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5"/>
          <p:cNvSpPr txBox="1"/>
          <p:nvPr>
            <p:ph type="title"/>
          </p:nvPr>
        </p:nvSpPr>
        <p:spPr>
          <a:xfrm>
            <a:off x="2059225" y="1131450"/>
            <a:ext cx="4645200" cy="1977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b="1" lang="en" sz="5600">
                <a:latin typeface="Times New Roman"/>
                <a:ea typeface="Times New Roman"/>
                <a:cs typeface="Times New Roman"/>
                <a:sym typeface="Times New Roman"/>
              </a:rPr>
              <a:t>Thankyou!</a:t>
            </a:r>
            <a:endParaRPr b="1" sz="5600">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2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Milestones</a:t>
            </a:r>
            <a:endParaRPr b="1">
              <a:latin typeface="Times New Roman"/>
              <a:ea typeface="Times New Roman"/>
              <a:cs typeface="Times New Roman"/>
              <a:sym typeface="Times New Roman"/>
            </a:endParaRPr>
          </a:p>
        </p:txBody>
      </p:sp>
      <p:sp>
        <p:nvSpPr>
          <p:cNvPr id="242" name="Google Shape;242;p26"/>
          <p:cNvSpPr txBox="1"/>
          <p:nvPr>
            <p:ph idx="1" type="body"/>
          </p:nvPr>
        </p:nvSpPr>
        <p:spPr>
          <a:xfrm>
            <a:off x="186900" y="1229875"/>
            <a:ext cx="8799300" cy="3539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latin typeface="Times New Roman"/>
                <a:ea typeface="Times New Roman"/>
                <a:cs typeface="Times New Roman"/>
                <a:sym typeface="Times New Roman"/>
              </a:rPr>
              <a:t>This project is developed using 4 milestones:</a:t>
            </a:r>
            <a:endParaRPr>
              <a:latin typeface="Times New Roman"/>
              <a:ea typeface="Times New Roman"/>
              <a:cs typeface="Times New Roman"/>
              <a:sym typeface="Times New Roman"/>
            </a:endParaRPr>
          </a:p>
          <a:p>
            <a:pPr indent="0" lvl="0" marL="0" rtl="0" algn="l">
              <a:spcBef>
                <a:spcPts val="1200"/>
              </a:spcBef>
              <a:spcAft>
                <a:spcPts val="0"/>
              </a:spcAft>
              <a:buNone/>
            </a:pPr>
            <a:r>
              <a:rPr b="1" lang="en">
                <a:latin typeface="Times New Roman"/>
                <a:ea typeface="Times New Roman"/>
                <a:cs typeface="Times New Roman"/>
                <a:sym typeface="Times New Roman"/>
              </a:rPr>
              <a:t>Milestone 1:</a:t>
            </a:r>
            <a:r>
              <a:rPr lang="en">
                <a:latin typeface="Times New Roman"/>
                <a:ea typeface="Times New Roman"/>
                <a:cs typeface="Times New Roman"/>
                <a:sym typeface="Times New Roman"/>
              </a:rPr>
              <a:t> Team works in Data Collection and Preprocessing .</a:t>
            </a:r>
            <a:endParaRPr>
              <a:latin typeface="Times New Roman"/>
              <a:ea typeface="Times New Roman"/>
              <a:cs typeface="Times New Roman"/>
              <a:sym typeface="Times New Roman"/>
            </a:endParaRPr>
          </a:p>
          <a:p>
            <a:pPr indent="0" lvl="0" marL="0" rtl="0" algn="l">
              <a:spcBef>
                <a:spcPts val="1200"/>
              </a:spcBef>
              <a:spcAft>
                <a:spcPts val="0"/>
              </a:spcAft>
              <a:buNone/>
            </a:pPr>
            <a:r>
              <a:rPr b="1" lang="en">
                <a:latin typeface="Times New Roman"/>
                <a:ea typeface="Times New Roman"/>
                <a:cs typeface="Times New Roman"/>
                <a:sym typeface="Times New Roman"/>
              </a:rPr>
              <a:t>Milestone 2 :</a:t>
            </a:r>
            <a:r>
              <a:rPr lang="en">
                <a:latin typeface="Times New Roman"/>
                <a:ea typeface="Times New Roman"/>
                <a:cs typeface="Times New Roman"/>
                <a:sym typeface="Times New Roman"/>
              </a:rPr>
              <a:t>Dashboard creation started , three dashboard are created i.e., election overview , party performance analysis and distribution of parliamentary constituency type.</a:t>
            </a:r>
            <a:endParaRPr>
              <a:latin typeface="Times New Roman"/>
              <a:ea typeface="Times New Roman"/>
              <a:cs typeface="Times New Roman"/>
              <a:sym typeface="Times New Roman"/>
            </a:endParaRPr>
          </a:p>
          <a:p>
            <a:pPr indent="0" lvl="0" marL="0" rtl="0" algn="l">
              <a:spcBef>
                <a:spcPts val="1200"/>
              </a:spcBef>
              <a:spcAft>
                <a:spcPts val="0"/>
              </a:spcAft>
              <a:buNone/>
            </a:pPr>
            <a:r>
              <a:rPr b="1" lang="en">
                <a:latin typeface="Times New Roman"/>
                <a:ea typeface="Times New Roman"/>
                <a:cs typeface="Times New Roman"/>
                <a:sym typeface="Times New Roman"/>
              </a:rPr>
              <a:t>Milestone 3</a:t>
            </a:r>
            <a:r>
              <a:rPr lang="en">
                <a:latin typeface="Times New Roman"/>
                <a:ea typeface="Times New Roman"/>
                <a:cs typeface="Times New Roman"/>
                <a:sym typeface="Times New Roman"/>
              </a:rPr>
              <a:t>:Two Dashboard are created on </a:t>
            </a:r>
            <a:r>
              <a:rPr lang="en">
                <a:latin typeface="Times New Roman"/>
                <a:ea typeface="Times New Roman"/>
                <a:cs typeface="Times New Roman"/>
                <a:sym typeface="Times New Roman"/>
              </a:rPr>
              <a:t>year wise analysis and state wise analysis.</a:t>
            </a:r>
            <a:endParaRPr>
              <a:latin typeface="Times New Roman"/>
              <a:ea typeface="Times New Roman"/>
              <a:cs typeface="Times New Roman"/>
              <a:sym typeface="Times New Roman"/>
            </a:endParaRPr>
          </a:p>
          <a:p>
            <a:pPr indent="0" lvl="0" marL="0" rtl="0" algn="l">
              <a:spcBef>
                <a:spcPts val="1200"/>
              </a:spcBef>
              <a:spcAft>
                <a:spcPts val="1200"/>
              </a:spcAft>
              <a:buNone/>
            </a:pPr>
            <a:r>
              <a:rPr b="1" lang="en">
                <a:latin typeface="Times New Roman"/>
                <a:ea typeface="Times New Roman"/>
                <a:cs typeface="Times New Roman"/>
                <a:sym typeface="Times New Roman"/>
              </a:rPr>
              <a:t>Milestone 4:</a:t>
            </a:r>
            <a:r>
              <a:rPr lang="en">
                <a:latin typeface="Times New Roman"/>
                <a:ea typeface="Times New Roman"/>
                <a:cs typeface="Times New Roman"/>
                <a:sym typeface="Times New Roman"/>
              </a:rPr>
              <a:t>Three Dashboard are created on gender wise analysis ,candidate performance analysis,and electoral competitiveness</a:t>
            </a:r>
            <a:endParaRPr>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27"/>
          <p:cNvSpPr/>
          <p:nvPr/>
        </p:nvSpPr>
        <p:spPr>
          <a:xfrm>
            <a:off x="6169150" y="869625"/>
            <a:ext cx="2078400" cy="504300"/>
          </a:xfrm>
          <a:prstGeom prst="rect">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48" name="Google Shape;248;p27"/>
          <p:cNvSpPr/>
          <p:nvPr/>
        </p:nvSpPr>
        <p:spPr>
          <a:xfrm>
            <a:off x="6141250" y="1622550"/>
            <a:ext cx="2134200" cy="560700"/>
          </a:xfrm>
          <a:prstGeom prst="rect">
            <a:avLst/>
          </a:prstGeom>
          <a:solidFill>
            <a:srgbClr val="701C7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49" name="Google Shape;249;p27"/>
          <p:cNvSpPr/>
          <p:nvPr/>
        </p:nvSpPr>
        <p:spPr>
          <a:xfrm>
            <a:off x="5874000" y="2278950"/>
            <a:ext cx="2134200" cy="585600"/>
          </a:xfrm>
          <a:prstGeom prst="rect">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50" name="Google Shape;250;p27"/>
          <p:cNvSpPr/>
          <p:nvPr/>
        </p:nvSpPr>
        <p:spPr>
          <a:xfrm>
            <a:off x="5764550" y="3144925"/>
            <a:ext cx="2171400" cy="504300"/>
          </a:xfrm>
          <a:prstGeom prst="rect">
            <a:avLst/>
          </a:prstGeom>
          <a:solidFill>
            <a:srgbClr val="701C7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51" name="Google Shape;251;p27"/>
          <p:cNvSpPr/>
          <p:nvPr/>
        </p:nvSpPr>
        <p:spPr>
          <a:xfrm>
            <a:off x="5231050" y="3988975"/>
            <a:ext cx="2216400" cy="560700"/>
          </a:xfrm>
          <a:prstGeom prst="rect">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52" name="Google Shape;252;p27"/>
          <p:cNvSpPr/>
          <p:nvPr/>
        </p:nvSpPr>
        <p:spPr>
          <a:xfrm>
            <a:off x="2113325" y="1223675"/>
            <a:ext cx="254100" cy="322200"/>
          </a:xfrm>
          <a:prstGeom prst="downArrow">
            <a:avLst>
              <a:gd fmla="val 50000" name="adj1"/>
              <a:gd fmla="val 50000" name="adj2"/>
            </a:avLst>
          </a:prstGeom>
          <a:solidFill>
            <a:srgbClr val="F4B400"/>
          </a:solidFill>
          <a:ln cap="flat" cmpd="sng" w="9525">
            <a:solidFill>
              <a:srgbClr val="F4B4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53" name="Google Shape;253;p27"/>
          <p:cNvSpPr/>
          <p:nvPr/>
        </p:nvSpPr>
        <p:spPr>
          <a:xfrm>
            <a:off x="4317900" y="2161038"/>
            <a:ext cx="254100" cy="322200"/>
          </a:xfrm>
          <a:prstGeom prst="downArrow">
            <a:avLst>
              <a:gd fmla="val 50000" name="adj1"/>
              <a:gd fmla="val 50000" name="adj2"/>
            </a:avLst>
          </a:prstGeom>
          <a:solidFill>
            <a:srgbClr val="F4B400"/>
          </a:solidFill>
          <a:ln cap="flat" cmpd="sng" w="9525">
            <a:solidFill>
              <a:srgbClr val="F4B4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54" name="Google Shape;254;p27"/>
          <p:cNvSpPr/>
          <p:nvPr/>
        </p:nvSpPr>
        <p:spPr>
          <a:xfrm>
            <a:off x="4312025" y="3043663"/>
            <a:ext cx="254100" cy="322200"/>
          </a:xfrm>
          <a:prstGeom prst="downArrow">
            <a:avLst>
              <a:gd fmla="val 50000" name="adj1"/>
              <a:gd fmla="val 50000" name="adj2"/>
            </a:avLst>
          </a:prstGeom>
          <a:solidFill>
            <a:srgbClr val="F4B400"/>
          </a:solidFill>
          <a:ln cap="flat" cmpd="sng" w="9525">
            <a:solidFill>
              <a:srgbClr val="F4B4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55" name="Google Shape;255;p27"/>
          <p:cNvSpPr/>
          <p:nvPr/>
        </p:nvSpPr>
        <p:spPr>
          <a:xfrm>
            <a:off x="4312025" y="3851450"/>
            <a:ext cx="254100" cy="322200"/>
          </a:xfrm>
          <a:prstGeom prst="downArrow">
            <a:avLst>
              <a:gd fmla="val 50000" name="adj1"/>
              <a:gd fmla="val 50000" name="adj2"/>
            </a:avLst>
          </a:prstGeom>
          <a:solidFill>
            <a:srgbClr val="F4B400"/>
          </a:solidFill>
          <a:ln cap="flat" cmpd="sng" w="9525">
            <a:solidFill>
              <a:srgbClr val="F4B4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256" name="Google Shape;256;p27"/>
          <p:cNvSpPr/>
          <p:nvPr/>
        </p:nvSpPr>
        <p:spPr>
          <a:xfrm>
            <a:off x="1204650" y="566975"/>
            <a:ext cx="1265400" cy="656700"/>
          </a:xfrm>
          <a:prstGeom prst="roundRect">
            <a:avLst>
              <a:gd fmla="val 16667" name="adj"/>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
        <p:nvSpPr>
          <p:cNvPr id="257" name="Google Shape;257;p27"/>
          <p:cNvSpPr/>
          <p:nvPr/>
        </p:nvSpPr>
        <p:spPr>
          <a:xfrm>
            <a:off x="1896550" y="1450125"/>
            <a:ext cx="1265400" cy="656700"/>
          </a:xfrm>
          <a:prstGeom prst="roundRect">
            <a:avLst>
              <a:gd fmla="val 16667" name="adj"/>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
        <p:nvSpPr>
          <p:cNvPr id="258" name="Google Shape;258;p27"/>
          <p:cNvSpPr/>
          <p:nvPr/>
        </p:nvSpPr>
        <p:spPr>
          <a:xfrm>
            <a:off x="2106300" y="1574550"/>
            <a:ext cx="1265400" cy="656700"/>
          </a:xfrm>
          <a:prstGeom prst="roundRect">
            <a:avLst>
              <a:gd fmla="val 16667" name="adj"/>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
        <p:nvSpPr>
          <p:cNvPr id="259" name="Google Shape;259;p27"/>
          <p:cNvSpPr/>
          <p:nvPr/>
        </p:nvSpPr>
        <p:spPr>
          <a:xfrm>
            <a:off x="2256075" y="1873050"/>
            <a:ext cx="1265400" cy="656700"/>
          </a:xfrm>
          <a:prstGeom prst="roundRect">
            <a:avLst>
              <a:gd fmla="val 16667" name="adj"/>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
        <p:nvSpPr>
          <p:cNvPr id="260" name="Google Shape;260;p27"/>
          <p:cNvSpPr/>
          <p:nvPr/>
        </p:nvSpPr>
        <p:spPr>
          <a:xfrm>
            <a:off x="2367425" y="2183250"/>
            <a:ext cx="1265400" cy="656700"/>
          </a:xfrm>
          <a:prstGeom prst="roundRect">
            <a:avLst>
              <a:gd fmla="val 16667" name="adj"/>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
        <p:nvSpPr>
          <p:cNvPr id="261" name="Google Shape;261;p27"/>
          <p:cNvSpPr/>
          <p:nvPr/>
        </p:nvSpPr>
        <p:spPr>
          <a:xfrm>
            <a:off x="2547175" y="2560900"/>
            <a:ext cx="1265400" cy="656700"/>
          </a:xfrm>
          <a:prstGeom prst="roundRect">
            <a:avLst>
              <a:gd fmla="val 16667" name="adj"/>
            </a:avLst>
          </a:prstGeom>
          <a:solidFill>
            <a:srgbClr val="842F9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