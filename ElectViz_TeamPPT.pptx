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5143500" cx="9144000"/>
  <p:notesSz cx="6858000" cy="9144000"/>
  <p:embeddedFontLst>
    <p:embeddedFont>
      <p:font typeface="Roboto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CB63D9F-CFB3-42ED-8EE2-2041360BAB3A}">
  <a:tblStyle styleId="{5CB63D9F-CFB3-42ED-8EE2-2041360BAB3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regular.fntdata"/><Relationship Id="rId11" Type="http://schemas.openxmlformats.org/officeDocument/2006/relationships/slide" Target="slides/slide5.xml"/><Relationship Id="rId22" Type="http://schemas.openxmlformats.org/officeDocument/2006/relationships/font" Target="fonts/Roboto-italic.fntdata"/><Relationship Id="rId10" Type="http://schemas.openxmlformats.org/officeDocument/2006/relationships/slide" Target="slides/slide4.xml"/><Relationship Id="rId21" Type="http://schemas.openxmlformats.org/officeDocument/2006/relationships/font" Target="fonts/Roboto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23" Type="http://schemas.openxmlformats.org/officeDocument/2006/relationships/font" Target="fonts/Roboto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c8ab441a6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bc8ab441a6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bda4e5dd89_0_7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bda4e5dd89_0_7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bc8ab441a6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bc8ab441a6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c6ad67ade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c6ad67ade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bd9592cb7e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bd9592cb7e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d9592cb7e_0_8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bd9592cb7e_0_8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bd9592cb7e_1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bd9592cb7e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bc8ab441a6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bc8ab441a6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bd617c27d4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bd617c27d4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bc8ab441a6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bc8ab441a6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bc8ab441a6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bc8ab441a6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bc8ab441a6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bc8ab441a6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p11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kaggle.com/datasets/awadhi123/indian-election-dataset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ctrTitle"/>
          </p:nvPr>
        </p:nvSpPr>
        <p:spPr>
          <a:xfrm>
            <a:off x="598100" y="206700"/>
            <a:ext cx="8087400" cy="190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Infosys SpringBoard Virtual Internship - ElectViz Election data Visualization for Media</a:t>
            </a:r>
            <a:endParaRPr/>
          </a:p>
        </p:txBody>
      </p:sp>
      <p:sp>
        <p:nvSpPr>
          <p:cNvPr id="86" name="Google Shape;86;p13"/>
          <p:cNvSpPr txBox="1"/>
          <p:nvPr>
            <p:ph idx="1" type="subTitle"/>
          </p:nvPr>
        </p:nvSpPr>
        <p:spPr>
          <a:xfrm>
            <a:off x="598100" y="2571750"/>
            <a:ext cx="8222100" cy="25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                                                                         Under the supervision of 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                                                                                    Mrs.Nithyasri S J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                                                                          Interns :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                                                                         Arya Mishra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                                                                         Kritika Balpande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                                                                          Radha sri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4"/>
          <p:cNvSpPr txBox="1"/>
          <p:nvPr>
            <p:ph idx="1" type="body"/>
          </p:nvPr>
        </p:nvSpPr>
        <p:spPr>
          <a:xfrm>
            <a:off x="311700" y="938300"/>
            <a:ext cx="8520600" cy="385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●"/>
            </a:pPr>
            <a:r>
              <a:rPr lang="en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Electviz is data visualization project developed using power BI . </a:t>
            </a:r>
            <a:endParaRPr sz="16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●"/>
            </a:pPr>
            <a:r>
              <a:rPr lang="en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Electviz</a:t>
            </a:r>
            <a:r>
              <a:rPr lang="en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transform large scale election data into interactive and informative dashboard that present clear analysis and insights from raw election data in an engaging manner , thereby improving clarity, transparency, and understanding.</a:t>
            </a:r>
            <a:endParaRPr sz="16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●"/>
            </a:pPr>
            <a:r>
              <a:rPr lang="en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problem addressed by the ElectViz project is the absence of an interactive and visual analytical system that can simplify complex election datasets while maintaining accuracy and depth of analysis. </a:t>
            </a:r>
            <a:endParaRPr sz="1600">
              <a:solidFill>
                <a:srgbClr val="0A0A0A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imes New Roman"/>
              <a:buChar char="●"/>
            </a:pPr>
            <a:r>
              <a:rPr lang="en" sz="1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 leveraging Power BI’s visualization and interactivity features, the project enables users to explore election data efficiently, supporting transparent, fact-based interpretation and enhanced political reporting.</a:t>
            </a:r>
            <a:endParaRPr sz="16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0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97" name="Google Shape;97;p15"/>
          <p:cNvPicPr preferRelativeResize="0"/>
          <p:nvPr/>
        </p:nvPicPr>
        <p:blipFill rotWithShape="1">
          <a:blip r:embed="rId3">
            <a:alphaModFix/>
          </a:blip>
          <a:srcRect b="0" l="0" r="0" t="18032"/>
          <a:stretch/>
        </p:blipFill>
        <p:spPr>
          <a:xfrm>
            <a:off x="-35700" y="927425"/>
            <a:ext cx="9210675" cy="421607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 txBox="1"/>
          <p:nvPr>
            <p:ph idx="4294967295" type="title"/>
          </p:nvPr>
        </p:nvSpPr>
        <p:spPr>
          <a:xfrm>
            <a:off x="230600" y="213075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Milestones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186900" y="1229875"/>
            <a:ext cx="8799300" cy="353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This project is developed using 4 milestones: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Milestone 1:</a:t>
            </a: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 Team works in Data Collection and Preprocessing 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Milestone 2 :</a:t>
            </a: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Dashboard creation started , three dashboard are created i.e., election overview , party performance analysis and distribution of parliamentary constituency type.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Milestone 3</a:t>
            </a: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:Two Dashboard are created on </a:t>
            </a: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year wise analysis and state wise analysis.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Milestone 4:</a:t>
            </a:r>
            <a:r>
              <a:rPr lang="en">
                <a:latin typeface="Times New Roman"/>
                <a:ea typeface="Times New Roman"/>
                <a:cs typeface="Times New Roman"/>
                <a:sym typeface="Times New Roman"/>
              </a:rPr>
              <a:t>Three Dashboard are created on gender wise analysis ,candidate performance analysis,and electoral competitiveness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17"/>
          <p:cNvGrpSpPr/>
          <p:nvPr/>
        </p:nvGrpSpPr>
        <p:grpSpPr>
          <a:xfrm flipH="1">
            <a:off x="5543897" y="2571755"/>
            <a:ext cx="3158557" cy="1047300"/>
            <a:chOff x="722970" y="1727625"/>
            <a:chExt cx="3158557" cy="1047300"/>
          </a:xfrm>
        </p:grpSpPr>
        <p:sp>
          <p:nvSpPr>
            <p:cNvPr id="110" name="Google Shape;110;p17"/>
            <p:cNvSpPr txBox="1"/>
            <p:nvPr/>
          </p:nvSpPr>
          <p:spPr>
            <a:xfrm>
              <a:off x="722970" y="1727625"/>
              <a:ext cx="2077200" cy="104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latin typeface="Times New Roman"/>
                  <a:ea typeface="Times New Roman"/>
                  <a:cs typeface="Times New Roman"/>
                  <a:sym typeface="Times New Roman"/>
                </a:rPr>
                <a:t>Milestone 3</a:t>
              </a:r>
              <a:endParaRPr b="1" sz="1200"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200"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0" lvl="0" marL="0" rtl="0" algn="just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900">
                  <a:latin typeface="Times New Roman"/>
                  <a:ea typeface="Times New Roman"/>
                  <a:cs typeface="Times New Roman"/>
                  <a:sym typeface="Times New Roman"/>
                </a:rPr>
                <a:t>After analysing party performance and distribution of parliamentary constituency . The two more dashboard i.e. Year wise analysis and state level analysis added .</a:t>
              </a:r>
              <a:endParaRPr sz="900"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cxnSp>
          <p:nvCxnSpPr>
            <p:cNvPr id="111" name="Google Shape;111;p17"/>
            <p:cNvCxnSpPr>
              <a:endCxn id="112" idx="3"/>
            </p:cNvCxnSpPr>
            <p:nvPr/>
          </p:nvCxnSpPr>
          <p:spPr>
            <a:xfrm rot="10800000">
              <a:off x="3243427" y="1923959"/>
              <a:ext cx="638100" cy="0"/>
            </a:xfrm>
            <a:prstGeom prst="straightConnector1">
              <a:avLst/>
            </a:prstGeom>
            <a:noFill/>
            <a:ln cap="flat" cmpd="sng" w="9525">
              <a:solidFill>
                <a:srgbClr val="C2C2C2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3" name="Google Shape;113;p17"/>
            <p:cNvSpPr/>
            <p:nvPr/>
          </p:nvSpPr>
          <p:spPr>
            <a:xfrm>
              <a:off x="3020371" y="1824826"/>
              <a:ext cx="198600" cy="198300"/>
            </a:xfrm>
            <a:prstGeom prst="ellipse">
              <a:avLst/>
            </a:prstGeom>
            <a:solidFill>
              <a:srgbClr val="80209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7"/>
            <p:cNvSpPr txBox="1"/>
            <p:nvPr/>
          </p:nvSpPr>
          <p:spPr>
            <a:xfrm>
              <a:off x="2995927" y="1767509"/>
              <a:ext cx="247500" cy="31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8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3</a:t>
              </a:r>
              <a:endParaRPr>
                <a:solidFill>
                  <a:srgbClr val="FFFFFF"/>
                </a:solidFill>
              </a:endParaRPr>
            </a:p>
          </p:txBody>
        </p:sp>
      </p:grpSp>
      <p:grpSp>
        <p:nvGrpSpPr>
          <p:cNvPr id="114" name="Google Shape;114;p17"/>
          <p:cNvGrpSpPr/>
          <p:nvPr/>
        </p:nvGrpSpPr>
        <p:grpSpPr>
          <a:xfrm>
            <a:off x="306525" y="2668950"/>
            <a:ext cx="3548729" cy="1282800"/>
            <a:chOff x="628505" y="1448770"/>
            <a:chExt cx="3548729" cy="1282800"/>
          </a:xfrm>
        </p:grpSpPr>
        <p:sp>
          <p:nvSpPr>
            <p:cNvPr id="115" name="Google Shape;115;p17"/>
            <p:cNvSpPr txBox="1"/>
            <p:nvPr/>
          </p:nvSpPr>
          <p:spPr>
            <a:xfrm>
              <a:off x="628505" y="1448770"/>
              <a:ext cx="2306100" cy="1282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latin typeface="Times New Roman"/>
                  <a:ea typeface="Times New Roman"/>
                  <a:cs typeface="Times New Roman"/>
                  <a:sym typeface="Times New Roman"/>
                </a:rPr>
                <a:t>Milestone </a:t>
              </a:r>
              <a:r>
                <a:rPr b="1" lang="en" sz="1200"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 b="1"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200"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rtl="0" algn="just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900">
                  <a:latin typeface="Times New Roman"/>
                  <a:ea typeface="Times New Roman"/>
                  <a:cs typeface="Times New Roman"/>
                  <a:sym typeface="Times New Roman"/>
                </a:rPr>
                <a:t>After year wise and state level analysis , the three dashboard i.e. candidate performance analysis , Gender wise analysis and electoral competitiveness to understand gender representation , party performance and competitive nature of election.</a:t>
              </a:r>
              <a:endParaRPr b="1" sz="900"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cxnSp>
          <p:nvCxnSpPr>
            <p:cNvPr id="116" name="Google Shape;116;p17"/>
            <p:cNvCxnSpPr/>
            <p:nvPr/>
          </p:nvCxnSpPr>
          <p:spPr>
            <a:xfrm rot="10800000">
              <a:off x="3046834" y="2215329"/>
              <a:ext cx="1130400" cy="0"/>
            </a:xfrm>
            <a:prstGeom prst="straightConnector1">
              <a:avLst/>
            </a:prstGeom>
            <a:noFill/>
            <a:ln cap="flat" cmpd="sng" w="9525">
              <a:solidFill>
                <a:srgbClr val="C2C2C2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7" name="Google Shape;117;p17"/>
            <p:cNvSpPr/>
            <p:nvPr/>
          </p:nvSpPr>
          <p:spPr>
            <a:xfrm>
              <a:off x="3020371" y="2111851"/>
              <a:ext cx="198600" cy="198300"/>
            </a:xfrm>
            <a:prstGeom prst="ellipse">
              <a:avLst/>
            </a:prstGeom>
            <a:solidFill>
              <a:srgbClr val="9325A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7"/>
            <p:cNvSpPr txBox="1"/>
            <p:nvPr/>
          </p:nvSpPr>
          <p:spPr>
            <a:xfrm>
              <a:off x="2995927" y="2051434"/>
              <a:ext cx="247500" cy="31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8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>
                <a:solidFill>
                  <a:srgbClr val="FFFFFF"/>
                </a:solidFill>
              </a:endParaRPr>
            </a:p>
          </p:txBody>
        </p:sp>
      </p:grpSp>
      <p:grpSp>
        <p:nvGrpSpPr>
          <p:cNvPr id="119" name="Google Shape;119;p17"/>
          <p:cNvGrpSpPr/>
          <p:nvPr/>
        </p:nvGrpSpPr>
        <p:grpSpPr>
          <a:xfrm flipH="1">
            <a:off x="4755243" y="-74750"/>
            <a:ext cx="4326307" cy="2587500"/>
            <a:chOff x="343874" y="143895"/>
            <a:chExt cx="4326307" cy="2587500"/>
          </a:xfrm>
        </p:grpSpPr>
        <p:sp>
          <p:nvSpPr>
            <p:cNvPr id="120" name="Google Shape;120;p17"/>
            <p:cNvSpPr txBox="1"/>
            <p:nvPr/>
          </p:nvSpPr>
          <p:spPr>
            <a:xfrm>
              <a:off x="343874" y="143895"/>
              <a:ext cx="2941800" cy="2587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latin typeface="Times New Roman"/>
                  <a:ea typeface="Times New Roman"/>
                  <a:cs typeface="Times New Roman"/>
                  <a:sym typeface="Times New Roman"/>
                </a:rPr>
                <a:t>Data Collection and Preprocessing</a:t>
              </a:r>
              <a:endParaRPr b="1" sz="1200"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0" lvl="0" marL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0"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0" lvl="0" marL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00">
                  <a:latin typeface="Times New Roman"/>
                  <a:ea typeface="Times New Roman"/>
                  <a:cs typeface="Times New Roman"/>
                  <a:sym typeface="Times New Roman"/>
                </a:rPr>
                <a:t>The dataset collected from kaggle ‘Indian Election Dataset’</a:t>
              </a:r>
              <a:endParaRPr sz="900"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0" lvl="0" marL="0" rtl="0" algn="l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900">
                  <a:latin typeface="Times New Roman"/>
                  <a:ea typeface="Times New Roman"/>
                  <a:cs typeface="Times New Roman"/>
                  <a:sym typeface="Times New Roman"/>
                </a:rPr>
                <a:t>Data Preprocessing Steps:</a:t>
              </a:r>
              <a:endParaRPr sz="900"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85750" lvl="0" marL="457200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Times New Roman"/>
                <a:buAutoNum type="arabicPeriod"/>
              </a:pPr>
              <a:r>
                <a:rPr lang="en" sz="900">
                  <a:latin typeface="Times New Roman"/>
                  <a:ea typeface="Times New Roman"/>
                  <a:cs typeface="Times New Roman"/>
                  <a:sym typeface="Times New Roman"/>
                </a:rPr>
                <a:t>Checking the data types of each column.</a:t>
              </a:r>
              <a:endParaRPr sz="900"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85750" lvl="0" marL="457200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Times New Roman"/>
                <a:buAutoNum type="arabicPeriod"/>
              </a:pPr>
              <a:r>
                <a:rPr lang="en" sz="900">
                  <a:latin typeface="Times New Roman"/>
                  <a:ea typeface="Times New Roman"/>
                  <a:cs typeface="Times New Roman"/>
                  <a:sym typeface="Times New Roman"/>
                </a:rPr>
                <a:t>Checking for null /empty values </a:t>
              </a:r>
              <a:endParaRPr sz="900"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85750" lvl="0" marL="457200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Times New Roman"/>
                <a:buAutoNum type="arabicPeriod"/>
              </a:pPr>
              <a:r>
                <a:rPr lang="en" sz="900">
                  <a:latin typeface="Times New Roman"/>
                  <a:ea typeface="Times New Roman"/>
                  <a:cs typeface="Times New Roman"/>
                  <a:sym typeface="Times New Roman"/>
                </a:rPr>
                <a:t>Checking for duplicates</a:t>
              </a:r>
              <a:endParaRPr sz="900"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85750" lvl="0" marL="457200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Times New Roman"/>
                <a:buAutoNum type="arabicPeriod"/>
              </a:pPr>
              <a:r>
                <a:rPr lang="en" sz="900">
                  <a:latin typeface="Times New Roman"/>
                  <a:ea typeface="Times New Roman"/>
                  <a:cs typeface="Times New Roman"/>
                  <a:sym typeface="Times New Roman"/>
                </a:rPr>
                <a:t>Replaced mismatching or different spelling values in ‘state name’ and ‘party name’ column like Chhattisgarh and Chattisgarh and BJP and Bhartiya Janta Party and similarly 9 values. Got 45 distinct values reduced to 36 distincts.</a:t>
              </a:r>
              <a:endParaRPr sz="900"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-285750" lvl="0" marL="457200" rtl="0" algn="l">
                <a:spcBef>
                  <a:spcPts val="0"/>
                </a:spcBef>
                <a:spcAft>
                  <a:spcPts val="0"/>
                </a:spcAft>
                <a:buSzPts val="900"/>
                <a:buFont typeface="Times New Roman"/>
                <a:buAutoNum type="arabicPeriod"/>
              </a:pPr>
              <a:r>
                <a:rPr lang="en" sz="900">
                  <a:latin typeface="Times New Roman"/>
                  <a:ea typeface="Times New Roman"/>
                  <a:cs typeface="Times New Roman"/>
                  <a:sym typeface="Times New Roman"/>
                </a:rPr>
                <a:t>Added a custom column ‘voters_turnout_%’ to calculate percentage of totvotpoll over electors.</a:t>
              </a:r>
              <a:endParaRPr sz="900"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cxnSp>
          <p:nvCxnSpPr>
            <p:cNvPr id="121" name="Google Shape;121;p17"/>
            <p:cNvCxnSpPr>
              <a:endCxn id="122" idx="1"/>
            </p:cNvCxnSpPr>
            <p:nvPr/>
          </p:nvCxnSpPr>
          <p:spPr>
            <a:xfrm rot="10800000">
              <a:off x="3569180" y="1385545"/>
              <a:ext cx="1101000" cy="52500"/>
            </a:xfrm>
            <a:prstGeom prst="straightConnector1">
              <a:avLst/>
            </a:prstGeom>
            <a:noFill/>
            <a:ln cap="flat" cmpd="sng" w="9525">
              <a:solidFill>
                <a:srgbClr val="C2C2C2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23" name="Google Shape;123;p17"/>
            <p:cNvSpPr/>
            <p:nvPr/>
          </p:nvSpPr>
          <p:spPr>
            <a:xfrm>
              <a:off x="3328121" y="1286401"/>
              <a:ext cx="198600" cy="198300"/>
            </a:xfrm>
            <a:prstGeom prst="ellipse">
              <a:avLst/>
            </a:prstGeom>
            <a:solidFill>
              <a:srgbClr val="701C7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7"/>
            <p:cNvSpPr txBox="1"/>
            <p:nvPr/>
          </p:nvSpPr>
          <p:spPr>
            <a:xfrm flipH="1">
              <a:off x="3285680" y="1229095"/>
              <a:ext cx="283500" cy="31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8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solidFill>
                  <a:srgbClr val="FFFFFF"/>
                </a:solidFill>
              </a:endParaRPr>
            </a:p>
          </p:txBody>
        </p:sp>
      </p:grpSp>
      <p:grpSp>
        <p:nvGrpSpPr>
          <p:cNvPr id="124" name="Google Shape;124;p17"/>
          <p:cNvGrpSpPr/>
          <p:nvPr/>
        </p:nvGrpSpPr>
        <p:grpSpPr>
          <a:xfrm>
            <a:off x="2787347" y="756110"/>
            <a:ext cx="3671622" cy="3900367"/>
            <a:chOff x="3217473" y="1225350"/>
            <a:chExt cx="3118150" cy="3159727"/>
          </a:xfrm>
        </p:grpSpPr>
        <p:sp>
          <p:nvSpPr>
            <p:cNvPr id="125" name="Google Shape;125;p17"/>
            <p:cNvSpPr/>
            <p:nvPr/>
          </p:nvSpPr>
          <p:spPr>
            <a:xfrm>
              <a:off x="3579175" y="2711400"/>
              <a:ext cx="2396410" cy="971161"/>
            </a:xfrm>
            <a:custGeom>
              <a:rect b="b" l="l" r="r" t="t"/>
              <a:pathLst>
                <a:path extrusionOk="0" h="12970" w="39012">
                  <a:moveTo>
                    <a:pt x="0" y="5914"/>
                  </a:moveTo>
                  <a:lnTo>
                    <a:pt x="19531" y="12970"/>
                  </a:lnTo>
                  <a:lnTo>
                    <a:pt x="39012" y="5914"/>
                  </a:lnTo>
                  <a:lnTo>
                    <a:pt x="19581" y="0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</p:sp>
        <p:sp>
          <p:nvSpPr>
            <p:cNvPr id="126" name="Google Shape;126;p17"/>
            <p:cNvSpPr/>
            <p:nvPr/>
          </p:nvSpPr>
          <p:spPr>
            <a:xfrm>
              <a:off x="3730755" y="2527208"/>
              <a:ext cx="2079127" cy="837209"/>
            </a:xfrm>
            <a:custGeom>
              <a:rect b="b" l="l" r="r" t="t"/>
              <a:pathLst>
                <a:path extrusionOk="0" h="16300" w="49248">
                  <a:moveTo>
                    <a:pt x="0" y="7554"/>
                  </a:moveTo>
                  <a:lnTo>
                    <a:pt x="24649" y="16300"/>
                  </a:lnTo>
                  <a:lnTo>
                    <a:pt x="49248" y="7604"/>
                  </a:lnTo>
                  <a:lnTo>
                    <a:pt x="24599" y="0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</p:sp>
        <p:sp>
          <p:nvSpPr>
            <p:cNvPr id="127" name="Google Shape;127;p17"/>
            <p:cNvSpPr/>
            <p:nvPr/>
          </p:nvSpPr>
          <p:spPr>
            <a:xfrm>
              <a:off x="3946479" y="2252239"/>
              <a:ext cx="1647477" cy="663383"/>
            </a:xfrm>
            <a:custGeom>
              <a:rect b="b" l="l" r="r" t="t"/>
              <a:pathLst>
                <a:path extrusionOk="0" h="12970" w="39012">
                  <a:moveTo>
                    <a:pt x="0" y="5914"/>
                  </a:moveTo>
                  <a:lnTo>
                    <a:pt x="19531" y="12970"/>
                  </a:lnTo>
                  <a:lnTo>
                    <a:pt x="39012" y="5914"/>
                  </a:lnTo>
                  <a:lnTo>
                    <a:pt x="19581" y="0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</p:sp>
        <p:sp>
          <p:nvSpPr>
            <p:cNvPr id="128" name="Google Shape;128;p17"/>
            <p:cNvSpPr/>
            <p:nvPr/>
          </p:nvSpPr>
          <p:spPr>
            <a:xfrm>
              <a:off x="4265445" y="1828277"/>
              <a:ext cx="1014014" cy="416547"/>
            </a:xfrm>
            <a:custGeom>
              <a:rect b="b" l="l" r="r" t="t"/>
              <a:pathLst>
                <a:path extrusionOk="0" h="8150" w="24053">
                  <a:moveTo>
                    <a:pt x="0" y="3827"/>
                  </a:moveTo>
                  <a:lnTo>
                    <a:pt x="11976" y="8150"/>
                  </a:lnTo>
                  <a:lnTo>
                    <a:pt x="24053" y="3827"/>
                  </a:lnTo>
                  <a:lnTo>
                    <a:pt x="12126" y="0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</p:sp>
        <p:sp>
          <p:nvSpPr>
            <p:cNvPr id="129" name="Google Shape;129;p17"/>
            <p:cNvSpPr/>
            <p:nvPr/>
          </p:nvSpPr>
          <p:spPr>
            <a:xfrm>
              <a:off x="3217473" y="3154705"/>
              <a:ext cx="1559116" cy="1230372"/>
            </a:xfrm>
            <a:custGeom>
              <a:rect b="b" l="l" r="r" t="t"/>
              <a:pathLst>
                <a:path extrusionOk="0" h="20822" w="31954">
                  <a:moveTo>
                    <a:pt x="7355" y="0"/>
                  </a:moveTo>
                  <a:lnTo>
                    <a:pt x="31954" y="8796"/>
                  </a:lnTo>
                  <a:lnTo>
                    <a:pt x="31954" y="20822"/>
                  </a:lnTo>
                  <a:lnTo>
                    <a:pt x="0" y="8895"/>
                  </a:lnTo>
                  <a:close/>
                </a:path>
              </a:pathLst>
            </a:custGeom>
            <a:solidFill>
              <a:srgbClr val="561561"/>
            </a:solidFill>
            <a:ln>
              <a:noFill/>
            </a:ln>
          </p:spPr>
        </p:sp>
        <p:sp>
          <p:nvSpPr>
            <p:cNvPr id="130" name="Google Shape;130;p17"/>
            <p:cNvSpPr/>
            <p:nvPr/>
          </p:nvSpPr>
          <p:spPr>
            <a:xfrm>
              <a:off x="3790596" y="2554725"/>
              <a:ext cx="982143" cy="653205"/>
            </a:xfrm>
            <a:custGeom>
              <a:rect b="b" l="l" r="r" t="t"/>
              <a:pathLst>
                <a:path extrusionOk="0" h="12771" w="23257">
                  <a:moveTo>
                    <a:pt x="3727" y="0"/>
                  </a:moveTo>
                  <a:lnTo>
                    <a:pt x="0" y="4522"/>
                  </a:lnTo>
                  <a:lnTo>
                    <a:pt x="23257" y="12771"/>
                  </a:lnTo>
                  <a:lnTo>
                    <a:pt x="23257" y="7056"/>
                  </a:lnTo>
                  <a:close/>
                </a:path>
              </a:pathLst>
            </a:custGeom>
            <a:gradFill>
              <a:gsLst>
                <a:gs pos="0">
                  <a:srgbClr val="FFCA37"/>
                </a:gs>
                <a:gs pos="100000">
                  <a:srgbClr val="AD8107"/>
                </a:gs>
              </a:gsLst>
              <a:lin ang="5400012" scaled="0"/>
            </a:gradFill>
            <a:ln>
              <a:noFill/>
            </a:ln>
          </p:spPr>
        </p:sp>
        <p:sp>
          <p:nvSpPr>
            <p:cNvPr id="131" name="Google Shape;131;p17"/>
            <p:cNvSpPr/>
            <p:nvPr/>
          </p:nvSpPr>
          <p:spPr>
            <a:xfrm flipH="1">
              <a:off x="4770690" y="2554725"/>
              <a:ext cx="982143" cy="653205"/>
            </a:xfrm>
            <a:custGeom>
              <a:rect b="b" l="l" r="r" t="t"/>
              <a:pathLst>
                <a:path extrusionOk="0" h="12771" w="23257">
                  <a:moveTo>
                    <a:pt x="3727" y="0"/>
                  </a:moveTo>
                  <a:lnTo>
                    <a:pt x="0" y="4522"/>
                  </a:lnTo>
                  <a:lnTo>
                    <a:pt x="23257" y="12771"/>
                  </a:lnTo>
                  <a:lnTo>
                    <a:pt x="23257" y="7056"/>
                  </a:lnTo>
                  <a:close/>
                </a:path>
              </a:pathLst>
            </a:custGeom>
            <a:solidFill>
              <a:srgbClr val="F4B400"/>
            </a:solidFill>
            <a:ln>
              <a:noFill/>
            </a:ln>
          </p:spPr>
        </p:sp>
        <p:sp>
          <p:nvSpPr>
            <p:cNvPr id="132" name="Google Shape;132;p17"/>
            <p:cNvSpPr/>
            <p:nvPr/>
          </p:nvSpPr>
          <p:spPr>
            <a:xfrm>
              <a:off x="4002555" y="2023456"/>
              <a:ext cx="770191" cy="721896"/>
            </a:xfrm>
            <a:custGeom>
              <a:rect b="b" l="l" r="r" t="t"/>
              <a:pathLst>
                <a:path extrusionOk="0" h="14114" w="18238">
                  <a:moveTo>
                    <a:pt x="6262" y="0"/>
                  </a:moveTo>
                  <a:lnTo>
                    <a:pt x="18238" y="4324"/>
                  </a:lnTo>
                  <a:lnTo>
                    <a:pt x="18238" y="14114"/>
                  </a:lnTo>
                  <a:lnTo>
                    <a:pt x="0" y="7554"/>
                  </a:lnTo>
                  <a:close/>
                </a:path>
              </a:pathLst>
            </a:custGeom>
            <a:solidFill>
              <a:srgbClr val="561561"/>
            </a:solidFill>
            <a:ln>
              <a:noFill/>
            </a:ln>
          </p:spPr>
        </p:sp>
        <p:sp>
          <p:nvSpPr>
            <p:cNvPr id="133" name="Google Shape;133;p17"/>
            <p:cNvSpPr/>
            <p:nvPr/>
          </p:nvSpPr>
          <p:spPr>
            <a:xfrm flipH="1">
              <a:off x="4770683" y="2023456"/>
              <a:ext cx="770191" cy="721896"/>
            </a:xfrm>
            <a:custGeom>
              <a:rect b="b" l="l" r="r" t="t"/>
              <a:pathLst>
                <a:path extrusionOk="0" h="14114" w="18238">
                  <a:moveTo>
                    <a:pt x="6262" y="0"/>
                  </a:moveTo>
                  <a:lnTo>
                    <a:pt x="18238" y="4324"/>
                  </a:lnTo>
                  <a:lnTo>
                    <a:pt x="18238" y="14114"/>
                  </a:lnTo>
                  <a:lnTo>
                    <a:pt x="0" y="7554"/>
                  </a:lnTo>
                  <a:close/>
                </a:path>
              </a:pathLst>
            </a:custGeom>
            <a:solidFill>
              <a:srgbClr val="771E86"/>
            </a:solidFill>
            <a:ln>
              <a:noFill/>
            </a:ln>
          </p:spPr>
        </p:sp>
        <p:sp>
          <p:nvSpPr>
            <p:cNvPr id="134" name="Google Shape;134;p17"/>
            <p:cNvSpPr/>
            <p:nvPr/>
          </p:nvSpPr>
          <p:spPr>
            <a:xfrm>
              <a:off x="4323640" y="1225350"/>
              <a:ext cx="449116" cy="854010"/>
            </a:xfrm>
            <a:custGeom>
              <a:rect b="b" l="l" r="r" t="t"/>
              <a:pathLst>
                <a:path extrusionOk="0" h="16697" w="10635">
                  <a:moveTo>
                    <a:pt x="10635" y="0"/>
                  </a:moveTo>
                  <a:lnTo>
                    <a:pt x="0" y="12722"/>
                  </a:lnTo>
                  <a:lnTo>
                    <a:pt x="10635" y="16697"/>
                  </a:lnTo>
                  <a:close/>
                </a:path>
              </a:pathLst>
            </a:custGeom>
            <a:solidFill>
              <a:srgbClr val="561561"/>
            </a:solidFill>
            <a:ln>
              <a:noFill/>
            </a:ln>
          </p:spPr>
        </p:sp>
        <p:sp>
          <p:nvSpPr>
            <p:cNvPr id="135" name="Google Shape;135;p17"/>
            <p:cNvSpPr/>
            <p:nvPr/>
          </p:nvSpPr>
          <p:spPr>
            <a:xfrm flipH="1">
              <a:off x="4770673" y="1225350"/>
              <a:ext cx="449116" cy="854010"/>
            </a:xfrm>
            <a:custGeom>
              <a:rect b="b" l="l" r="r" t="t"/>
              <a:pathLst>
                <a:path extrusionOk="0" h="16697" w="10635">
                  <a:moveTo>
                    <a:pt x="10635" y="0"/>
                  </a:moveTo>
                  <a:lnTo>
                    <a:pt x="0" y="12722"/>
                  </a:lnTo>
                  <a:lnTo>
                    <a:pt x="10635" y="16697"/>
                  </a:lnTo>
                  <a:close/>
                </a:path>
              </a:pathLst>
            </a:custGeom>
            <a:solidFill>
              <a:srgbClr val="701C7F"/>
            </a:solidFill>
            <a:ln>
              <a:noFill/>
            </a:ln>
          </p:spPr>
        </p:sp>
        <p:sp>
          <p:nvSpPr>
            <p:cNvPr id="136" name="Google Shape;136;p17"/>
            <p:cNvSpPr/>
            <p:nvPr/>
          </p:nvSpPr>
          <p:spPr>
            <a:xfrm>
              <a:off x="3636034" y="2553603"/>
              <a:ext cx="1136642" cy="946913"/>
            </a:xfrm>
            <a:custGeom>
              <a:rect b="b" l="l" r="r" t="t"/>
              <a:pathLst>
                <a:path extrusionOk="0" h="46623" w="65016">
                  <a:moveTo>
                    <a:pt x="17858" y="0"/>
                  </a:moveTo>
                  <a:lnTo>
                    <a:pt x="0" y="22135"/>
                  </a:lnTo>
                  <a:lnTo>
                    <a:pt x="65016" y="46623"/>
                  </a:lnTo>
                  <a:lnTo>
                    <a:pt x="65016" y="17537"/>
                  </a:lnTo>
                  <a:close/>
                </a:path>
              </a:pathLst>
            </a:custGeom>
            <a:solidFill>
              <a:srgbClr val="561561"/>
            </a:solidFill>
            <a:ln>
              <a:noFill/>
            </a:ln>
          </p:spPr>
        </p:sp>
        <p:sp>
          <p:nvSpPr>
            <p:cNvPr id="137" name="Google Shape;137;p17"/>
            <p:cNvSpPr/>
            <p:nvPr/>
          </p:nvSpPr>
          <p:spPr>
            <a:xfrm flipH="1">
              <a:off x="4770657" y="2555106"/>
              <a:ext cx="1136642" cy="946913"/>
            </a:xfrm>
            <a:custGeom>
              <a:rect b="b" l="l" r="r" t="t"/>
              <a:pathLst>
                <a:path extrusionOk="0" h="46623" w="65016">
                  <a:moveTo>
                    <a:pt x="17858" y="0"/>
                  </a:moveTo>
                  <a:lnTo>
                    <a:pt x="0" y="22135"/>
                  </a:lnTo>
                  <a:lnTo>
                    <a:pt x="65016" y="46623"/>
                  </a:lnTo>
                  <a:lnTo>
                    <a:pt x="65016" y="17537"/>
                  </a:lnTo>
                  <a:close/>
                </a:path>
              </a:pathLst>
            </a:custGeom>
            <a:solidFill>
              <a:srgbClr val="802090"/>
            </a:solidFill>
            <a:ln>
              <a:noFill/>
            </a:ln>
          </p:spPr>
        </p:sp>
        <p:sp>
          <p:nvSpPr>
            <p:cNvPr id="138" name="Google Shape;138;p17"/>
            <p:cNvSpPr/>
            <p:nvPr/>
          </p:nvSpPr>
          <p:spPr>
            <a:xfrm flipH="1">
              <a:off x="4776508" y="3154705"/>
              <a:ext cx="1559116" cy="1230372"/>
            </a:xfrm>
            <a:custGeom>
              <a:rect b="b" l="l" r="r" t="t"/>
              <a:pathLst>
                <a:path extrusionOk="0" h="20822" w="31954">
                  <a:moveTo>
                    <a:pt x="7355" y="0"/>
                  </a:moveTo>
                  <a:lnTo>
                    <a:pt x="31954" y="8796"/>
                  </a:lnTo>
                  <a:lnTo>
                    <a:pt x="31954" y="20822"/>
                  </a:lnTo>
                  <a:lnTo>
                    <a:pt x="0" y="8895"/>
                  </a:lnTo>
                  <a:close/>
                </a:path>
              </a:pathLst>
            </a:custGeom>
            <a:solidFill>
              <a:srgbClr val="9325A5"/>
            </a:solidFill>
            <a:ln>
              <a:noFill/>
            </a:ln>
          </p:spPr>
        </p:sp>
      </p:grpSp>
      <p:grpSp>
        <p:nvGrpSpPr>
          <p:cNvPr id="139" name="Google Shape;139;p17"/>
          <p:cNvGrpSpPr/>
          <p:nvPr/>
        </p:nvGrpSpPr>
        <p:grpSpPr>
          <a:xfrm>
            <a:off x="119625" y="988050"/>
            <a:ext cx="3735629" cy="1680900"/>
            <a:chOff x="441605" y="1252530"/>
            <a:chExt cx="3735629" cy="1680900"/>
          </a:xfrm>
        </p:grpSpPr>
        <p:sp>
          <p:nvSpPr>
            <p:cNvPr id="140" name="Google Shape;140;p17"/>
            <p:cNvSpPr txBox="1"/>
            <p:nvPr/>
          </p:nvSpPr>
          <p:spPr>
            <a:xfrm>
              <a:off x="441605" y="1252530"/>
              <a:ext cx="2493000" cy="168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latin typeface="Times New Roman"/>
                  <a:ea typeface="Times New Roman"/>
                  <a:cs typeface="Times New Roman"/>
                  <a:sym typeface="Times New Roman"/>
                </a:rPr>
                <a:t>Dashboard creation started </a:t>
              </a:r>
              <a:endParaRPr b="1" sz="1200"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200">
                <a:latin typeface="Times New Roman"/>
                <a:ea typeface="Times New Roman"/>
                <a:cs typeface="Times New Roman"/>
                <a:sym typeface="Times New Roman"/>
              </a:endParaRPr>
            </a:p>
            <a:p>
              <a:pPr indent="0" lvl="0" marL="0" rtl="0" algn="just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900">
                  <a:latin typeface="Times New Roman"/>
                  <a:ea typeface="Times New Roman"/>
                  <a:cs typeface="Times New Roman"/>
                  <a:sym typeface="Times New Roman"/>
                </a:rPr>
                <a:t>Dashboard development started in milestone 2 .The three dashboard i.e. election overview , party performance analysis and distribution of parliamentary constituency created in milestone 2.</a:t>
              </a:r>
              <a:endParaRPr b="1" sz="900">
                <a:latin typeface="Times New Roman"/>
                <a:ea typeface="Times New Roman"/>
                <a:cs typeface="Times New Roman"/>
                <a:sym typeface="Times New Roman"/>
              </a:endParaRPr>
            </a:p>
          </p:txBody>
        </p:sp>
        <p:cxnSp>
          <p:nvCxnSpPr>
            <p:cNvPr id="141" name="Google Shape;141;p17"/>
            <p:cNvCxnSpPr/>
            <p:nvPr/>
          </p:nvCxnSpPr>
          <p:spPr>
            <a:xfrm rot="10800000">
              <a:off x="3046834" y="2215329"/>
              <a:ext cx="1130400" cy="0"/>
            </a:xfrm>
            <a:prstGeom prst="straightConnector1">
              <a:avLst/>
            </a:prstGeom>
            <a:noFill/>
            <a:ln cap="flat" cmpd="sng" w="9525">
              <a:solidFill>
                <a:srgbClr val="C2C2C2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2" name="Google Shape;142;p17"/>
            <p:cNvSpPr/>
            <p:nvPr/>
          </p:nvSpPr>
          <p:spPr>
            <a:xfrm>
              <a:off x="3020371" y="2111851"/>
              <a:ext cx="198600" cy="198300"/>
            </a:xfrm>
            <a:prstGeom prst="ellipse">
              <a:avLst/>
            </a:prstGeom>
            <a:solidFill>
              <a:srgbClr val="771E8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17"/>
            <p:cNvSpPr txBox="1"/>
            <p:nvPr/>
          </p:nvSpPr>
          <p:spPr>
            <a:xfrm>
              <a:off x="2995927" y="2051434"/>
              <a:ext cx="247500" cy="31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1600"/>
                </a:spcAft>
                <a:buNone/>
              </a:pPr>
              <a:r>
                <a:rPr lang="en" sz="8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>
                <a:solidFill>
                  <a:srgbClr val="FFFFFF"/>
                </a:solidFill>
              </a:endParaRPr>
            </a:p>
          </p:txBody>
        </p:sp>
      </p:grpSp>
      <p:sp>
        <p:nvSpPr>
          <p:cNvPr id="144" name="Google Shape;144;p17"/>
          <p:cNvSpPr txBox="1"/>
          <p:nvPr/>
        </p:nvSpPr>
        <p:spPr>
          <a:xfrm>
            <a:off x="680325" y="276625"/>
            <a:ext cx="3625800" cy="7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accen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Execution of Milestone</a:t>
            </a:r>
            <a:endParaRPr b="1" sz="2700">
              <a:solidFill>
                <a:schemeClr val="accen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Dashboards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50" name="Google Shape;15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7825" y="1166600"/>
            <a:ext cx="3313875" cy="168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7825" y="2919525"/>
            <a:ext cx="3313874" cy="168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21750" y="2919525"/>
            <a:ext cx="3199425" cy="168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21750" y="1181100"/>
            <a:ext cx="3172699" cy="1658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0775" y="830850"/>
            <a:ext cx="3551024" cy="1916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0775" y="2853175"/>
            <a:ext cx="3551025" cy="191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03400" y="830850"/>
            <a:ext cx="3662001" cy="191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14375" y="2853175"/>
            <a:ext cx="3551025" cy="191652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9"/>
          <p:cNvSpPr txBox="1"/>
          <p:nvPr/>
        </p:nvSpPr>
        <p:spPr>
          <a:xfrm>
            <a:off x="280775" y="0"/>
            <a:ext cx="8636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Dashboards(continued)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/>
          <p:nvPr>
            <p:ph type="title"/>
          </p:nvPr>
        </p:nvSpPr>
        <p:spPr>
          <a:xfrm>
            <a:off x="311700" y="213075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Challenges and Resolutions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68" name="Google Shape;168;p20"/>
          <p:cNvGraphicFramePr/>
          <p:nvPr/>
        </p:nvGraphicFramePr>
        <p:xfrm>
          <a:off x="311675" y="936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{5CB63D9F-CFB3-42ED-8EE2-2041360BAB3A}</a:tableStyleId>
              </a:tblPr>
              <a:tblGrid>
                <a:gridCol w="4345375"/>
                <a:gridCol w="4345375"/>
              </a:tblGrid>
              <a:tr h="4215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Challenges</a:t>
                      </a:r>
                      <a:endParaRPr b="1" sz="17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7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Resolution</a:t>
                      </a:r>
                      <a:endParaRPr b="1" sz="17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  <a:tr h="58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High-volume, candidate-level election data increased processing and visualization complexity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Applied data aggregation and optimized DAX measures to enable efficient multi-level analysis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  <a:tr h="747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Lack of pre-defined winner, runner-up, and seat metrics in the dataset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Derived custom DAX calculations to identify winners, compute victory margins, and calculate seats won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  <a:tr h="58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Maintaining metric consistency across overview, party, state, and constituency dashboards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Standardized reusable measures and applied uniform filtering logic across all pages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  <a:tr h="58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Visual overcrowding due to large numbers of parties and candidates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Replaced dense charts with treemaps, tables, and trend-based visuals for improved clarity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  <a:tr h="58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Handling dynamic cross-filtering across multiple dimensions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Implemented context-aware slicers and validated visual interactions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  <a:tr h="58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Representing electoral competitiveness metrics in an interpretable manner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3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Translated complex metrics into KPIs and trend visuals for easier interpretation</a:t>
                      </a:r>
                      <a:endParaRPr sz="13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169" name="Google Shape;16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-10794000">
            <a:off x="7043597" y="15876"/>
            <a:ext cx="2093707" cy="7715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1"/>
          <p:cNvSpPr txBox="1"/>
          <p:nvPr/>
        </p:nvSpPr>
        <p:spPr>
          <a:xfrm>
            <a:off x="286775" y="151275"/>
            <a:ext cx="8723100" cy="461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Insights</a:t>
            </a:r>
            <a:endParaRPr b="1" sz="2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700"/>
              <a:buChar char="●"/>
            </a:pPr>
            <a:r>
              <a:rPr lang="en" sz="1700">
                <a:latin typeface="Times New Roman"/>
                <a:ea typeface="Times New Roman"/>
                <a:cs typeface="Times New Roman"/>
                <a:sym typeface="Times New Roman"/>
              </a:rPr>
              <a:t>The data shows </a:t>
            </a:r>
            <a:r>
              <a:rPr b="1" lang="en" sz="1700">
                <a:latin typeface="Times New Roman"/>
                <a:ea typeface="Times New Roman"/>
                <a:cs typeface="Times New Roman"/>
                <a:sym typeface="Times New Roman"/>
              </a:rPr>
              <a:t>high diversity in candidates, parties, electors, states, and constituencies</a:t>
            </a:r>
            <a:r>
              <a:rPr lang="en" sz="170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b="1" lang="en" sz="1700">
                <a:latin typeface="Times New Roman"/>
                <a:ea typeface="Times New Roman"/>
                <a:cs typeface="Times New Roman"/>
                <a:sym typeface="Times New Roman"/>
              </a:rPr>
              <a:t>Indian National Congress and Bharatiya Janata Party</a:t>
            </a:r>
            <a:r>
              <a:rPr lang="en" sz="1700">
                <a:latin typeface="Times New Roman"/>
                <a:ea typeface="Times New Roman"/>
                <a:cs typeface="Times New Roman"/>
                <a:sym typeface="Times New Roman"/>
              </a:rPr>
              <a:t> have remained the </a:t>
            </a:r>
            <a:r>
              <a:rPr b="1" lang="en" sz="1700">
                <a:latin typeface="Times New Roman"/>
                <a:ea typeface="Times New Roman"/>
                <a:cs typeface="Times New Roman"/>
                <a:sym typeface="Times New Roman"/>
              </a:rPr>
              <a:t>most dominant parties</a:t>
            </a:r>
            <a:r>
              <a:rPr lang="en" sz="1700">
                <a:latin typeface="Times New Roman"/>
                <a:ea typeface="Times New Roman"/>
                <a:cs typeface="Times New Roman"/>
                <a:sym typeface="Times New Roman"/>
              </a:rPr>
              <a:t> over the years.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b="1" lang="en" sz="1700">
                <a:latin typeface="Times New Roman"/>
                <a:ea typeface="Times New Roman"/>
                <a:cs typeface="Times New Roman"/>
                <a:sym typeface="Times New Roman"/>
              </a:rPr>
              <a:t>SC and ST constituencies</a:t>
            </a:r>
            <a:r>
              <a:rPr lang="en" sz="1700">
                <a:latin typeface="Times New Roman"/>
                <a:ea typeface="Times New Roman"/>
                <a:cs typeface="Times New Roman"/>
                <a:sym typeface="Times New Roman"/>
              </a:rPr>
              <a:t> record a </a:t>
            </a:r>
            <a:r>
              <a:rPr b="1" lang="en" sz="1700">
                <a:latin typeface="Times New Roman"/>
                <a:ea typeface="Times New Roman"/>
                <a:cs typeface="Times New Roman"/>
                <a:sym typeface="Times New Roman"/>
              </a:rPr>
              <a:t>higher average voter turnout</a:t>
            </a:r>
            <a:r>
              <a:rPr lang="en" sz="1700">
                <a:latin typeface="Times New Roman"/>
                <a:ea typeface="Times New Roman"/>
                <a:cs typeface="Times New Roman"/>
                <a:sym typeface="Times New Roman"/>
              </a:rPr>
              <a:t> compared to General seats.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b="1" lang="en" sz="1700">
                <a:latin typeface="Times New Roman"/>
                <a:ea typeface="Times New Roman"/>
                <a:cs typeface="Times New Roman"/>
                <a:sym typeface="Times New Roman"/>
              </a:rPr>
              <a:t>Voter turnout peaked in 1977</a:t>
            </a:r>
            <a:r>
              <a:rPr lang="en" sz="1700">
                <a:latin typeface="Times New Roman"/>
                <a:ea typeface="Times New Roman"/>
                <a:cs typeface="Times New Roman"/>
                <a:sym typeface="Times New Roman"/>
              </a:rPr>
              <a:t>, declined until 1996, and then </a:t>
            </a:r>
            <a:r>
              <a:rPr b="1" lang="en" sz="1700">
                <a:latin typeface="Times New Roman"/>
                <a:ea typeface="Times New Roman"/>
                <a:cs typeface="Times New Roman"/>
                <a:sym typeface="Times New Roman"/>
              </a:rPr>
              <a:t>stabilized after increasing from 1998 onwards</a:t>
            </a:r>
            <a:r>
              <a:rPr lang="en" sz="170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b="1" lang="en" sz="1700">
                <a:latin typeface="Times New Roman"/>
                <a:ea typeface="Times New Roman"/>
                <a:cs typeface="Times New Roman"/>
                <a:sym typeface="Times New Roman"/>
              </a:rPr>
              <a:t>Male candidates dominate participation</a:t>
            </a:r>
            <a:r>
              <a:rPr lang="en" sz="1700">
                <a:latin typeface="Times New Roman"/>
                <a:ea typeface="Times New Roman"/>
                <a:cs typeface="Times New Roman"/>
                <a:sym typeface="Times New Roman"/>
              </a:rPr>
              <a:t>, though </a:t>
            </a:r>
            <a:r>
              <a:rPr b="1" lang="en" sz="1700">
                <a:latin typeface="Times New Roman"/>
                <a:ea typeface="Times New Roman"/>
                <a:cs typeface="Times New Roman"/>
                <a:sym typeface="Times New Roman"/>
              </a:rPr>
              <a:t>female representation has consistently increased over time</a:t>
            </a:r>
            <a:r>
              <a:rPr lang="en" sz="170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7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b="1" lang="en" sz="1700">
                <a:latin typeface="Times New Roman"/>
                <a:ea typeface="Times New Roman"/>
                <a:cs typeface="Times New Roman"/>
                <a:sym typeface="Times New Roman"/>
              </a:rPr>
              <a:t>Winner strength varies across election years</a:t>
            </a:r>
            <a:r>
              <a:rPr lang="en" sz="1700">
                <a:latin typeface="Times New Roman"/>
                <a:ea typeface="Times New Roman"/>
                <a:cs typeface="Times New Roman"/>
                <a:sym typeface="Times New Roman"/>
              </a:rPr>
              <a:t>, reflecting changing electoral competitiveness.</a:t>
            </a:r>
            <a:endParaRPr sz="20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2"/>
          <p:cNvSpPr txBox="1"/>
          <p:nvPr>
            <p:ph type="title"/>
          </p:nvPr>
        </p:nvSpPr>
        <p:spPr>
          <a:xfrm>
            <a:off x="311700" y="1899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Future Enhancements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0" name="Google Shape;180;p22"/>
          <p:cNvSpPr txBox="1"/>
          <p:nvPr>
            <p:ph idx="1" type="body"/>
          </p:nvPr>
        </p:nvSpPr>
        <p:spPr>
          <a:xfrm>
            <a:off x="311700" y="797700"/>
            <a:ext cx="8709600" cy="390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Real-Time Data Integration</a:t>
            </a:r>
            <a:br>
              <a:rPr b="1" lang="en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Include recent and upcoming election data to support updated and near real-time election analysis.</a:t>
            </a:r>
            <a:endParaRPr sz="15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Demographic and Socio-Economic Analysis</a:t>
            </a:r>
            <a:br>
              <a:rPr b="1" lang="en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Combine election data with demographic and economic indicators to gain deeper insights into voting behavior.</a:t>
            </a:r>
            <a:endParaRPr sz="15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Predictive Election Modeling</a:t>
            </a:r>
            <a:br>
              <a:rPr b="1" lang="en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Apply predictive analytics and trend forecasting techniques to estimate future election outcomes.</a:t>
            </a:r>
            <a:endParaRPr sz="15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Enhanced Interactivity</a:t>
            </a:r>
            <a:br>
              <a:rPr b="1" lang="en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Enable drill-through pages and interactive tooltips for detailed constituency-wise and candidate-wise analysis.</a:t>
            </a:r>
            <a:endParaRPr sz="15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Cloud Deployment and Automation</a:t>
            </a:r>
            <a:br>
              <a:rPr b="1" lang="en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" sz="1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Publish dashboards on Power BI Service with automated refresh and role-based access for wider usability.</a:t>
            </a:r>
            <a:endParaRPr sz="15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6" name="Google Shape;186;p23"/>
          <p:cNvSpPr txBox="1"/>
          <p:nvPr>
            <p:ph idx="1" type="body"/>
          </p:nvPr>
        </p:nvSpPr>
        <p:spPr>
          <a:xfrm>
            <a:off x="453775" y="1017800"/>
            <a:ext cx="8255700" cy="321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just">
              <a:lnSpc>
                <a:spcPct val="130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" sz="184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ElectViz</a:t>
            </a:r>
            <a:r>
              <a:rPr lang="en" sz="184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successfully bridges the gap between raw electoral data and actionable public information by providing a centralized, automated visualization framework. By transforming complex datasets into intuitive, interactive dashboards featuring choropleth maps and swing-analysis charts, the platform overcomes the high latency and manual errors inherent in traditional reporting. The implementation of a robust data pipeline ensures that real-time insights enables newsrooms to identify critical "voter-shift" and "anti-incumbency" patterns instantly. Ultimately, this project offers a scalable, low-latency solution that enhances democratic transparency and provides broadcast-ready graphical insights for the digital age.</a:t>
            </a:r>
            <a:endParaRPr sz="133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4"/>
          <p:cNvSpPr txBox="1"/>
          <p:nvPr>
            <p:ph type="title"/>
          </p:nvPr>
        </p:nvSpPr>
        <p:spPr>
          <a:xfrm>
            <a:off x="311700" y="154950"/>
            <a:ext cx="8520600" cy="57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Acknowledgement 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2" name="Google Shape;192;p24"/>
          <p:cNvSpPr txBox="1"/>
          <p:nvPr>
            <p:ph idx="1" type="body"/>
          </p:nvPr>
        </p:nvSpPr>
        <p:spPr>
          <a:xfrm>
            <a:off x="369625" y="725250"/>
            <a:ext cx="8520600" cy="165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We </a:t>
            </a: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would</a:t>
            </a: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like to express our heartfelt gratitude to :</a:t>
            </a:r>
            <a:endParaRPr sz="1300">
              <a:solidFill>
                <a:srgbClr val="0A0A0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lnSpc>
                <a:spcPct val="83000"/>
              </a:lnSpc>
              <a:spcBef>
                <a:spcPts val="1200"/>
              </a:spcBef>
              <a:spcAft>
                <a:spcPts val="0"/>
              </a:spcAft>
              <a:buClr>
                <a:srgbClr val="0A0A0A"/>
              </a:buClr>
              <a:buSzPts val="1300"/>
              <a:buFont typeface="Times New Roman"/>
              <a:buChar char="-"/>
            </a:pPr>
            <a:r>
              <a:rPr b="1"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Infosys Springboard Team </a:t>
            </a: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 for organizing this valuable internship </a:t>
            </a: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opportunity</a:t>
            </a: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300">
              <a:solidFill>
                <a:srgbClr val="0A0A0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300"/>
              <a:buFont typeface="Times New Roman"/>
              <a:buChar char="-"/>
            </a:pPr>
            <a:r>
              <a:rPr b="1"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Our Mentor</a:t>
            </a: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- for her continuous support and feedback.</a:t>
            </a:r>
            <a:endParaRPr sz="1300">
              <a:solidFill>
                <a:srgbClr val="0A0A0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300"/>
              <a:buFont typeface="Times New Roman"/>
              <a:buChar char="-"/>
            </a:pPr>
            <a:r>
              <a:rPr b="1"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Our Teammates</a:t>
            </a: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- for collaboration, encouragement, and insights</a:t>
            </a:r>
            <a:endParaRPr sz="1300">
              <a:solidFill>
                <a:srgbClr val="0A0A0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83000"/>
              </a:lnSpc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This </a:t>
            </a: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internship</a:t>
            </a: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has been a significant step in our professional growth and technical journey and we are grateful to be a part of this great learning experience.</a:t>
            </a:r>
            <a:endParaRPr sz="1300">
              <a:solidFill>
                <a:srgbClr val="0A0A0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83000"/>
              </a:lnSpc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300"/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300"/>
          </a:p>
          <a:p>
            <a:pPr indent="0" lvl="0" marL="0" rtl="0" algn="l">
              <a:lnSpc>
                <a:spcPct val="80000"/>
              </a:lnSpc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t/>
            </a:r>
            <a:endParaRPr sz="1300"/>
          </a:p>
        </p:txBody>
      </p:sp>
      <p:sp>
        <p:nvSpPr>
          <p:cNvPr id="193" name="Google Shape;193;p24"/>
          <p:cNvSpPr txBox="1"/>
          <p:nvPr>
            <p:ph type="title"/>
          </p:nvPr>
        </p:nvSpPr>
        <p:spPr>
          <a:xfrm>
            <a:off x="369625" y="2320350"/>
            <a:ext cx="8520600" cy="50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Times New Roman"/>
                <a:ea typeface="Times New Roman"/>
                <a:cs typeface="Times New Roman"/>
                <a:sym typeface="Times New Roman"/>
              </a:rPr>
              <a:t>References  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4" name="Google Shape;194;p24"/>
          <p:cNvSpPr txBox="1"/>
          <p:nvPr>
            <p:ph idx="1" type="body"/>
          </p:nvPr>
        </p:nvSpPr>
        <p:spPr>
          <a:xfrm>
            <a:off x="369625" y="2947125"/>
            <a:ext cx="7446900" cy="170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300"/>
              <a:buFont typeface="Times New Roman"/>
              <a:buChar char="-"/>
            </a:pP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Election Dataset(Indian Election Dataset/ Kaggle source) </a:t>
            </a:r>
            <a:endParaRPr sz="1300">
              <a:solidFill>
                <a:srgbClr val="0A0A0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03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“Indian Election Dataset” by Nanadan Pandey           </a:t>
            </a:r>
            <a:r>
              <a:rPr lang="en" sz="1300" u="sng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https://www.kaggle.com/datasets/awadhi123/indian-election-dataset</a:t>
            </a:r>
            <a:endParaRPr sz="13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lnSpc>
                <a:spcPct val="103000"/>
              </a:lnSpc>
              <a:spcBef>
                <a:spcPts val="1200"/>
              </a:spcBef>
              <a:spcAft>
                <a:spcPts val="0"/>
              </a:spcAft>
              <a:buClr>
                <a:srgbClr val="0A0A0A"/>
              </a:buClr>
              <a:buSzPts val="1300"/>
              <a:buFont typeface="Times New Roman"/>
              <a:buChar char="-"/>
            </a:pPr>
            <a:r>
              <a:rPr lang="en" sz="13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Microsoft Power BI Documentation</a:t>
            </a:r>
            <a:endParaRPr sz="1300">
              <a:solidFill>
                <a:srgbClr val="0A0A0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1150" lvl="0" marL="457200" rtl="0"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300"/>
              <a:buFont typeface="Times New Roman"/>
              <a:buChar char="-"/>
            </a:pPr>
            <a:r>
              <a:rPr lang="en" sz="1300">
                <a:solidFill>
                  <a:srgbClr val="0A0A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Infosys Springboard Virtual Internship course materials</a:t>
            </a:r>
            <a:endParaRPr sz="1300">
              <a:solidFill>
                <a:srgbClr val="0A0A0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5"/>
          <p:cNvSpPr txBox="1"/>
          <p:nvPr>
            <p:ph type="title"/>
          </p:nvPr>
        </p:nvSpPr>
        <p:spPr>
          <a:xfrm>
            <a:off x="2059225" y="1131450"/>
            <a:ext cx="4645200" cy="1977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5600">
                <a:latin typeface="Times New Roman"/>
                <a:ea typeface="Times New Roman"/>
                <a:cs typeface="Times New Roman"/>
                <a:sym typeface="Times New Roman"/>
              </a:rPr>
              <a:t>Thankyou!</a:t>
            </a:r>
            <a:endParaRPr b="1" sz="5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