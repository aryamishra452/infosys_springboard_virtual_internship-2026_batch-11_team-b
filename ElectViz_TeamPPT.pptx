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311EA5-A83A-4F29-BE2C-461A31F7874E}">
  <a:tblStyle styleId="{85311EA5-A83A-4F29-BE2C-461A31F7874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5.xml"/><Relationship Id="rId22" Type="http://schemas.openxmlformats.org/officeDocument/2006/relationships/font" Target="fonts/Roboto-italic.fntdata"/><Relationship Id="rId10" Type="http://schemas.openxmlformats.org/officeDocument/2006/relationships/slide" Target="slides/slide4.xml"/><Relationship Id="rId21" Type="http://schemas.openxmlformats.org/officeDocument/2006/relationships/font" Target="fonts/Roboto-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c8ab441a6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c8ab441a6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da4e5dd89_0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da4e5dd89_0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6ad67ad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c6ad67ad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ef3d3c22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ef3d3c22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d9592cb7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d9592cb7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d9592cb7e_0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bd9592cb7e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bd9592cb7e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bd9592cb7e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bc8ab441a6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bc8ab441a6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d617c27d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bd617c27d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c8ab441a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bc8ab441a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bc8ab441a6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bc8ab441a6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c8ab441a6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bc8ab441a6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kaggle.com/datasets/awadhi123/indian-election-datase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206700"/>
            <a:ext cx="8087400" cy="190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Infosys SpringBoard Virtual Internship Batch 11 Group 1 - ElectViz Election Data Visualization for Media</a:t>
            </a:r>
            <a:endParaRPr sz="3600"/>
          </a:p>
        </p:txBody>
      </p:sp>
      <p:sp>
        <p:nvSpPr>
          <p:cNvPr id="86" name="Google Shape;86;p13"/>
          <p:cNvSpPr txBox="1"/>
          <p:nvPr>
            <p:ph idx="1" type="subTitle"/>
          </p:nvPr>
        </p:nvSpPr>
        <p:spPr>
          <a:xfrm>
            <a:off x="598100" y="2571750"/>
            <a:ext cx="8222100" cy="2571600"/>
          </a:xfrm>
          <a:prstGeom prst="rect">
            <a:avLst/>
          </a:prstGeom>
        </p:spPr>
        <p:txBody>
          <a:bodyPr anchorCtr="0" anchor="t" bIns="91425" lIns="91425" spcFirstLastPara="1" rIns="91425" wrap="square" tIns="91425">
            <a:normAutofit fontScale="92500"/>
          </a:bodyPr>
          <a:lstStyle/>
          <a:p>
            <a:pPr indent="0" lvl="0" marL="0" rtl="0" algn="ctr">
              <a:lnSpc>
                <a:spcPct val="100000"/>
              </a:lnSpc>
              <a:spcBef>
                <a:spcPts val="0"/>
              </a:spcBef>
              <a:spcAft>
                <a:spcPts val="0"/>
              </a:spcAft>
              <a:buNone/>
            </a:pPr>
            <a:r>
              <a:rPr lang="en"/>
              <a:t>                                                                                Under the supervision of :</a:t>
            </a:r>
            <a:endParaRPr/>
          </a:p>
          <a:p>
            <a:pPr indent="0" lvl="0" marL="0" rtl="0" algn="l">
              <a:lnSpc>
                <a:spcPct val="100000"/>
              </a:lnSpc>
              <a:spcBef>
                <a:spcPts val="0"/>
              </a:spcBef>
              <a:spcAft>
                <a:spcPts val="0"/>
              </a:spcAft>
              <a:buNone/>
            </a:pPr>
            <a:r>
              <a:rPr lang="en"/>
              <a:t>                                                                                           Mrs.Nithyasri S J</a:t>
            </a:r>
            <a:endParaRPr/>
          </a:p>
          <a:p>
            <a:pPr indent="0" lvl="0" marL="0" rtl="0" algn="ctr">
              <a:lnSpc>
                <a:spcPct val="100000"/>
              </a:lnSpc>
              <a:spcBef>
                <a:spcPts val="0"/>
              </a:spcBef>
              <a:spcAft>
                <a:spcPts val="0"/>
              </a:spcAft>
              <a:buNone/>
            </a:pPr>
            <a:r>
              <a:rPr lang="en"/>
              <a:t>                                                                              </a:t>
            </a:r>
            <a:endParaRPr/>
          </a:p>
          <a:p>
            <a:pPr indent="0" lvl="0" marL="0" rtl="0" algn="ctr">
              <a:lnSpc>
                <a:spcPct val="100000"/>
              </a:lnSpc>
              <a:spcBef>
                <a:spcPts val="0"/>
              </a:spcBef>
              <a:spcAft>
                <a:spcPts val="0"/>
              </a:spcAft>
              <a:buNone/>
            </a:pPr>
            <a:r>
              <a:rPr lang="en"/>
              <a:t>                                                                                 Interns (</a:t>
            </a:r>
            <a:r>
              <a:rPr lang="en"/>
              <a:t>Team B)</a:t>
            </a:r>
            <a:r>
              <a:rPr lang="en"/>
              <a:t>:</a:t>
            </a:r>
            <a:endParaRPr/>
          </a:p>
          <a:p>
            <a:pPr indent="0" lvl="0" marL="0" rtl="0" algn="ctr">
              <a:lnSpc>
                <a:spcPct val="100000"/>
              </a:lnSpc>
              <a:spcBef>
                <a:spcPts val="0"/>
              </a:spcBef>
              <a:spcAft>
                <a:spcPts val="0"/>
              </a:spcAft>
              <a:buNone/>
            </a:pPr>
            <a:r>
              <a:rPr lang="en"/>
              <a:t>                                                                                Arya Mishra</a:t>
            </a:r>
            <a:endParaRPr/>
          </a:p>
          <a:p>
            <a:pPr indent="0" lvl="0" marL="0" rtl="0" algn="ctr">
              <a:lnSpc>
                <a:spcPct val="100000"/>
              </a:lnSpc>
              <a:spcBef>
                <a:spcPts val="0"/>
              </a:spcBef>
              <a:spcAft>
                <a:spcPts val="0"/>
              </a:spcAft>
              <a:buNone/>
            </a:pPr>
            <a:r>
              <a:rPr lang="en"/>
              <a:t>                                                                                Kritika Balpande</a:t>
            </a:r>
            <a:endParaRPr/>
          </a:p>
          <a:p>
            <a:pPr indent="0" lvl="0" marL="0" rtl="0" algn="ctr">
              <a:lnSpc>
                <a:spcPct val="100000"/>
              </a:lnSpc>
              <a:spcBef>
                <a:spcPts val="0"/>
              </a:spcBef>
              <a:spcAft>
                <a:spcPts val="0"/>
              </a:spcAft>
              <a:buNone/>
            </a:pPr>
            <a:r>
              <a:rPr lang="en"/>
              <a:t>                                                                                 Radha sri</a:t>
            </a:r>
            <a:endParaRPr/>
          </a:p>
          <a:p>
            <a:pPr indent="0" lvl="0" marL="0" rtl="0" algn="ctr">
              <a:lnSpc>
                <a:spcPct val="100000"/>
              </a:lnSpc>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p:txBody>
      </p:sp>
      <p:sp>
        <p:nvSpPr>
          <p:cNvPr id="92" name="Google Shape;92;p14"/>
          <p:cNvSpPr txBox="1"/>
          <p:nvPr>
            <p:ph idx="1" type="body"/>
          </p:nvPr>
        </p:nvSpPr>
        <p:spPr>
          <a:xfrm>
            <a:off x="311700" y="938300"/>
            <a:ext cx="8520600" cy="38538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Electviz is data visualization project developed using power BI . </a:t>
            </a:r>
            <a:endParaRPr sz="1600">
              <a:solidFill>
                <a:srgbClr val="000000"/>
              </a:solidFill>
              <a:latin typeface="Times New Roman"/>
              <a:ea typeface="Times New Roman"/>
              <a:cs typeface="Times New Roman"/>
              <a:sym typeface="Times New Roman"/>
            </a:endParaRPr>
          </a:p>
          <a:p>
            <a:pPr indent="-330200" lvl="0" marL="457200" rtl="0" algn="l">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Electviz</a:t>
            </a:r>
            <a:r>
              <a:rPr lang="en" sz="1600">
                <a:solidFill>
                  <a:srgbClr val="000000"/>
                </a:solidFill>
                <a:latin typeface="Times New Roman"/>
                <a:ea typeface="Times New Roman"/>
                <a:cs typeface="Times New Roman"/>
                <a:sym typeface="Times New Roman"/>
              </a:rPr>
              <a:t> transform large scale election data into interactive and informative dashboard that present clear analysis and insights from raw election data in an engaging manner , thereby improving clarity, transparency, and understanding.</a:t>
            </a:r>
            <a:endParaRPr sz="1600">
              <a:solidFill>
                <a:srgbClr val="000000"/>
              </a:solidFill>
              <a:latin typeface="Times New Roman"/>
              <a:ea typeface="Times New Roman"/>
              <a:cs typeface="Times New Roman"/>
              <a:sym typeface="Times New Roman"/>
            </a:endParaRPr>
          </a:p>
          <a:p>
            <a:pPr indent="-330200" lvl="0" marL="457200" rtl="0" algn="l">
              <a:lnSpc>
                <a:spcPct val="1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The problem addressed by the ElectViz project is the absence of an interactive and visual analytical system that can simplify complex election datasets while maintaining accuracy and depth of analysis. </a:t>
            </a:r>
            <a:endParaRPr sz="1600">
              <a:solidFill>
                <a:srgbClr val="0A0A0A"/>
              </a:solidFill>
              <a:highlight>
                <a:srgbClr val="FFFFFF"/>
              </a:highlight>
              <a:latin typeface="Times New Roman"/>
              <a:ea typeface="Times New Roman"/>
              <a:cs typeface="Times New Roman"/>
              <a:sym typeface="Times New Roman"/>
            </a:endParaRPr>
          </a:p>
          <a:p>
            <a:pPr indent="-330200" lvl="0" marL="457200" rtl="0" algn="l">
              <a:lnSpc>
                <a:spcPct val="1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By leveraging Power BI’s visualization and interactivity features, the project enables users to explore election data efficiently, supporting transparent, fact-based interpretation and enhanced political reporting.</a:t>
            </a:r>
            <a:endParaRPr sz="1600">
              <a:solidFill>
                <a:srgbClr val="000000"/>
              </a:solidFill>
              <a:latin typeface="Times New Roman"/>
              <a:ea typeface="Times New Roman"/>
              <a:cs typeface="Times New Roman"/>
              <a:sym typeface="Times New Roman"/>
            </a:endParaRPr>
          </a:p>
          <a:p>
            <a:pPr indent="0" lvl="0" marL="0" rtl="0" algn="l">
              <a:spcBef>
                <a:spcPts val="10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Beautify this slide" id="97" name="Google Shape;97;p15"/>
          <p:cNvPicPr preferRelativeResize="0"/>
          <p:nvPr/>
        </p:nvPicPr>
        <p:blipFill rotWithShape="1">
          <a:blip r:embed="rId3">
            <a:alphaModFix/>
          </a:blip>
          <a:srcRect b="0" l="0" r="0" t="18032"/>
          <a:stretch/>
        </p:blipFill>
        <p:spPr>
          <a:xfrm>
            <a:off x="-35700" y="927425"/>
            <a:ext cx="9210675" cy="4216076"/>
          </a:xfrm>
          <a:prstGeom prst="rect">
            <a:avLst/>
          </a:prstGeom>
          <a:noFill/>
          <a:ln>
            <a:noFill/>
          </a:ln>
        </p:spPr>
      </p:pic>
      <p:sp>
        <p:nvSpPr>
          <p:cNvPr id="98" name="Google Shape;98;p15"/>
          <p:cNvSpPr txBox="1"/>
          <p:nvPr>
            <p:ph idx="4294967295" type="title"/>
          </p:nvPr>
        </p:nvSpPr>
        <p:spPr>
          <a:xfrm>
            <a:off x="230600" y="213075"/>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Objectives</a:t>
            </a:r>
            <a:endParaRPr b="1">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grpSp>
        <p:nvGrpSpPr>
          <p:cNvPr id="103" name="Google Shape;103;p16"/>
          <p:cNvGrpSpPr/>
          <p:nvPr/>
        </p:nvGrpSpPr>
        <p:grpSpPr>
          <a:xfrm flipH="1">
            <a:off x="5543897" y="2611639"/>
            <a:ext cx="3231128" cy="1243361"/>
            <a:chOff x="650399" y="1767509"/>
            <a:chExt cx="3231128" cy="1243361"/>
          </a:xfrm>
        </p:grpSpPr>
        <p:sp>
          <p:nvSpPr>
            <p:cNvPr id="104" name="Google Shape;104;p16"/>
            <p:cNvSpPr txBox="1"/>
            <p:nvPr/>
          </p:nvSpPr>
          <p:spPr>
            <a:xfrm>
              <a:off x="650399" y="1923970"/>
              <a:ext cx="2077200" cy="108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Times New Roman"/>
                  <a:ea typeface="Times New Roman"/>
                  <a:cs typeface="Times New Roman"/>
                  <a:sym typeface="Times New Roman"/>
                </a:rPr>
                <a:t>Milestone 3</a:t>
              </a:r>
              <a:endParaRPr b="1" sz="1200">
                <a:latin typeface="Times New Roman"/>
                <a:ea typeface="Times New Roman"/>
                <a:cs typeface="Times New Roman"/>
                <a:sym typeface="Times New Roman"/>
              </a:endParaRPr>
            </a:p>
            <a:p>
              <a:pPr indent="0" lvl="0" marL="0" rtl="0" algn="l">
                <a:spcBef>
                  <a:spcPts val="0"/>
                </a:spcBef>
                <a:spcAft>
                  <a:spcPts val="0"/>
                </a:spcAft>
                <a:buNone/>
              </a:pPr>
              <a:r>
                <a:t/>
              </a:r>
              <a:endParaRPr b="1" sz="800">
                <a:latin typeface="Times New Roman"/>
                <a:ea typeface="Times New Roman"/>
                <a:cs typeface="Times New Roman"/>
                <a:sym typeface="Times New Roman"/>
              </a:endParaRPr>
            </a:p>
            <a:p>
              <a:pPr indent="0" lvl="0" marL="0" rtl="0" algn="just">
                <a:spcBef>
                  <a:spcPts val="0"/>
                </a:spcBef>
                <a:spcAft>
                  <a:spcPts val="1600"/>
                </a:spcAft>
                <a:buNone/>
              </a:pPr>
              <a:r>
                <a:rPr lang="en" sz="1150">
                  <a:latin typeface="Times New Roman"/>
                  <a:ea typeface="Times New Roman"/>
                  <a:cs typeface="Times New Roman"/>
                  <a:sym typeface="Times New Roman"/>
                </a:rPr>
                <a:t>After analysing party performance and distribution of parliamentary constituency . The two more dashboard i.e. Year wise analysis and state level analysis added .</a:t>
              </a:r>
              <a:endParaRPr sz="1150">
                <a:latin typeface="Times New Roman"/>
                <a:ea typeface="Times New Roman"/>
                <a:cs typeface="Times New Roman"/>
                <a:sym typeface="Times New Roman"/>
              </a:endParaRPr>
            </a:p>
          </p:txBody>
        </p:sp>
        <p:cxnSp>
          <p:nvCxnSpPr>
            <p:cNvPr id="105" name="Google Shape;105;p16"/>
            <p:cNvCxnSpPr>
              <a:endCxn id="106" idx="3"/>
            </p:cNvCxnSpPr>
            <p:nvPr/>
          </p:nvCxnSpPr>
          <p:spPr>
            <a:xfrm rot="10800000">
              <a:off x="3243427" y="1923959"/>
              <a:ext cx="638100" cy="0"/>
            </a:xfrm>
            <a:prstGeom prst="straightConnector1">
              <a:avLst/>
            </a:prstGeom>
            <a:noFill/>
            <a:ln cap="flat" cmpd="sng" w="9525">
              <a:solidFill>
                <a:srgbClr val="C2C2C2"/>
              </a:solidFill>
              <a:prstDash val="solid"/>
              <a:round/>
              <a:headEnd len="sm" w="sm" type="none"/>
              <a:tailEnd len="sm" w="sm" type="none"/>
            </a:ln>
          </p:spPr>
        </p:cxnSp>
        <p:sp>
          <p:nvSpPr>
            <p:cNvPr id="107" name="Google Shape;107;p16"/>
            <p:cNvSpPr/>
            <p:nvPr/>
          </p:nvSpPr>
          <p:spPr>
            <a:xfrm>
              <a:off x="3020371" y="1824826"/>
              <a:ext cx="198600" cy="198300"/>
            </a:xfrm>
            <a:prstGeom prst="ellipse">
              <a:avLst/>
            </a:prstGeom>
            <a:solidFill>
              <a:srgbClr val="80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txBox="1"/>
            <p:nvPr/>
          </p:nvSpPr>
          <p:spPr>
            <a:xfrm>
              <a:off x="2995927" y="1767509"/>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grpSp>
      <p:grpSp>
        <p:nvGrpSpPr>
          <p:cNvPr id="108" name="Google Shape;108;p16"/>
          <p:cNvGrpSpPr/>
          <p:nvPr/>
        </p:nvGrpSpPr>
        <p:grpSpPr>
          <a:xfrm>
            <a:off x="306525" y="2788575"/>
            <a:ext cx="3548729" cy="1282800"/>
            <a:chOff x="628505" y="1448770"/>
            <a:chExt cx="3548729" cy="1282800"/>
          </a:xfrm>
        </p:grpSpPr>
        <p:sp>
          <p:nvSpPr>
            <p:cNvPr id="109" name="Google Shape;109;p16"/>
            <p:cNvSpPr txBox="1"/>
            <p:nvPr/>
          </p:nvSpPr>
          <p:spPr>
            <a:xfrm>
              <a:off x="628505" y="1448770"/>
              <a:ext cx="2306100" cy="1282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200">
                  <a:latin typeface="Times New Roman"/>
                  <a:ea typeface="Times New Roman"/>
                  <a:cs typeface="Times New Roman"/>
                  <a:sym typeface="Times New Roman"/>
                </a:rPr>
                <a:t>Milestone </a:t>
              </a:r>
              <a:r>
                <a:rPr b="1" lang="en" sz="1200">
                  <a:latin typeface="Roboto"/>
                  <a:ea typeface="Roboto"/>
                  <a:cs typeface="Roboto"/>
                  <a:sym typeface="Roboto"/>
                </a:rPr>
                <a:t>4</a:t>
              </a:r>
              <a:endParaRPr b="1" sz="1200">
                <a:latin typeface="Roboto"/>
                <a:ea typeface="Roboto"/>
                <a:cs typeface="Roboto"/>
                <a:sym typeface="Roboto"/>
              </a:endParaRPr>
            </a:p>
            <a:p>
              <a:pPr indent="0" lvl="0" marL="0" rtl="0" algn="l">
                <a:spcBef>
                  <a:spcPts val="0"/>
                </a:spcBef>
                <a:spcAft>
                  <a:spcPts val="0"/>
                </a:spcAft>
                <a:buNone/>
              </a:pPr>
              <a:r>
                <a:t/>
              </a:r>
              <a:endParaRPr b="1" sz="1200">
                <a:latin typeface="Roboto"/>
                <a:ea typeface="Roboto"/>
                <a:cs typeface="Roboto"/>
                <a:sym typeface="Roboto"/>
              </a:endParaRPr>
            </a:p>
            <a:p>
              <a:pPr indent="0" lvl="0" marL="0" rtl="0" algn="just">
                <a:spcBef>
                  <a:spcPts val="0"/>
                </a:spcBef>
                <a:spcAft>
                  <a:spcPts val="1600"/>
                </a:spcAft>
                <a:buNone/>
              </a:pPr>
              <a:r>
                <a:rPr lang="en" sz="1150">
                  <a:latin typeface="Times New Roman"/>
                  <a:ea typeface="Times New Roman"/>
                  <a:cs typeface="Times New Roman"/>
                  <a:sym typeface="Times New Roman"/>
                </a:rPr>
                <a:t>After year wise and state level analysis , the three dashboard i.e. candidate performance analysis , Gender wise analysis and electoral competitiveness to understand gender representation , party performance and competitive nature of election.</a:t>
              </a:r>
              <a:endParaRPr b="1" sz="1150">
                <a:latin typeface="Times New Roman"/>
                <a:ea typeface="Times New Roman"/>
                <a:cs typeface="Times New Roman"/>
                <a:sym typeface="Times New Roman"/>
              </a:endParaRPr>
            </a:p>
          </p:txBody>
        </p:sp>
        <p:cxnSp>
          <p:nvCxnSpPr>
            <p:cNvPr id="110" name="Google Shape;110;p16"/>
            <p:cNvCxnSpPr/>
            <p:nvPr/>
          </p:nvCxnSpPr>
          <p:spPr>
            <a:xfrm rot="10800000">
              <a:off x="3046834" y="2215329"/>
              <a:ext cx="1130400" cy="0"/>
            </a:xfrm>
            <a:prstGeom prst="straightConnector1">
              <a:avLst/>
            </a:prstGeom>
            <a:noFill/>
            <a:ln cap="flat" cmpd="sng" w="9525">
              <a:solidFill>
                <a:srgbClr val="C2C2C2"/>
              </a:solidFill>
              <a:prstDash val="solid"/>
              <a:round/>
              <a:headEnd len="sm" w="sm" type="none"/>
              <a:tailEnd len="sm" w="sm" type="none"/>
            </a:ln>
          </p:spPr>
        </p:cxnSp>
        <p:sp>
          <p:nvSpPr>
            <p:cNvPr id="111" name="Google Shape;111;p16"/>
            <p:cNvSpPr/>
            <p:nvPr/>
          </p:nvSpPr>
          <p:spPr>
            <a:xfrm>
              <a:off x="3020371" y="2111851"/>
              <a:ext cx="198600" cy="198300"/>
            </a:xfrm>
            <a:prstGeom prst="ellipse">
              <a:avLst/>
            </a:prstGeom>
            <a:solidFill>
              <a:srgbClr val="93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6"/>
            <p:cNvSpPr txBox="1"/>
            <p:nvPr/>
          </p:nvSpPr>
          <p:spPr>
            <a:xfrm>
              <a:off x="2995927" y="2051434"/>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grpSp>
      <p:grpSp>
        <p:nvGrpSpPr>
          <p:cNvPr id="113" name="Google Shape;113;p16"/>
          <p:cNvGrpSpPr/>
          <p:nvPr/>
        </p:nvGrpSpPr>
        <p:grpSpPr>
          <a:xfrm flipH="1">
            <a:off x="4755243" y="-74750"/>
            <a:ext cx="4326307" cy="2587500"/>
            <a:chOff x="343874" y="143895"/>
            <a:chExt cx="4326307" cy="2587500"/>
          </a:xfrm>
        </p:grpSpPr>
        <p:sp>
          <p:nvSpPr>
            <p:cNvPr id="114" name="Google Shape;114;p16"/>
            <p:cNvSpPr txBox="1"/>
            <p:nvPr/>
          </p:nvSpPr>
          <p:spPr>
            <a:xfrm>
              <a:off x="343874" y="143895"/>
              <a:ext cx="2941800" cy="25875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b="1" lang="en" sz="1200">
                  <a:latin typeface="Times New Roman"/>
                  <a:ea typeface="Times New Roman"/>
                  <a:cs typeface="Times New Roman"/>
                  <a:sym typeface="Times New Roman"/>
                </a:rPr>
                <a:t>Milestone 1  (</a:t>
              </a:r>
              <a:r>
                <a:rPr b="1" lang="en" sz="1200">
                  <a:latin typeface="Times New Roman"/>
                  <a:ea typeface="Times New Roman"/>
                  <a:cs typeface="Times New Roman"/>
                  <a:sym typeface="Times New Roman"/>
                </a:rPr>
                <a:t>Data Collection and Preprocessing )</a:t>
              </a:r>
              <a:endParaRPr b="1" sz="12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150">
                  <a:latin typeface="Times New Roman"/>
                  <a:ea typeface="Times New Roman"/>
                  <a:cs typeface="Times New Roman"/>
                  <a:sym typeface="Times New Roman"/>
                </a:rPr>
                <a:t>The dataset collected from kaggle ‘Indian Election Dataset’.</a:t>
              </a:r>
              <a:endParaRPr sz="1150">
                <a:latin typeface="Times New Roman"/>
                <a:ea typeface="Times New Roman"/>
                <a:cs typeface="Times New Roman"/>
                <a:sym typeface="Times New Roman"/>
              </a:endParaRPr>
            </a:p>
            <a:p>
              <a:pPr indent="0" lvl="0" marL="0" rtl="0" algn="l">
                <a:spcBef>
                  <a:spcPts val="0"/>
                </a:spcBef>
                <a:spcAft>
                  <a:spcPts val="0"/>
                </a:spcAft>
                <a:buNone/>
              </a:pPr>
              <a:r>
                <a:rPr lang="en" sz="1150">
                  <a:latin typeface="Times New Roman"/>
                  <a:ea typeface="Times New Roman"/>
                  <a:cs typeface="Times New Roman"/>
                  <a:sym typeface="Times New Roman"/>
                </a:rPr>
                <a:t>Before creating dashboard we first preprocessed the data by handling null values and missing values , identifying duplicate rows and standardising values of categorical columns like state name and party name .</a:t>
              </a:r>
              <a:endParaRPr sz="1150">
                <a:latin typeface="Times New Roman"/>
                <a:ea typeface="Times New Roman"/>
                <a:cs typeface="Times New Roman"/>
                <a:sym typeface="Times New Roman"/>
              </a:endParaRPr>
            </a:p>
            <a:p>
              <a:pPr indent="0" lvl="0" marL="0" rtl="0" algn="l">
                <a:spcBef>
                  <a:spcPts val="0"/>
                </a:spcBef>
                <a:spcAft>
                  <a:spcPts val="0"/>
                </a:spcAft>
                <a:buNone/>
              </a:pPr>
              <a:r>
                <a:rPr lang="en" sz="1150">
                  <a:latin typeface="Times New Roman"/>
                  <a:ea typeface="Times New Roman"/>
                  <a:cs typeface="Times New Roman"/>
                  <a:sym typeface="Times New Roman"/>
                </a:rPr>
                <a:t>Also custom column creation like turnout% and winner.</a:t>
              </a:r>
              <a:endParaRPr sz="1150">
                <a:latin typeface="Times New Roman"/>
                <a:ea typeface="Times New Roman"/>
                <a:cs typeface="Times New Roman"/>
                <a:sym typeface="Times New Roman"/>
              </a:endParaRPr>
            </a:p>
          </p:txBody>
        </p:sp>
        <p:cxnSp>
          <p:nvCxnSpPr>
            <p:cNvPr id="115" name="Google Shape;115;p16"/>
            <p:cNvCxnSpPr>
              <a:endCxn id="116" idx="1"/>
            </p:cNvCxnSpPr>
            <p:nvPr/>
          </p:nvCxnSpPr>
          <p:spPr>
            <a:xfrm rot="10800000">
              <a:off x="3569180" y="1385545"/>
              <a:ext cx="1101000" cy="52500"/>
            </a:xfrm>
            <a:prstGeom prst="straightConnector1">
              <a:avLst/>
            </a:prstGeom>
            <a:noFill/>
            <a:ln cap="flat" cmpd="sng" w="9525">
              <a:solidFill>
                <a:srgbClr val="C2C2C2"/>
              </a:solidFill>
              <a:prstDash val="solid"/>
              <a:round/>
              <a:headEnd len="sm" w="sm" type="none"/>
              <a:tailEnd len="sm" w="sm" type="none"/>
            </a:ln>
          </p:spPr>
        </p:cxnSp>
        <p:sp>
          <p:nvSpPr>
            <p:cNvPr id="117" name="Google Shape;117;p16"/>
            <p:cNvSpPr/>
            <p:nvPr/>
          </p:nvSpPr>
          <p:spPr>
            <a:xfrm>
              <a:off x="3328121" y="1286401"/>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6"/>
            <p:cNvSpPr txBox="1"/>
            <p:nvPr/>
          </p:nvSpPr>
          <p:spPr>
            <a:xfrm flipH="1">
              <a:off x="3285680" y="1229095"/>
              <a:ext cx="283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grpSp>
      <p:grpSp>
        <p:nvGrpSpPr>
          <p:cNvPr id="118" name="Google Shape;118;p16"/>
          <p:cNvGrpSpPr/>
          <p:nvPr/>
        </p:nvGrpSpPr>
        <p:grpSpPr>
          <a:xfrm>
            <a:off x="2817247" y="771060"/>
            <a:ext cx="3671622" cy="3900367"/>
            <a:chOff x="3217473" y="1225350"/>
            <a:chExt cx="3118150" cy="3159727"/>
          </a:xfrm>
        </p:grpSpPr>
        <p:sp>
          <p:nvSpPr>
            <p:cNvPr id="119" name="Google Shape;119;p16"/>
            <p:cNvSpPr/>
            <p:nvPr/>
          </p:nvSpPr>
          <p:spPr>
            <a:xfrm>
              <a:off x="3579175" y="2711400"/>
              <a:ext cx="2396410" cy="97116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p:spPr>
        </p:sp>
        <p:sp>
          <p:nvSpPr>
            <p:cNvPr id="120" name="Google Shape;120;p16"/>
            <p:cNvSpPr/>
            <p:nvPr/>
          </p:nvSpPr>
          <p:spPr>
            <a:xfrm>
              <a:off x="3730755" y="2527208"/>
              <a:ext cx="2079127" cy="837209"/>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p:spPr>
        </p:sp>
        <p:sp>
          <p:nvSpPr>
            <p:cNvPr id="121" name="Google Shape;121;p16"/>
            <p:cNvSpPr/>
            <p:nvPr/>
          </p:nvSpPr>
          <p:spPr>
            <a:xfrm>
              <a:off x="3946479" y="2252239"/>
              <a:ext cx="1647477" cy="663383"/>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p:spPr>
        </p:sp>
        <p:sp>
          <p:nvSpPr>
            <p:cNvPr id="122" name="Google Shape;122;p16"/>
            <p:cNvSpPr/>
            <p:nvPr/>
          </p:nvSpPr>
          <p:spPr>
            <a:xfrm>
              <a:off x="4265445" y="1828277"/>
              <a:ext cx="1014014" cy="416547"/>
            </a:xfrm>
            <a:custGeom>
              <a:rect b="b" l="l" r="r" t="t"/>
              <a:pathLst>
                <a:path extrusionOk="0" h="8150" w="24053">
                  <a:moveTo>
                    <a:pt x="0" y="3827"/>
                  </a:moveTo>
                  <a:lnTo>
                    <a:pt x="11976" y="8150"/>
                  </a:lnTo>
                  <a:lnTo>
                    <a:pt x="24053" y="3827"/>
                  </a:lnTo>
                  <a:lnTo>
                    <a:pt x="12126" y="0"/>
                  </a:lnTo>
                  <a:close/>
                </a:path>
              </a:pathLst>
            </a:custGeom>
            <a:solidFill>
              <a:srgbClr val="D9D9D9"/>
            </a:solidFill>
            <a:ln>
              <a:noFill/>
            </a:ln>
          </p:spPr>
        </p:sp>
        <p:sp>
          <p:nvSpPr>
            <p:cNvPr id="123" name="Google Shape;123;p16"/>
            <p:cNvSpPr/>
            <p:nvPr/>
          </p:nvSpPr>
          <p:spPr>
            <a:xfrm>
              <a:off x="3217473" y="3154705"/>
              <a:ext cx="1559116" cy="1230372"/>
            </a:xfrm>
            <a:custGeom>
              <a:rect b="b" l="l" r="r" t="t"/>
              <a:pathLst>
                <a:path extrusionOk="0" h="20822" w="31954">
                  <a:moveTo>
                    <a:pt x="7355" y="0"/>
                  </a:moveTo>
                  <a:lnTo>
                    <a:pt x="31954" y="8796"/>
                  </a:lnTo>
                  <a:lnTo>
                    <a:pt x="31954" y="20822"/>
                  </a:lnTo>
                  <a:lnTo>
                    <a:pt x="0" y="8895"/>
                  </a:lnTo>
                  <a:close/>
                </a:path>
              </a:pathLst>
            </a:custGeom>
            <a:solidFill>
              <a:srgbClr val="561561"/>
            </a:solidFill>
            <a:ln>
              <a:noFill/>
            </a:ln>
          </p:spPr>
        </p:sp>
        <p:sp>
          <p:nvSpPr>
            <p:cNvPr id="124" name="Google Shape;124;p16"/>
            <p:cNvSpPr/>
            <p:nvPr/>
          </p:nvSpPr>
          <p:spPr>
            <a:xfrm>
              <a:off x="3790596" y="2554725"/>
              <a:ext cx="982143" cy="653205"/>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p:spPr>
        </p:sp>
        <p:sp>
          <p:nvSpPr>
            <p:cNvPr id="125" name="Google Shape;125;p16"/>
            <p:cNvSpPr/>
            <p:nvPr/>
          </p:nvSpPr>
          <p:spPr>
            <a:xfrm flipH="1">
              <a:off x="4770690" y="2554725"/>
              <a:ext cx="982143" cy="653205"/>
            </a:xfrm>
            <a:custGeom>
              <a:rect b="b" l="l" r="r" t="t"/>
              <a:pathLst>
                <a:path extrusionOk="0" h="12771" w="23257">
                  <a:moveTo>
                    <a:pt x="3727" y="0"/>
                  </a:moveTo>
                  <a:lnTo>
                    <a:pt x="0" y="4522"/>
                  </a:lnTo>
                  <a:lnTo>
                    <a:pt x="23257" y="12771"/>
                  </a:lnTo>
                  <a:lnTo>
                    <a:pt x="23257" y="7056"/>
                  </a:lnTo>
                  <a:close/>
                </a:path>
              </a:pathLst>
            </a:custGeom>
            <a:solidFill>
              <a:srgbClr val="F4B400"/>
            </a:solidFill>
            <a:ln>
              <a:noFill/>
            </a:ln>
          </p:spPr>
        </p:sp>
        <p:sp>
          <p:nvSpPr>
            <p:cNvPr id="126" name="Google Shape;126;p16"/>
            <p:cNvSpPr/>
            <p:nvPr/>
          </p:nvSpPr>
          <p:spPr>
            <a:xfrm>
              <a:off x="4002555" y="2023456"/>
              <a:ext cx="770191" cy="721896"/>
            </a:xfrm>
            <a:custGeom>
              <a:rect b="b" l="l" r="r" t="t"/>
              <a:pathLst>
                <a:path extrusionOk="0" h="14114" w="18238">
                  <a:moveTo>
                    <a:pt x="6262" y="0"/>
                  </a:moveTo>
                  <a:lnTo>
                    <a:pt x="18238" y="4324"/>
                  </a:lnTo>
                  <a:lnTo>
                    <a:pt x="18238" y="14114"/>
                  </a:lnTo>
                  <a:lnTo>
                    <a:pt x="0" y="7554"/>
                  </a:lnTo>
                  <a:close/>
                </a:path>
              </a:pathLst>
            </a:custGeom>
            <a:solidFill>
              <a:srgbClr val="561561"/>
            </a:solidFill>
            <a:ln>
              <a:noFill/>
            </a:ln>
          </p:spPr>
        </p:sp>
        <p:sp>
          <p:nvSpPr>
            <p:cNvPr id="127" name="Google Shape;127;p16"/>
            <p:cNvSpPr/>
            <p:nvPr/>
          </p:nvSpPr>
          <p:spPr>
            <a:xfrm flipH="1">
              <a:off x="4770683" y="2023456"/>
              <a:ext cx="770191" cy="721896"/>
            </a:xfrm>
            <a:custGeom>
              <a:rect b="b" l="l" r="r" t="t"/>
              <a:pathLst>
                <a:path extrusionOk="0" h="14114" w="18238">
                  <a:moveTo>
                    <a:pt x="6262" y="0"/>
                  </a:moveTo>
                  <a:lnTo>
                    <a:pt x="18238" y="4324"/>
                  </a:lnTo>
                  <a:lnTo>
                    <a:pt x="18238" y="14114"/>
                  </a:lnTo>
                  <a:lnTo>
                    <a:pt x="0" y="7554"/>
                  </a:lnTo>
                  <a:close/>
                </a:path>
              </a:pathLst>
            </a:custGeom>
            <a:solidFill>
              <a:srgbClr val="771E86"/>
            </a:solidFill>
            <a:ln>
              <a:noFill/>
            </a:ln>
          </p:spPr>
        </p:sp>
        <p:sp>
          <p:nvSpPr>
            <p:cNvPr id="128" name="Google Shape;128;p16"/>
            <p:cNvSpPr/>
            <p:nvPr/>
          </p:nvSpPr>
          <p:spPr>
            <a:xfrm>
              <a:off x="4323640" y="1225350"/>
              <a:ext cx="449116" cy="854010"/>
            </a:xfrm>
            <a:custGeom>
              <a:rect b="b" l="l" r="r" t="t"/>
              <a:pathLst>
                <a:path extrusionOk="0" h="16697" w="10635">
                  <a:moveTo>
                    <a:pt x="10635" y="0"/>
                  </a:moveTo>
                  <a:lnTo>
                    <a:pt x="0" y="12722"/>
                  </a:lnTo>
                  <a:lnTo>
                    <a:pt x="10635" y="16697"/>
                  </a:lnTo>
                  <a:close/>
                </a:path>
              </a:pathLst>
            </a:custGeom>
            <a:solidFill>
              <a:srgbClr val="561561"/>
            </a:solidFill>
            <a:ln>
              <a:noFill/>
            </a:ln>
          </p:spPr>
        </p:sp>
        <p:sp>
          <p:nvSpPr>
            <p:cNvPr id="129" name="Google Shape;129;p16"/>
            <p:cNvSpPr/>
            <p:nvPr/>
          </p:nvSpPr>
          <p:spPr>
            <a:xfrm flipH="1">
              <a:off x="4770673" y="1225350"/>
              <a:ext cx="449116" cy="854010"/>
            </a:xfrm>
            <a:custGeom>
              <a:rect b="b" l="l" r="r" t="t"/>
              <a:pathLst>
                <a:path extrusionOk="0" h="16697" w="10635">
                  <a:moveTo>
                    <a:pt x="10635" y="0"/>
                  </a:moveTo>
                  <a:lnTo>
                    <a:pt x="0" y="12722"/>
                  </a:lnTo>
                  <a:lnTo>
                    <a:pt x="10635" y="16697"/>
                  </a:lnTo>
                  <a:close/>
                </a:path>
              </a:pathLst>
            </a:custGeom>
            <a:solidFill>
              <a:srgbClr val="701C7F"/>
            </a:solidFill>
            <a:ln>
              <a:noFill/>
            </a:ln>
          </p:spPr>
        </p:sp>
        <p:sp>
          <p:nvSpPr>
            <p:cNvPr id="130" name="Google Shape;130;p16"/>
            <p:cNvSpPr/>
            <p:nvPr/>
          </p:nvSpPr>
          <p:spPr>
            <a:xfrm>
              <a:off x="3636034" y="2553603"/>
              <a:ext cx="1136642" cy="946913"/>
            </a:xfrm>
            <a:custGeom>
              <a:rect b="b" l="l" r="r" t="t"/>
              <a:pathLst>
                <a:path extrusionOk="0" h="46623" w="65016">
                  <a:moveTo>
                    <a:pt x="17858" y="0"/>
                  </a:moveTo>
                  <a:lnTo>
                    <a:pt x="0" y="22135"/>
                  </a:lnTo>
                  <a:lnTo>
                    <a:pt x="65016" y="46623"/>
                  </a:lnTo>
                  <a:lnTo>
                    <a:pt x="65016" y="17537"/>
                  </a:lnTo>
                  <a:close/>
                </a:path>
              </a:pathLst>
            </a:custGeom>
            <a:solidFill>
              <a:srgbClr val="561561"/>
            </a:solidFill>
            <a:ln>
              <a:noFill/>
            </a:ln>
          </p:spPr>
        </p:sp>
        <p:sp>
          <p:nvSpPr>
            <p:cNvPr id="131" name="Google Shape;131;p16"/>
            <p:cNvSpPr/>
            <p:nvPr/>
          </p:nvSpPr>
          <p:spPr>
            <a:xfrm flipH="1">
              <a:off x="4770657" y="2555106"/>
              <a:ext cx="1136642" cy="946913"/>
            </a:xfrm>
            <a:custGeom>
              <a:rect b="b" l="l" r="r" t="t"/>
              <a:pathLst>
                <a:path extrusionOk="0" h="46623" w="65016">
                  <a:moveTo>
                    <a:pt x="17858" y="0"/>
                  </a:moveTo>
                  <a:lnTo>
                    <a:pt x="0" y="22135"/>
                  </a:lnTo>
                  <a:lnTo>
                    <a:pt x="65016" y="46623"/>
                  </a:lnTo>
                  <a:lnTo>
                    <a:pt x="65016" y="17537"/>
                  </a:lnTo>
                  <a:close/>
                </a:path>
              </a:pathLst>
            </a:custGeom>
            <a:solidFill>
              <a:srgbClr val="802090"/>
            </a:solidFill>
            <a:ln>
              <a:noFill/>
            </a:ln>
          </p:spPr>
        </p:sp>
        <p:sp>
          <p:nvSpPr>
            <p:cNvPr id="132" name="Google Shape;132;p16"/>
            <p:cNvSpPr/>
            <p:nvPr/>
          </p:nvSpPr>
          <p:spPr>
            <a:xfrm flipH="1">
              <a:off x="4776508" y="3154705"/>
              <a:ext cx="1559116" cy="1230372"/>
            </a:xfrm>
            <a:custGeom>
              <a:rect b="b" l="l" r="r" t="t"/>
              <a:pathLst>
                <a:path extrusionOk="0" h="20822" w="31954">
                  <a:moveTo>
                    <a:pt x="7355" y="0"/>
                  </a:moveTo>
                  <a:lnTo>
                    <a:pt x="31954" y="8796"/>
                  </a:lnTo>
                  <a:lnTo>
                    <a:pt x="31954" y="20822"/>
                  </a:lnTo>
                  <a:lnTo>
                    <a:pt x="0" y="8895"/>
                  </a:lnTo>
                  <a:close/>
                </a:path>
              </a:pathLst>
            </a:custGeom>
            <a:solidFill>
              <a:srgbClr val="9325A5"/>
            </a:solidFill>
            <a:ln>
              <a:noFill/>
            </a:ln>
          </p:spPr>
        </p:sp>
      </p:grpSp>
      <p:grpSp>
        <p:nvGrpSpPr>
          <p:cNvPr id="133" name="Google Shape;133;p16"/>
          <p:cNvGrpSpPr/>
          <p:nvPr/>
        </p:nvGrpSpPr>
        <p:grpSpPr>
          <a:xfrm>
            <a:off x="119625" y="988050"/>
            <a:ext cx="3735629" cy="1680900"/>
            <a:chOff x="441605" y="1252530"/>
            <a:chExt cx="3735629" cy="1680900"/>
          </a:xfrm>
        </p:grpSpPr>
        <p:sp>
          <p:nvSpPr>
            <p:cNvPr id="134" name="Google Shape;134;p16"/>
            <p:cNvSpPr txBox="1"/>
            <p:nvPr/>
          </p:nvSpPr>
          <p:spPr>
            <a:xfrm>
              <a:off x="441605" y="1252530"/>
              <a:ext cx="2493000" cy="168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Times New Roman"/>
                  <a:ea typeface="Times New Roman"/>
                  <a:cs typeface="Times New Roman"/>
                  <a:sym typeface="Times New Roman"/>
                </a:rPr>
                <a:t>Milestone 2 (Dashboard creation started )</a:t>
              </a:r>
              <a:endParaRPr b="1" sz="1200">
                <a:latin typeface="Times New Roman"/>
                <a:ea typeface="Times New Roman"/>
                <a:cs typeface="Times New Roman"/>
                <a:sym typeface="Times New Roman"/>
              </a:endParaRPr>
            </a:p>
            <a:p>
              <a:pPr indent="0" lvl="0" marL="0" rtl="0" algn="r">
                <a:spcBef>
                  <a:spcPts val="0"/>
                </a:spcBef>
                <a:spcAft>
                  <a:spcPts val="0"/>
                </a:spcAft>
                <a:buNone/>
              </a:pPr>
              <a:r>
                <a:t/>
              </a:r>
              <a:endParaRPr b="1" sz="1200">
                <a:latin typeface="Times New Roman"/>
                <a:ea typeface="Times New Roman"/>
                <a:cs typeface="Times New Roman"/>
                <a:sym typeface="Times New Roman"/>
              </a:endParaRPr>
            </a:p>
            <a:p>
              <a:pPr indent="0" lvl="0" marL="0" rtl="0" algn="just">
                <a:spcBef>
                  <a:spcPts val="0"/>
                </a:spcBef>
                <a:spcAft>
                  <a:spcPts val="1600"/>
                </a:spcAft>
                <a:buNone/>
              </a:pPr>
              <a:r>
                <a:rPr lang="en" sz="1150">
                  <a:latin typeface="Times New Roman"/>
                  <a:ea typeface="Times New Roman"/>
                  <a:cs typeface="Times New Roman"/>
                  <a:sym typeface="Times New Roman"/>
                </a:rPr>
                <a:t>Dashboard development started in milestone 2 .The three dashboard i.e. election overview , party performance analysis and distribution of parliamentary constituency created in milestone 2.</a:t>
              </a:r>
              <a:endParaRPr b="1" sz="1150">
                <a:latin typeface="Times New Roman"/>
                <a:ea typeface="Times New Roman"/>
                <a:cs typeface="Times New Roman"/>
                <a:sym typeface="Times New Roman"/>
              </a:endParaRPr>
            </a:p>
          </p:txBody>
        </p:sp>
        <p:cxnSp>
          <p:nvCxnSpPr>
            <p:cNvPr id="135" name="Google Shape;135;p16"/>
            <p:cNvCxnSpPr/>
            <p:nvPr/>
          </p:nvCxnSpPr>
          <p:spPr>
            <a:xfrm rot="10800000">
              <a:off x="3046834" y="2215329"/>
              <a:ext cx="1130400" cy="0"/>
            </a:xfrm>
            <a:prstGeom prst="straightConnector1">
              <a:avLst/>
            </a:prstGeom>
            <a:noFill/>
            <a:ln cap="flat" cmpd="sng" w="9525">
              <a:solidFill>
                <a:srgbClr val="C2C2C2"/>
              </a:solidFill>
              <a:prstDash val="solid"/>
              <a:round/>
              <a:headEnd len="sm" w="sm" type="none"/>
              <a:tailEnd len="sm" w="sm" type="none"/>
            </a:ln>
          </p:spPr>
        </p:cxnSp>
        <p:sp>
          <p:nvSpPr>
            <p:cNvPr id="136" name="Google Shape;136;p16"/>
            <p:cNvSpPr/>
            <p:nvPr/>
          </p:nvSpPr>
          <p:spPr>
            <a:xfrm>
              <a:off x="3020371" y="2111851"/>
              <a:ext cx="198600" cy="198300"/>
            </a:xfrm>
            <a:prstGeom prst="ellipse">
              <a:avLst/>
            </a:prstGeom>
            <a:solidFill>
              <a:srgbClr val="77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txBox="1"/>
            <p:nvPr/>
          </p:nvSpPr>
          <p:spPr>
            <a:xfrm>
              <a:off x="2995927" y="2051434"/>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grpSp>
      <p:sp>
        <p:nvSpPr>
          <p:cNvPr id="138" name="Google Shape;138;p16"/>
          <p:cNvSpPr txBox="1"/>
          <p:nvPr/>
        </p:nvSpPr>
        <p:spPr>
          <a:xfrm>
            <a:off x="229450" y="276750"/>
            <a:ext cx="36258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700">
                <a:solidFill>
                  <a:schemeClr val="accent1"/>
                </a:solidFill>
                <a:latin typeface="Times New Roman"/>
                <a:ea typeface="Times New Roman"/>
                <a:cs typeface="Times New Roman"/>
                <a:sym typeface="Times New Roman"/>
              </a:rPr>
              <a:t>Milestones</a:t>
            </a:r>
            <a:endParaRPr b="1" sz="2700">
              <a:solidFill>
                <a:schemeClr val="accen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grpSp>
        <p:nvGrpSpPr>
          <p:cNvPr id="143" name="Google Shape;143;p17"/>
          <p:cNvGrpSpPr/>
          <p:nvPr/>
        </p:nvGrpSpPr>
        <p:grpSpPr>
          <a:xfrm>
            <a:off x="294175" y="1465300"/>
            <a:ext cx="2417388" cy="924600"/>
            <a:chOff x="373375" y="1465300"/>
            <a:chExt cx="2417388" cy="924600"/>
          </a:xfrm>
        </p:grpSpPr>
        <p:cxnSp>
          <p:nvCxnSpPr>
            <p:cNvPr id="144" name="Google Shape;144;p17"/>
            <p:cNvCxnSpPr/>
            <p:nvPr/>
          </p:nvCxnSpPr>
          <p:spPr>
            <a:xfrm flipH="1">
              <a:off x="2325163" y="1923125"/>
              <a:ext cx="465600" cy="117900"/>
            </a:xfrm>
            <a:prstGeom prst="straightConnector1">
              <a:avLst/>
            </a:prstGeom>
            <a:noFill/>
            <a:ln cap="flat" cmpd="sng" w="9525">
              <a:solidFill>
                <a:srgbClr val="F4B400"/>
              </a:solidFill>
              <a:prstDash val="solid"/>
              <a:round/>
              <a:headEnd len="sm" w="sm" type="none"/>
              <a:tailEnd len="med" w="med" type="oval"/>
            </a:ln>
          </p:spPr>
        </p:cxnSp>
        <p:sp>
          <p:nvSpPr>
            <p:cNvPr id="145" name="Google Shape;145;p17"/>
            <p:cNvSpPr txBox="1"/>
            <p:nvPr/>
          </p:nvSpPr>
          <p:spPr>
            <a:xfrm>
              <a:off x="373375" y="1465300"/>
              <a:ext cx="19902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Data Collection</a:t>
              </a:r>
              <a:endParaRPr b="1" sz="1200">
                <a:latin typeface="Roboto"/>
                <a:ea typeface="Roboto"/>
                <a:cs typeface="Roboto"/>
                <a:sym typeface="Roboto"/>
              </a:endParaRPr>
            </a:p>
            <a:p>
              <a:pPr indent="0" lvl="0" marL="0" rtl="0" algn="l">
                <a:spcBef>
                  <a:spcPts val="0"/>
                </a:spcBef>
                <a:spcAft>
                  <a:spcPts val="0"/>
                </a:spcAft>
                <a:buNone/>
              </a:pPr>
              <a:r>
                <a:rPr lang="en" sz="1000">
                  <a:latin typeface="Times New Roman"/>
                  <a:ea typeface="Times New Roman"/>
                  <a:cs typeface="Times New Roman"/>
                  <a:sym typeface="Times New Roman"/>
                </a:rPr>
                <a:t>The dataset used for this project was sourced from Kaggle, titled “Indian Election Dataset” by </a:t>
              </a:r>
              <a:r>
                <a:rPr lang="en" sz="1000">
                  <a:latin typeface="Times New Roman"/>
                  <a:ea typeface="Times New Roman"/>
                  <a:cs typeface="Times New Roman"/>
                  <a:sym typeface="Times New Roman"/>
                </a:rPr>
                <a:t>Nandan</a:t>
              </a:r>
              <a:r>
                <a:rPr lang="en" sz="1000">
                  <a:latin typeface="Times New Roman"/>
                  <a:ea typeface="Times New Roman"/>
                  <a:cs typeface="Times New Roman"/>
                  <a:sym typeface="Times New Roman"/>
                </a:rPr>
                <a:t> Pandey. </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This dataset contains detailed candidate-level election data.</a:t>
              </a:r>
              <a:endParaRPr sz="1000">
                <a:latin typeface="Roboto"/>
                <a:ea typeface="Roboto"/>
                <a:cs typeface="Roboto"/>
                <a:sym typeface="Roboto"/>
              </a:endParaRPr>
            </a:p>
          </p:txBody>
        </p:sp>
      </p:grpSp>
      <p:grpSp>
        <p:nvGrpSpPr>
          <p:cNvPr id="146" name="Google Shape;146;p17"/>
          <p:cNvGrpSpPr/>
          <p:nvPr/>
        </p:nvGrpSpPr>
        <p:grpSpPr>
          <a:xfrm>
            <a:off x="308850" y="3064775"/>
            <a:ext cx="2553813" cy="1540500"/>
            <a:chOff x="308850" y="3064775"/>
            <a:chExt cx="2553813" cy="1540500"/>
          </a:xfrm>
        </p:grpSpPr>
        <p:cxnSp>
          <p:nvCxnSpPr>
            <p:cNvPr id="147" name="Google Shape;147;p17"/>
            <p:cNvCxnSpPr>
              <a:stCxn id="148" idx="1"/>
            </p:cNvCxnSpPr>
            <p:nvPr/>
          </p:nvCxnSpPr>
          <p:spPr>
            <a:xfrm flipH="1">
              <a:off x="2289663" y="3435460"/>
              <a:ext cx="573000" cy="301200"/>
            </a:xfrm>
            <a:prstGeom prst="straightConnector1">
              <a:avLst/>
            </a:prstGeom>
            <a:noFill/>
            <a:ln cap="flat" cmpd="sng" w="9525">
              <a:solidFill>
                <a:srgbClr val="F4B400"/>
              </a:solidFill>
              <a:prstDash val="solid"/>
              <a:round/>
              <a:headEnd len="sm" w="sm" type="none"/>
              <a:tailEnd len="med" w="med" type="oval"/>
            </a:ln>
          </p:spPr>
        </p:cxnSp>
        <p:sp>
          <p:nvSpPr>
            <p:cNvPr id="149" name="Google Shape;149;p17"/>
            <p:cNvSpPr txBox="1"/>
            <p:nvPr/>
          </p:nvSpPr>
          <p:spPr>
            <a:xfrm>
              <a:off x="308850" y="3064775"/>
              <a:ext cx="2124000" cy="154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Data Preprocessing</a:t>
              </a:r>
              <a:endParaRPr b="1" sz="1200">
                <a:latin typeface="Roboto"/>
                <a:ea typeface="Roboto"/>
                <a:cs typeface="Roboto"/>
                <a:sym typeface="Roboto"/>
              </a:endParaRPr>
            </a:p>
            <a:p>
              <a:pPr indent="0" lvl="0" marL="0" rtl="0" algn="l">
                <a:spcBef>
                  <a:spcPts val="0"/>
                </a:spcBef>
                <a:spcAft>
                  <a:spcPts val="0"/>
                </a:spcAft>
                <a:buNone/>
              </a:pPr>
              <a:r>
                <a:rPr lang="en" sz="1000">
                  <a:latin typeface="Times New Roman"/>
                  <a:ea typeface="Times New Roman"/>
                  <a:cs typeface="Times New Roman"/>
                  <a:sym typeface="Times New Roman"/>
                </a:rPr>
                <a:t>Before creating dashboard we first preprocessed the data by handling null values and missing values , identifying duplicate rows and standardising values of categorical columns like state name and party name .</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Also custom column creation like turnout% and winner.</a:t>
              </a:r>
              <a:endParaRPr sz="1000">
                <a:latin typeface="Times New Roman"/>
                <a:ea typeface="Times New Roman"/>
                <a:cs typeface="Times New Roman"/>
                <a:sym typeface="Times New Roman"/>
              </a:endParaRPr>
            </a:p>
            <a:p>
              <a:pPr indent="0" lvl="0" marL="0" rtl="0" algn="r">
                <a:spcBef>
                  <a:spcPts val="0"/>
                </a:spcBef>
                <a:spcAft>
                  <a:spcPts val="1600"/>
                </a:spcAft>
                <a:buNone/>
              </a:pPr>
              <a:r>
                <a:t/>
              </a:r>
              <a:endParaRPr sz="800">
                <a:latin typeface="Roboto"/>
                <a:ea typeface="Roboto"/>
                <a:cs typeface="Roboto"/>
                <a:sym typeface="Roboto"/>
              </a:endParaRPr>
            </a:p>
          </p:txBody>
        </p:sp>
      </p:grpSp>
      <p:grpSp>
        <p:nvGrpSpPr>
          <p:cNvPr id="150" name="Google Shape;150;p17"/>
          <p:cNvGrpSpPr/>
          <p:nvPr/>
        </p:nvGrpSpPr>
        <p:grpSpPr>
          <a:xfrm>
            <a:off x="3586475" y="3427200"/>
            <a:ext cx="2596200" cy="1476950"/>
            <a:chOff x="3616375" y="3337475"/>
            <a:chExt cx="2596200" cy="1476950"/>
          </a:xfrm>
        </p:grpSpPr>
        <p:cxnSp>
          <p:nvCxnSpPr>
            <p:cNvPr id="151" name="Google Shape;151;p17"/>
            <p:cNvCxnSpPr/>
            <p:nvPr/>
          </p:nvCxnSpPr>
          <p:spPr>
            <a:xfrm>
              <a:off x="4256300" y="3337475"/>
              <a:ext cx="338400" cy="259200"/>
            </a:xfrm>
            <a:prstGeom prst="straightConnector1">
              <a:avLst/>
            </a:prstGeom>
            <a:noFill/>
            <a:ln cap="flat" cmpd="sng" w="9525">
              <a:solidFill>
                <a:srgbClr val="F4B400"/>
              </a:solidFill>
              <a:prstDash val="solid"/>
              <a:round/>
              <a:headEnd len="sm" w="sm" type="none"/>
              <a:tailEnd len="med" w="med" type="oval"/>
            </a:ln>
          </p:spPr>
        </p:cxnSp>
        <p:sp>
          <p:nvSpPr>
            <p:cNvPr id="152" name="Google Shape;152;p17"/>
            <p:cNvSpPr txBox="1"/>
            <p:nvPr/>
          </p:nvSpPr>
          <p:spPr>
            <a:xfrm>
              <a:off x="3616375" y="3837325"/>
              <a:ext cx="2596200" cy="97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Documentation and presentation</a:t>
              </a:r>
              <a:endParaRPr b="1" sz="1200">
                <a:latin typeface="Roboto"/>
                <a:ea typeface="Roboto"/>
                <a:cs typeface="Roboto"/>
                <a:sym typeface="Roboto"/>
              </a:endParaRPr>
            </a:p>
            <a:p>
              <a:pPr indent="0" lvl="0" marL="0" rtl="0" algn="l">
                <a:lnSpc>
                  <a:spcPct val="115000"/>
                </a:lnSpc>
                <a:spcBef>
                  <a:spcPts val="0"/>
                </a:spcBef>
                <a:spcAft>
                  <a:spcPts val="0"/>
                </a:spcAft>
                <a:buNone/>
              </a:pPr>
              <a:r>
                <a:rPr lang="en" sz="900">
                  <a:latin typeface="Times New Roman"/>
                  <a:ea typeface="Times New Roman"/>
                  <a:cs typeface="Times New Roman"/>
                  <a:sym typeface="Times New Roman"/>
                </a:rPr>
                <a:t>After building the dashboard and analyzing insights, we documented the complete project including methodology, calculations, and findings, and prepared a structured presentation for demonstration.</a:t>
              </a:r>
              <a:endParaRPr sz="900">
                <a:latin typeface="Times New Roman"/>
                <a:ea typeface="Times New Roman"/>
                <a:cs typeface="Times New Roman"/>
                <a:sym typeface="Times New Roman"/>
              </a:endParaRPr>
            </a:p>
            <a:p>
              <a:pPr indent="0" lvl="0" marL="0" rtl="0" algn="l">
                <a:spcBef>
                  <a:spcPts val="0"/>
                </a:spcBef>
                <a:spcAft>
                  <a:spcPts val="1600"/>
                </a:spcAft>
                <a:buNone/>
              </a:pPr>
              <a:r>
                <a:t/>
              </a:r>
              <a:endParaRPr sz="600">
                <a:latin typeface="Roboto"/>
                <a:ea typeface="Roboto"/>
                <a:cs typeface="Roboto"/>
                <a:sym typeface="Roboto"/>
              </a:endParaRPr>
            </a:p>
          </p:txBody>
        </p:sp>
      </p:grpSp>
      <p:grpSp>
        <p:nvGrpSpPr>
          <p:cNvPr id="153" name="Google Shape;153;p17"/>
          <p:cNvGrpSpPr/>
          <p:nvPr/>
        </p:nvGrpSpPr>
        <p:grpSpPr>
          <a:xfrm>
            <a:off x="3758400" y="754750"/>
            <a:ext cx="2836650" cy="924600"/>
            <a:chOff x="4087350" y="851925"/>
            <a:chExt cx="2836650" cy="924600"/>
          </a:xfrm>
        </p:grpSpPr>
        <p:sp>
          <p:nvSpPr>
            <p:cNvPr id="154" name="Google Shape;154;p17"/>
            <p:cNvSpPr txBox="1"/>
            <p:nvPr/>
          </p:nvSpPr>
          <p:spPr>
            <a:xfrm>
              <a:off x="5028300" y="851925"/>
              <a:ext cx="18957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Problem Identification</a:t>
              </a:r>
              <a:endParaRPr b="1" sz="1200">
                <a:latin typeface="Roboto"/>
                <a:ea typeface="Roboto"/>
                <a:cs typeface="Roboto"/>
                <a:sym typeface="Roboto"/>
              </a:endParaRPr>
            </a:p>
            <a:p>
              <a:pPr indent="0" lvl="0" marL="0" rtl="0" algn="l">
                <a:spcBef>
                  <a:spcPts val="0"/>
                </a:spcBef>
                <a:spcAft>
                  <a:spcPts val="0"/>
                </a:spcAft>
                <a:buNone/>
              </a:pPr>
              <a:r>
                <a:rPr lang="en" sz="900">
                  <a:latin typeface="Times New Roman"/>
                  <a:ea typeface="Times New Roman"/>
                  <a:cs typeface="Times New Roman"/>
                  <a:sym typeface="Times New Roman"/>
                </a:rPr>
                <a:t>The analysis and interpretation of election data pose significant challenges due to the large volume, complexity, and multidimensional structure of electoral datasets. This problem addressed by the ElectViz project which is the the interactive dashboard that can simplify complex election datasets into interactive visuals.</a:t>
              </a:r>
              <a:endParaRPr sz="900">
                <a:latin typeface="Times New Roman"/>
                <a:ea typeface="Times New Roman"/>
                <a:cs typeface="Times New Roman"/>
                <a:sym typeface="Times New Roman"/>
              </a:endParaRPr>
            </a:p>
            <a:p>
              <a:pPr indent="0" lvl="0" marL="0" rtl="0" algn="l">
                <a:spcBef>
                  <a:spcPts val="0"/>
                </a:spcBef>
                <a:spcAft>
                  <a:spcPts val="1600"/>
                </a:spcAft>
                <a:buNone/>
              </a:pPr>
              <a:r>
                <a:t/>
              </a:r>
              <a:endParaRPr sz="800">
                <a:latin typeface="Roboto"/>
                <a:ea typeface="Roboto"/>
                <a:cs typeface="Roboto"/>
                <a:sym typeface="Roboto"/>
              </a:endParaRPr>
            </a:p>
          </p:txBody>
        </p:sp>
        <p:cxnSp>
          <p:nvCxnSpPr>
            <p:cNvPr id="155" name="Google Shape;155;p17"/>
            <p:cNvCxnSpPr/>
            <p:nvPr/>
          </p:nvCxnSpPr>
          <p:spPr>
            <a:xfrm flipH="1" rot="10800000">
              <a:off x="4087350" y="1313975"/>
              <a:ext cx="871200" cy="187200"/>
            </a:xfrm>
            <a:prstGeom prst="straightConnector1">
              <a:avLst/>
            </a:prstGeom>
            <a:noFill/>
            <a:ln cap="flat" cmpd="sng" w="9525">
              <a:solidFill>
                <a:srgbClr val="F4B400"/>
              </a:solidFill>
              <a:prstDash val="solid"/>
              <a:round/>
              <a:headEnd len="sm" w="sm" type="none"/>
              <a:tailEnd len="med" w="med" type="oval"/>
            </a:ln>
          </p:spPr>
        </p:cxnSp>
      </p:grpSp>
      <p:grpSp>
        <p:nvGrpSpPr>
          <p:cNvPr id="156" name="Google Shape;156;p17"/>
          <p:cNvGrpSpPr/>
          <p:nvPr/>
        </p:nvGrpSpPr>
        <p:grpSpPr>
          <a:xfrm>
            <a:off x="4636950" y="2140175"/>
            <a:ext cx="2173996" cy="924600"/>
            <a:chOff x="4291000" y="2717050"/>
            <a:chExt cx="2173996" cy="924600"/>
          </a:xfrm>
        </p:grpSpPr>
        <p:cxnSp>
          <p:nvCxnSpPr>
            <p:cNvPr id="157" name="Google Shape;157;p17"/>
            <p:cNvCxnSpPr>
              <a:stCxn id="158" idx="3"/>
            </p:cNvCxnSpPr>
            <p:nvPr/>
          </p:nvCxnSpPr>
          <p:spPr>
            <a:xfrm flipH="1" rot="10800000">
              <a:off x="4291000" y="2813437"/>
              <a:ext cx="766500" cy="10800"/>
            </a:xfrm>
            <a:prstGeom prst="straightConnector1">
              <a:avLst/>
            </a:prstGeom>
            <a:noFill/>
            <a:ln cap="flat" cmpd="sng" w="9525">
              <a:solidFill>
                <a:srgbClr val="F4B400"/>
              </a:solidFill>
              <a:prstDash val="solid"/>
              <a:round/>
              <a:headEnd len="sm" w="sm" type="none"/>
              <a:tailEnd len="med" w="med" type="oval"/>
            </a:ln>
          </p:spPr>
        </p:cxnSp>
        <p:sp>
          <p:nvSpPr>
            <p:cNvPr id="159" name="Google Shape;159;p17"/>
            <p:cNvSpPr txBox="1"/>
            <p:nvPr/>
          </p:nvSpPr>
          <p:spPr>
            <a:xfrm>
              <a:off x="5033096" y="2717050"/>
              <a:ext cx="14319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Dashboard Creation and KPI calculation</a:t>
              </a:r>
              <a:endParaRPr b="1" sz="800">
                <a:latin typeface="Roboto"/>
                <a:ea typeface="Roboto"/>
                <a:cs typeface="Roboto"/>
                <a:sym typeface="Roboto"/>
              </a:endParaRPr>
            </a:p>
            <a:p>
              <a:pPr indent="0" lvl="0" marL="0" rtl="0" algn="l">
                <a:lnSpc>
                  <a:spcPct val="115000"/>
                </a:lnSpc>
                <a:spcBef>
                  <a:spcPts val="0"/>
                </a:spcBef>
                <a:spcAft>
                  <a:spcPts val="0"/>
                </a:spcAft>
                <a:buNone/>
              </a:pPr>
              <a:r>
                <a:rPr lang="en" sz="1000">
                  <a:latin typeface="Times New Roman"/>
                  <a:ea typeface="Times New Roman"/>
                  <a:cs typeface="Times New Roman"/>
                  <a:sym typeface="Times New Roman"/>
                </a:rPr>
                <a:t>Created a simple and elegant dashboard using different visuals and DAX measures like victory margin %.  </a:t>
              </a:r>
              <a:endParaRPr sz="800">
                <a:latin typeface="Roboto"/>
                <a:ea typeface="Roboto"/>
                <a:cs typeface="Roboto"/>
                <a:sym typeface="Roboto"/>
              </a:endParaRPr>
            </a:p>
          </p:txBody>
        </p:sp>
      </p:grpSp>
      <p:grpSp>
        <p:nvGrpSpPr>
          <p:cNvPr id="160" name="Google Shape;160;p17"/>
          <p:cNvGrpSpPr/>
          <p:nvPr/>
        </p:nvGrpSpPr>
        <p:grpSpPr>
          <a:xfrm rot="189957">
            <a:off x="1932258" y="920133"/>
            <a:ext cx="3231333" cy="3226634"/>
            <a:chOff x="2610905" y="610653"/>
            <a:chExt cx="3922200" cy="3922200"/>
          </a:xfrm>
        </p:grpSpPr>
        <p:sp>
          <p:nvSpPr>
            <p:cNvPr id="161" name="Google Shape;161;p17"/>
            <p:cNvSpPr/>
            <p:nvPr/>
          </p:nvSpPr>
          <p:spPr>
            <a:xfrm rot="-4980021">
              <a:off x="3204123" y="1186472"/>
              <a:ext cx="2771960" cy="2771960"/>
            </a:xfrm>
            <a:prstGeom prst="blockArc">
              <a:avLst>
                <a:gd fmla="val 12602522" name="adj1"/>
                <a:gd fmla="val 16867657" name="adj2"/>
                <a:gd fmla="val 20844" name="adj3"/>
              </a:avLst>
            </a:prstGeom>
            <a:solidFill>
              <a:srgbClr val="C06ECF"/>
            </a:solidFill>
            <a:ln>
              <a:noFill/>
            </a:ln>
          </p:spPr>
          <p:txBody>
            <a:bodyPr anchorCtr="0" anchor="ctr" bIns="75325" lIns="75325" spcFirstLastPara="1" rIns="75325" wrap="square" tIns="75325">
              <a:noAutofit/>
            </a:bodyPr>
            <a:lstStyle/>
            <a:p>
              <a:pPr indent="0" lvl="0" marL="0" rtl="0" algn="l">
                <a:spcBef>
                  <a:spcPts val="0"/>
                </a:spcBef>
                <a:spcAft>
                  <a:spcPts val="0"/>
                </a:spcAft>
                <a:buNone/>
              </a:pPr>
              <a:r>
                <a:t/>
              </a:r>
              <a:endParaRPr sz="1161"/>
            </a:p>
          </p:txBody>
        </p:sp>
        <p:sp>
          <p:nvSpPr>
            <p:cNvPr id="162" name="Google Shape;162;p17"/>
            <p:cNvSpPr/>
            <p:nvPr/>
          </p:nvSpPr>
          <p:spPr>
            <a:xfrm rot="7920309">
              <a:off x="3183402" y="1183149"/>
              <a:ext cx="2777207" cy="2777207"/>
            </a:xfrm>
            <a:prstGeom prst="blockArc">
              <a:avLst>
                <a:gd fmla="val 12602522" name="adj1"/>
                <a:gd fmla="val 16867657" name="adj2"/>
                <a:gd fmla="val 20844" name="adj3"/>
              </a:avLst>
            </a:prstGeom>
            <a:solidFill>
              <a:srgbClr val="842F93"/>
            </a:solidFill>
            <a:ln>
              <a:noFill/>
            </a:ln>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63" name="Google Shape;163;p17"/>
            <p:cNvSpPr/>
            <p:nvPr/>
          </p:nvSpPr>
          <p:spPr>
            <a:xfrm rot="3600063">
              <a:off x="3186335" y="1195681"/>
              <a:ext cx="2777488" cy="2777488"/>
            </a:xfrm>
            <a:prstGeom prst="blockArc">
              <a:avLst>
                <a:gd fmla="val 12602522" name="adj1"/>
                <a:gd fmla="val 16867657" name="adj2"/>
                <a:gd fmla="val 20844" name="adj3"/>
              </a:avLst>
            </a:prstGeom>
            <a:solidFill>
              <a:srgbClr val="9325A5"/>
            </a:solidFill>
            <a:ln>
              <a:noFill/>
            </a:ln>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64" name="Google Shape;164;p17"/>
            <p:cNvSpPr/>
            <p:nvPr/>
          </p:nvSpPr>
          <p:spPr>
            <a:xfrm rot="4024705">
              <a:off x="5326681" y="1940898"/>
              <a:ext cx="578477" cy="579147"/>
            </a:xfrm>
            <a:prstGeom prst="pie">
              <a:avLst>
                <a:gd fmla="val 6190354" name="adj1"/>
                <a:gd fmla="val 14996165" name="adj2"/>
              </a:avLst>
            </a:prstGeom>
            <a:solidFill>
              <a:srgbClr val="701C7F"/>
            </a:solidFill>
            <a:ln>
              <a:noFill/>
            </a:ln>
            <a:effectLst>
              <a:outerShdw blurRad="117711" rotWithShape="0" algn="bl">
                <a:srgbClr val="000000">
                  <a:alpha val="43000"/>
                </a:srgbClr>
              </a:outerShdw>
            </a:effectLst>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65" name="Google Shape;165;p17"/>
            <p:cNvSpPr/>
            <p:nvPr/>
          </p:nvSpPr>
          <p:spPr>
            <a:xfrm rot="-6816027">
              <a:off x="5326729" y="1940918"/>
              <a:ext cx="578485" cy="579035"/>
            </a:xfrm>
            <a:prstGeom prst="pie">
              <a:avLst>
                <a:gd fmla="val 4028252" name="adj1"/>
                <a:gd fmla="val 17183677" name="adj2"/>
              </a:avLst>
            </a:prstGeom>
            <a:solidFill>
              <a:srgbClr val="701C7F"/>
            </a:solidFill>
            <a:ln>
              <a:noFill/>
            </a:ln>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66" name="Google Shape;166;p17"/>
            <p:cNvSpPr/>
            <p:nvPr/>
          </p:nvSpPr>
          <p:spPr>
            <a:xfrm rot="-9359762">
              <a:off x="3193941" y="1176205"/>
              <a:ext cx="2777287" cy="2777287"/>
            </a:xfrm>
            <a:prstGeom prst="blockArc">
              <a:avLst>
                <a:gd fmla="val 12602522" name="adj1"/>
                <a:gd fmla="val 16867657" name="adj2"/>
                <a:gd fmla="val 20844" name="adj3"/>
              </a:avLst>
            </a:prstGeom>
            <a:solidFill>
              <a:srgbClr val="771E86"/>
            </a:solidFill>
            <a:ln>
              <a:noFill/>
            </a:ln>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67" name="Google Shape;167;p17"/>
            <p:cNvSpPr/>
            <p:nvPr/>
          </p:nvSpPr>
          <p:spPr>
            <a:xfrm rot="-8936366">
              <a:off x="3659126" y="3173505"/>
              <a:ext cx="578551" cy="578963"/>
            </a:xfrm>
            <a:prstGeom prst="pie">
              <a:avLst>
                <a:gd fmla="val 6190354" name="adj1"/>
                <a:gd fmla="val 14996165" name="adj2"/>
              </a:avLst>
            </a:prstGeom>
            <a:solidFill>
              <a:srgbClr val="701C7F"/>
            </a:solidFill>
            <a:ln>
              <a:noFill/>
            </a:ln>
            <a:effectLst>
              <a:outerShdw blurRad="117711" rotWithShape="0" algn="bl">
                <a:srgbClr val="000000">
                  <a:alpha val="43000"/>
                </a:srgbClr>
              </a:outerShdw>
            </a:effectLst>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48" name="Google Shape;148;p17"/>
            <p:cNvSpPr/>
            <p:nvPr/>
          </p:nvSpPr>
          <p:spPr>
            <a:xfrm rot="1824498">
              <a:off x="3659375" y="3173497"/>
              <a:ext cx="578475" cy="578885"/>
            </a:xfrm>
            <a:prstGeom prst="pie">
              <a:avLst>
                <a:gd fmla="val 4028252" name="adj1"/>
                <a:gd fmla="val 17183677" name="adj2"/>
              </a:avLst>
            </a:prstGeom>
            <a:solidFill>
              <a:srgbClr val="701C7F"/>
            </a:solidFill>
            <a:ln>
              <a:noFill/>
            </a:ln>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68" name="Google Shape;168;p17"/>
            <p:cNvSpPr/>
            <p:nvPr/>
          </p:nvSpPr>
          <p:spPr>
            <a:xfrm rot="-600092">
              <a:off x="3198852" y="1195456"/>
              <a:ext cx="2777611" cy="2777611"/>
            </a:xfrm>
            <a:prstGeom prst="blockArc">
              <a:avLst>
                <a:gd fmla="val 12513247" name="adj1"/>
                <a:gd fmla="val 16867657" name="adj2"/>
                <a:gd fmla="val 20844" name="adj3"/>
              </a:avLst>
            </a:prstGeom>
            <a:solidFill>
              <a:srgbClr val="701C7F"/>
            </a:solidFill>
            <a:ln>
              <a:noFill/>
            </a:ln>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69" name="Google Shape;169;p17"/>
            <p:cNvSpPr/>
            <p:nvPr/>
          </p:nvSpPr>
          <p:spPr>
            <a:xfrm rot="-176551">
              <a:off x="4312105" y="1195442"/>
              <a:ext cx="578563" cy="579162"/>
            </a:xfrm>
            <a:prstGeom prst="pie">
              <a:avLst>
                <a:gd fmla="val 6190354" name="adj1"/>
                <a:gd fmla="val 14996165" name="adj2"/>
              </a:avLst>
            </a:prstGeom>
            <a:solidFill>
              <a:srgbClr val="701C7F"/>
            </a:solidFill>
            <a:ln>
              <a:noFill/>
            </a:ln>
            <a:effectLst>
              <a:outerShdw blurRad="117711" rotWithShape="0" algn="bl">
                <a:srgbClr val="000000">
                  <a:alpha val="43000"/>
                </a:srgbClr>
              </a:outerShdw>
            </a:effectLst>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70" name="Google Shape;170;p17"/>
            <p:cNvSpPr/>
            <p:nvPr/>
          </p:nvSpPr>
          <p:spPr>
            <a:xfrm rot="10584085">
              <a:off x="4312088" y="1195622"/>
              <a:ext cx="578340" cy="578939"/>
            </a:xfrm>
            <a:prstGeom prst="pie">
              <a:avLst>
                <a:gd fmla="val 4028252" name="adj1"/>
                <a:gd fmla="val 17183677" name="adj2"/>
              </a:avLst>
            </a:prstGeom>
            <a:solidFill>
              <a:srgbClr val="701C7F"/>
            </a:solidFill>
            <a:ln>
              <a:noFill/>
            </a:ln>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71" name="Google Shape;171;p17"/>
            <p:cNvSpPr/>
            <p:nvPr/>
          </p:nvSpPr>
          <p:spPr>
            <a:xfrm rot="8344778">
              <a:off x="4940929" y="3162886"/>
              <a:ext cx="578465" cy="578888"/>
            </a:xfrm>
            <a:prstGeom prst="pie">
              <a:avLst>
                <a:gd fmla="val 6190354" name="adj1"/>
                <a:gd fmla="val 14996165" name="adj2"/>
              </a:avLst>
            </a:prstGeom>
            <a:solidFill>
              <a:srgbClr val="701C7F"/>
            </a:solidFill>
            <a:ln>
              <a:noFill/>
            </a:ln>
            <a:effectLst>
              <a:outerShdw blurRad="117711" rotWithShape="0" algn="bl">
                <a:srgbClr val="000000">
                  <a:alpha val="43000"/>
                </a:srgbClr>
              </a:outerShdw>
            </a:effectLst>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72" name="Google Shape;172;p17"/>
            <p:cNvSpPr/>
            <p:nvPr/>
          </p:nvSpPr>
          <p:spPr>
            <a:xfrm rot="-2495643">
              <a:off x="4941000" y="3162728"/>
              <a:ext cx="578445" cy="579093"/>
            </a:xfrm>
            <a:prstGeom prst="pie">
              <a:avLst>
                <a:gd fmla="val 4028252" name="adj1"/>
                <a:gd fmla="val 17183677" name="adj2"/>
              </a:avLst>
            </a:prstGeom>
            <a:solidFill>
              <a:srgbClr val="701C7F"/>
            </a:solidFill>
            <a:ln>
              <a:noFill/>
            </a:ln>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73" name="Google Shape;173;p17"/>
            <p:cNvSpPr/>
            <p:nvPr/>
          </p:nvSpPr>
          <p:spPr>
            <a:xfrm rot="-4556960">
              <a:off x="3257335" y="1939059"/>
              <a:ext cx="578302" cy="578957"/>
            </a:xfrm>
            <a:prstGeom prst="pie">
              <a:avLst>
                <a:gd fmla="val 6190354" name="adj1"/>
                <a:gd fmla="val 14996165" name="adj2"/>
              </a:avLst>
            </a:prstGeom>
            <a:solidFill>
              <a:srgbClr val="701C7F"/>
            </a:solidFill>
            <a:ln>
              <a:noFill/>
            </a:ln>
            <a:effectLst>
              <a:outerShdw blurRad="117711" rotWithShape="0" algn="bl">
                <a:srgbClr val="000000">
                  <a:alpha val="43000"/>
                </a:srgbClr>
              </a:outerShdw>
            </a:effectLst>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74" name="Google Shape;174;p17"/>
            <p:cNvSpPr/>
            <p:nvPr/>
          </p:nvSpPr>
          <p:spPr>
            <a:xfrm rot="6204541">
              <a:off x="3257468" y="1938977"/>
              <a:ext cx="578264" cy="578917"/>
            </a:xfrm>
            <a:prstGeom prst="pie">
              <a:avLst>
                <a:gd fmla="val 4028252" name="adj1"/>
                <a:gd fmla="val 17183677" name="adj2"/>
              </a:avLst>
            </a:prstGeom>
            <a:solidFill>
              <a:srgbClr val="701C7F"/>
            </a:solidFill>
            <a:ln>
              <a:noFill/>
            </a:ln>
          </p:spPr>
          <p:txBody>
            <a:bodyPr anchorCtr="0" anchor="ctr" bIns="75325" lIns="75325" spcFirstLastPara="1" rIns="75325" wrap="square" tIns="75325">
              <a:noAutofit/>
            </a:bodyPr>
            <a:lstStyle/>
            <a:p>
              <a:pPr indent="0" lvl="0" marL="0" rtl="0" algn="l">
                <a:spcBef>
                  <a:spcPts val="0"/>
                </a:spcBef>
                <a:spcAft>
                  <a:spcPts val="0"/>
                </a:spcAft>
                <a:buNone/>
              </a:pPr>
              <a:r>
                <a:t/>
              </a:r>
              <a:endParaRPr/>
            </a:p>
          </p:txBody>
        </p:sp>
        <p:sp>
          <p:nvSpPr>
            <p:cNvPr id="175" name="Google Shape;175;p17"/>
            <p:cNvSpPr txBox="1"/>
            <p:nvPr/>
          </p:nvSpPr>
          <p:spPr>
            <a:xfrm>
              <a:off x="4341900" y="1271896"/>
              <a:ext cx="507900" cy="266100"/>
            </a:xfrm>
            <a:prstGeom prst="rect">
              <a:avLst/>
            </a:prstGeom>
            <a:solidFill>
              <a:srgbClr val="701C7F"/>
            </a:solidFill>
            <a:ln>
              <a:noFill/>
            </a:ln>
          </p:spPr>
          <p:txBody>
            <a:bodyPr anchorCtr="0" anchor="t" bIns="75325" lIns="75325" spcFirstLastPara="1" rIns="75325" wrap="square" tIns="75325">
              <a:noAutofit/>
            </a:bodyPr>
            <a:lstStyle/>
            <a:p>
              <a:pPr indent="0" lvl="0" marL="0" rtl="0" algn="ctr">
                <a:spcBef>
                  <a:spcPts val="0"/>
                </a:spcBef>
                <a:spcAft>
                  <a:spcPts val="0"/>
                </a:spcAft>
                <a:buNone/>
              </a:pPr>
              <a:r>
                <a:rPr b="1" lang="en" sz="1318">
                  <a:solidFill>
                    <a:srgbClr val="FFFFFF"/>
                  </a:solidFill>
                  <a:latin typeface="Roboto"/>
                  <a:ea typeface="Roboto"/>
                  <a:cs typeface="Roboto"/>
                  <a:sym typeface="Roboto"/>
                </a:rPr>
                <a:t>01</a:t>
              </a:r>
              <a:endParaRPr b="1" sz="1318">
                <a:solidFill>
                  <a:srgbClr val="FFFFFF"/>
                </a:solidFill>
                <a:latin typeface="Roboto"/>
                <a:ea typeface="Roboto"/>
                <a:cs typeface="Roboto"/>
                <a:sym typeface="Roboto"/>
              </a:endParaRPr>
            </a:p>
          </p:txBody>
        </p:sp>
        <p:sp>
          <p:nvSpPr>
            <p:cNvPr id="176" name="Google Shape;176;p17"/>
            <p:cNvSpPr txBox="1"/>
            <p:nvPr/>
          </p:nvSpPr>
          <p:spPr>
            <a:xfrm>
              <a:off x="3274219" y="2018364"/>
              <a:ext cx="507900" cy="266100"/>
            </a:xfrm>
            <a:prstGeom prst="rect">
              <a:avLst/>
            </a:prstGeom>
            <a:solidFill>
              <a:srgbClr val="701C7F"/>
            </a:solidFill>
            <a:ln>
              <a:noFill/>
            </a:ln>
          </p:spPr>
          <p:txBody>
            <a:bodyPr anchorCtr="0" anchor="t" bIns="75325" lIns="75325" spcFirstLastPara="1" rIns="75325" wrap="square" tIns="75325">
              <a:noAutofit/>
            </a:bodyPr>
            <a:lstStyle/>
            <a:p>
              <a:pPr indent="0" lvl="0" marL="0" rtl="0" algn="ctr">
                <a:spcBef>
                  <a:spcPts val="0"/>
                </a:spcBef>
                <a:spcAft>
                  <a:spcPts val="0"/>
                </a:spcAft>
                <a:buNone/>
              </a:pPr>
              <a:r>
                <a:rPr b="1" lang="en" sz="1318">
                  <a:solidFill>
                    <a:srgbClr val="FFFFFF"/>
                  </a:solidFill>
                  <a:latin typeface="Roboto"/>
                  <a:ea typeface="Roboto"/>
                  <a:cs typeface="Roboto"/>
                  <a:sym typeface="Roboto"/>
                </a:rPr>
                <a:t>02</a:t>
              </a:r>
              <a:endParaRPr b="1" sz="1318">
                <a:solidFill>
                  <a:srgbClr val="FFFFFF"/>
                </a:solidFill>
                <a:latin typeface="Roboto"/>
                <a:ea typeface="Roboto"/>
                <a:cs typeface="Roboto"/>
                <a:sym typeface="Roboto"/>
              </a:endParaRPr>
            </a:p>
          </p:txBody>
        </p:sp>
        <p:sp>
          <p:nvSpPr>
            <p:cNvPr id="177" name="Google Shape;177;p17"/>
            <p:cNvSpPr txBox="1"/>
            <p:nvPr/>
          </p:nvSpPr>
          <p:spPr>
            <a:xfrm>
              <a:off x="3685317" y="3247321"/>
              <a:ext cx="507900" cy="266100"/>
            </a:xfrm>
            <a:prstGeom prst="rect">
              <a:avLst/>
            </a:prstGeom>
            <a:solidFill>
              <a:srgbClr val="701C7F"/>
            </a:solidFill>
            <a:ln>
              <a:noFill/>
            </a:ln>
          </p:spPr>
          <p:txBody>
            <a:bodyPr anchorCtr="0" anchor="t" bIns="75325" lIns="75325" spcFirstLastPara="1" rIns="75325" wrap="square" tIns="75325">
              <a:noAutofit/>
            </a:bodyPr>
            <a:lstStyle/>
            <a:p>
              <a:pPr indent="0" lvl="0" marL="0" rtl="0" algn="ctr">
                <a:spcBef>
                  <a:spcPts val="0"/>
                </a:spcBef>
                <a:spcAft>
                  <a:spcPts val="0"/>
                </a:spcAft>
                <a:buNone/>
              </a:pPr>
              <a:r>
                <a:rPr b="1" lang="en" sz="1318">
                  <a:solidFill>
                    <a:srgbClr val="FFFFFF"/>
                  </a:solidFill>
                  <a:latin typeface="Roboto"/>
                  <a:ea typeface="Roboto"/>
                  <a:cs typeface="Roboto"/>
                  <a:sym typeface="Roboto"/>
                </a:rPr>
                <a:t>03</a:t>
              </a:r>
              <a:endParaRPr b="1" sz="1318">
                <a:solidFill>
                  <a:srgbClr val="FFFFFF"/>
                </a:solidFill>
                <a:latin typeface="Roboto"/>
                <a:ea typeface="Roboto"/>
                <a:cs typeface="Roboto"/>
                <a:sym typeface="Roboto"/>
              </a:endParaRPr>
            </a:p>
          </p:txBody>
        </p:sp>
        <p:sp>
          <p:nvSpPr>
            <p:cNvPr id="178" name="Google Shape;178;p17"/>
            <p:cNvSpPr txBox="1"/>
            <p:nvPr/>
          </p:nvSpPr>
          <p:spPr>
            <a:xfrm>
              <a:off x="4955323" y="3247321"/>
              <a:ext cx="507900" cy="266100"/>
            </a:xfrm>
            <a:prstGeom prst="rect">
              <a:avLst/>
            </a:prstGeom>
            <a:solidFill>
              <a:srgbClr val="701C7F"/>
            </a:solidFill>
            <a:ln>
              <a:noFill/>
            </a:ln>
          </p:spPr>
          <p:txBody>
            <a:bodyPr anchorCtr="0" anchor="t" bIns="75325" lIns="75325" spcFirstLastPara="1" rIns="75325" wrap="square" tIns="75325">
              <a:noAutofit/>
            </a:bodyPr>
            <a:lstStyle/>
            <a:p>
              <a:pPr indent="0" lvl="0" marL="0" rtl="0" algn="ctr">
                <a:spcBef>
                  <a:spcPts val="0"/>
                </a:spcBef>
                <a:spcAft>
                  <a:spcPts val="0"/>
                </a:spcAft>
                <a:buNone/>
              </a:pPr>
              <a:r>
                <a:rPr b="1" lang="en" sz="1318">
                  <a:solidFill>
                    <a:srgbClr val="FFFFFF"/>
                  </a:solidFill>
                  <a:latin typeface="Roboto"/>
                  <a:ea typeface="Roboto"/>
                  <a:cs typeface="Roboto"/>
                  <a:sym typeface="Roboto"/>
                </a:rPr>
                <a:t>04</a:t>
              </a:r>
              <a:endParaRPr b="1" sz="1318">
                <a:solidFill>
                  <a:srgbClr val="FFFFFF"/>
                </a:solidFill>
                <a:latin typeface="Roboto"/>
                <a:ea typeface="Roboto"/>
                <a:cs typeface="Roboto"/>
                <a:sym typeface="Roboto"/>
              </a:endParaRPr>
            </a:p>
          </p:txBody>
        </p:sp>
        <p:sp>
          <p:nvSpPr>
            <p:cNvPr id="158" name="Google Shape;158;p17"/>
            <p:cNvSpPr txBox="1"/>
            <p:nvPr/>
          </p:nvSpPr>
          <p:spPr>
            <a:xfrm>
              <a:off x="5364737" y="2018364"/>
              <a:ext cx="507900" cy="266100"/>
            </a:xfrm>
            <a:prstGeom prst="rect">
              <a:avLst/>
            </a:prstGeom>
            <a:solidFill>
              <a:srgbClr val="701C7F"/>
            </a:solidFill>
            <a:ln>
              <a:noFill/>
            </a:ln>
          </p:spPr>
          <p:txBody>
            <a:bodyPr anchorCtr="0" anchor="t" bIns="75325" lIns="75325" spcFirstLastPara="1" rIns="75325" wrap="square" tIns="75325">
              <a:noAutofit/>
            </a:bodyPr>
            <a:lstStyle/>
            <a:p>
              <a:pPr indent="0" lvl="0" marL="0" rtl="0" algn="ctr">
                <a:spcBef>
                  <a:spcPts val="0"/>
                </a:spcBef>
                <a:spcAft>
                  <a:spcPts val="0"/>
                </a:spcAft>
                <a:buNone/>
              </a:pPr>
              <a:r>
                <a:rPr b="1" lang="en" sz="1318">
                  <a:solidFill>
                    <a:srgbClr val="FFFFFF"/>
                  </a:solidFill>
                  <a:latin typeface="Roboto"/>
                  <a:ea typeface="Roboto"/>
                  <a:cs typeface="Roboto"/>
                  <a:sym typeface="Roboto"/>
                </a:rPr>
                <a:t>05</a:t>
              </a:r>
              <a:endParaRPr b="1" sz="1318">
                <a:solidFill>
                  <a:srgbClr val="FFFFFF"/>
                </a:solidFill>
                <a:latin typeface="Roboto"/>
                <a:ea typeface="Roboto"/>
                <a:cs typeface="Roboto"/>
                <a:sym typeface="Roboto"/>
              </a:endParaRPr>
            </a:p>
          </p:txBody>
        </p:sp>
      </p:grpSp>
      <p:sp>
        <p:nvSpPr>
          <p:cNvPr id="179" name="Google Shape;179;p17"/>
          <p:cNvSpPr txBox="1"/>
          <p:nvPr/>
        </p:nvSpPr>
        <p:spPr>
          <a:xfrm>
            <a:off x="680325" y="276625"/>
            <a:ext cx="36258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700">
                <a:solidFill>
                  <a:schemeClr val="accent1"/>
                </a:solidFill>
                <a:latin typeface="Times New Roman"/>
                <a:ea typeface="Times New Roman"/>
                <a:cs typeface="Times New Roman"/>
                <a:sym typeface="Times New Roman"/>
              </a:rPr>
              <a:t>Project Execution</a:t>
            </a:r>
            <a:endParaRPr b="1" sz="2700">
              <a:solidFill>
                <a:schemeClr val="accent1"/>
              </a:solidFill>
              <a:latin typeface="Times New Roman"/>
              <a:ea typeface="Times New Roman"/>
              <a:cs typeface="Times New Roman"/>
              <a:sym typeface="Times New Roman"/>
            </a:endParaRPr>
          </a:p>
        </p:txBody>
      </p:sp>
      <p:pic>
        <p:nvPicPr>
          <p:cNvPr id="180" name="Google Shape;180;p17"/>
          <p:cNvPicPr preferRelativeResize="0"/>
          <p:nvPr/>
        </p:nvPicPr>
        <p:blipFill>
          <a:blip r:embed="rId3">
            <a:alphaModFix/>
          </a:blip>
          <a:stretch>
            <a:fillRect/>
          </a:stretch>
        </p:blipFill>
        <p:spPr>
          <a:xfrm>
            <a:off x="6940800" y="276625"/>
            <a:ext cx="2062001" cy="3471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Dashboards</a:t>
            </a:r>
            <a:endParaRPr b="1">
              <a:latin typeface="Times New Roman"/>
              <a:ea typeface="Times New Roman"/>
              <a:cs typeface="Times New Roman"/>
              <a:sym typeface="Times New Roman"/>
            </a:endParaRPr>
          </a:p>
        </p:txBody>
      </p:sp>
      <p:pic>
        <p:nvPicPr>
          <p:cNvPr id="186" name="Google Shape;186;p18"/>
          <p:cNvPicPr preferRelativeResize="0"/>
          <p:nvPr/>
        </p:nvPicPr>
        <p:blipFill>
          <a:blip r:embed="rId3">
            <a:alphaModFix/>
          </a:blip>
          <a:stretch>
            <a:fillRect/>
          </a:stretch>
        </p:blipFill>
        <p:spPr>
          <a:xfrm>
            <a:off x="482000" y="1017800"/>
            <a:ext cx="3338901" cy="1610575"/>
          </a:xfrm>
          <a:prstGeom prst="rect">
            <a:avLst/>
          </a:prstGeom>
          <a:noFill/>
          <a:ln>
            <a:noFill/>
          </a:ln>
        </p:spPr>
      </p:pic>
      <p:pic>
        <p:nvPicPr>
          <p:cNvPr id="187" name="Google Shape;187;p18"/>
          <p:cNvPicPr preferRelativeResize="0"/>
          <p:nvPr/>
        </p:nvPicPr>
        <p:blipFill>
          <a:blip r:embed="rId4">
            <a:alphaModFix/>
          </a:blip>
          <a:stretch>
            <a:fillRect/>
          </a:stretch>
        </p:blipFill>
        <p:spPr>
          <a:xfrm>
            <a:off x="5005950" y="1017800"/>
            <a:ext cx="3403326" cy="1610575"/>
          </a:xfrm>
          <a:prstGeom prst="rect">
            <a:avLst/>
          </a:prstGeom>
          <a:noFill/>
          <a:ln>
            <a:noFill/>
          </a:ln>
        </p:spPr>
      </p:pic>
      <p:pic>
        <p:nvPicPr>
          <p:cNvPr id="188" name="Google Shape;188;p18"/>
          <p:cNvPicPr preferRelativeResize="0"/>
          <p:nvPr/>
        </p:nvPicPr>
        <p:blipFill>
          <a:blip r:embed="rId5">
            <a:alphaModFix/>
          </a:blip>
          <a:stretch>
            <a:fillRect/>
          </a:stretch>
        </p:blipFill>
        <p:spPr>
          <a:xfrm>
            <a:off x="482000" y="2894525"/>
            <a:ext cx="3338901" cy="1694425"/>
          </a:xfrm>
          <a:prstGeom prst="rect">
            <a:avLst/>
          </a:prstGeom>
          <a:noFill/>
          <a:ln>
            <a:noFill/>
          </a:ln>
        </p:spPr>
      </p:pic>
      <p:pic>
        <p:nvPicPr>
          <p:cNvPr id="189" name="Google Shape;189;p18"/>
          <p:cNvPicPr preferRelativeResize="0"/>
          <p:nvPr/>
        </p:nvPicPr>
        <p:blipFill>
          <a:blip r:embed="rId6">
            <a:alphaModFix/>
          </a:blip>
          <a:stretch>
            <a:fillRect/>
          </a:stretch>
        </p:blipFill>
        <p:spPr>
          <a:xfrm>
            <a:off x="5050525" y="2894525"/>
            <a:ext cx="3338901" cy="1659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9"/>
          <p:cNvSpPr txBox="1"/>
          <p:nvPr/>
        </p:nvSpPr>
        <p:spPr>
          <a:xfrm>
            <a:off x="280775" y="0"/>
            <a:ext cx="8636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1"/>
                </a:solidFill>
                <a:latin typeface="Times New Roman"/>
                <a:ea typeface="Times New Roman"/>
                <a:cs typeface="Times New Roman"/>
                <a:sym typeface="Times New Roman"/>
              </a:rPr>
              <a:t>Dashboards(continued)</a:t>
            </a:r>
            <a:endParaRPr/>
          </a:p>
        </p:txBody>
      </p:sp>
      <p:pic>
        <p:nvPicPr>
          <p:cNvPr id="195" name="Google Shape;195;p19"/>
          <p:cNvPicPr preferRelativeResize="0"/>
          <p:nvPr/>
        </p:nvPicPr>
        <p:blipFill>
          <a:blip r:embed="rId3">
            <a:alphaModFix/>
          </a:blip>
          <a:stretch>
            <a:fillRect/>
          </a:stretch>
        </p:blipFill>
        <p:spPr>
          <a:xfrm>
            <a:off x="386575" y="733525"/>
            <a:ext cx="3403326" cy="1838225"/>
          </a:xfrm>
          <a:prstGeom prst="rect">
            <a:avLst/>
          </a:prstGeom>
          <a:noFill/>
          <a:ln>
            <a:noFill/>
          </a:ln>
        </p:spPr>
      </p:pic>
      <p:pic>
        <p:nvPicPr>
          <p:cNvPr id="196" name="Google Shape;196;p19"/>
          <p:cNvPicPr preferRelativeResize="0"/>
          <p:nvPr/>
        </p:nvPicPr>
        <p:blipFill>
          <a:blip r:embed="rId4">
            <a:alphaModFix/>
          </a:blip>
          <a:stretch>
            <a:fillRect/>
          </a:stretch>
        </p:blipFill>
        <p:spPr>
          <a:xfrm>
            <a:off x="4901625" y="690150"/>
            <a:ext cx="3403326" cy="1838225"/>
          </a:xfrm>
          <a:prstGeom prst="rect">
            <a:avLst/>
          </a:prstGeom>
          <a:noFill/>
          <a:ln>
            <a:noFill/>
          </a:ln>
        </p:spPr>
      </p:pic>
      <p:pic>
        <p:nvPicPr>
          <p:cNvPr id="197" name="Google Shape;197;p19"/>
          <p:cNvPicPr preferRelativeResize="0"/>
          <p:nvPr/>
        </p:nvPicPr>
        <p:blipFill>
          <a:blip r:embed="rId5">
            <a:alphaModFix/>
          </a:blip>
          <a:stretch>
            <a:fillRect/>
          </a:stretch>
        </p:blipFill>
        <p:spPr>
          <a:xfrm>
            <a:off x="386575" y="2788600"/>
            <a:ext cx="3368176" cy="1878400"/>
          </a:xfrm>
          <a:prstGeom prst="rect">
            <a:avLst/>
          </a:prstGeom>
          <a:noFill/>
          <a:ln>
            <a:noFill/>
          </a:ln>
        </p:spPr>
      </p:pic>
      <p:pic>
        <p:nvPicPr>
          <p:cNvPr id="198" name="Google Shape;198;p19"/>
          <p:cNvPicPr preferRelativeResize="0"/>
          <p:nvPr/>
        </p:nvPicPr>
        <p:blipFill>
          <a:blip r:embed="rId6">
            <a:alphaModFix/>
          </a:blip>
          <a:stretch>
            <a:fillRect/>
          </a:stretch>
        </p:blipFill>
        <p:spPr>
          <a:xfrm>
            <a:off x="4914350" y="2788600"/>
            <a:ext cx="3377873" cy="1878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0"/>
          <p:cNvSpPr txBox="1"/>
          <p:nvPr>
            <p:ph type="title"/>
          </p:nvPr>
        </p:nvSpPr>
        <p:spPr>
          <a:xfrm>
            <a:off x="311700" y="213075"/>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Challenges and Resolutions</a:t>
            </a:r>
            <a:endParaRPr b="1">
              <a:latin typeface="Times New Roman"/>
              <a:ea typeface="Times New Roman"/>
              <a:cs typeface="Times New Roman"/>
              <a:sym typeface="Times New Roman"/>
            </a:endParaRPr>
          </a:p>
        </p:txBody>
      </p:sp>
      <p:graphicFrame>
        <p:nvGraphicFramePr>
          <p:cNvPr id="204" name="Google Shape;204;p20"/>
          <p:cNvGraphicFramePr/>
          <p:nvPr/>
        </p:nvGraphicFramePr>
        <p:xfrm>
          <a:off x="311675" y="936800"/>
          <a:ext cx="3000000" cy="3000000"/>
        </p:xfrm>
        <a:graphic>
          <a:graphicData uri="http://schemas.openxmlformats.org/drawingml/2006/table">
            <a:tbl>
              <a:tblPr>
                <a:noFill/>
                <a:tableStyleId>{85311EA5-A83A-4F29-BE2C-461A31F7874E}</a:tableStyleId>
              </a:tblPr>
              <a:tblGrid>
                <a:gridCol w="4345375"/>
                <a:gridCol w="4345375"/>
              </a:tblGrid>
              <a:tr h="421550">
                <a:tc>
                  <a:txBody>
                    <a:bodyPr/>
                    <a:lstStyle/>
                    <a:p>
                      <a:pPr indent="0" lvl="0" marL="0" rtl="0" algn="ctr">
                        <a:lnSpc>
                          <a:spcPct val="115000"/>
                        </a:lnSpc>
                        <a:spcBef>
                          <a:spcPts val="0"/>
                        </a:spcBef>
                        <a:spcAft>
                          <a:spcPts val="0"/>
                        </a:spcAft>
                        <a:buNone/>
                      </a:pPr>
                      <a:r>
                        <a:rPr b="1" lang="en" sz="1700">
                          <a:solidFill>
                            <a:schemeClr val="dk1"/>
                          </a:solidFill>
                          <a:latin typeface="Times New Roman"/>
                          <a:ea typeface="Times New Roman"/>
                          <a:cs typeface="Times New Roman"/>
                          <a:sym typeface="Times New Roman"/>
                        </a:rPr>
                        <a:t>Challenges</a:t>
                      </a:r>
                      <a:endParaRPr b="1" sz="17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 sz="1700">
                          <a:solidFill>
                            <a:schemeClr val="dk1"/>
                          </a:solidFill>
                          <a:latin typeface="Times New Roman"/>
                          <a:ea typeface="Times New Roman"/>
                          <a:cs typeface="Times New Roman"/>
                          <a:sym typeface="Times New Roman"/>
                        </a:rPr>
                        <a:t>Resolution</a:t>
                      </a:r>
                      <a:endParaRPr b="1" sz="1700">
                        <a:solidFill>
                          <a:schemeClr val="dk1"/>
                        </a:solidFill>
                        <a:latin typeface="Times New Roman"/>
                        <a:ea typeface="Times New Roman"/>
                        <a:cs typeface="Times New Roman"/>
                        <a:sym typeface="Times New Roman"/>
                      </a:endParaRPr>
                    </a:p>
                  </a:txBody>
                  <a:tcPr marT="91425" marB="91425" marR="91425" marL="91425"/>
                </a:tc>
              </a:tr>
              <a:tr h="58145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High-volume, candidate-level election data increased processing and visualization complexity</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Applied data aggregation and optimized DAX measures to enable efficient multi-level analysis</a:t>
                      </a:r>
                      <a:endParaRPr sz="1300">
                        <a:latin typeface="Times New Roman"/>
                        <a:ea typeface="Times New Roman"/>
                        <a:cs typeface="Times New Roman"/>
                        <a:sym typeface="Times New Roman"/>
                      </a:endParaRPr>
                    </a:p>
                  </a:txBody>
                  <a:tcPr marT="91425" marB="91425" marR="91425" marL="91425"/>
                </a:tc>
              </a:tr>
              <a:tr h="7470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Lack of pre-defined winner, runner-up, and seat metrics in the dataset</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Derived custom DAX calculations to identify winners, compute victory margins, and calculate seats won</a:t>
                      </a:r>
                      <a:endParaRPr sz="1300">
                        <a:latin typeface="Times New Roman"/>
                        <a:ea typeface="Times New Roman"/>
                        <a:cs typeface="Times New Roman"/>
                        <a:sym typeface="Times New Roman"/>
                      </a:endParaRPr>
                    </a:p>
                  </a:txBody>
                  <a:tcPr marT="91425" marB="91425" marR="91425" marL="91425"/>
                </a:tc>
              </a:tr>
              <a:tr h="58145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Maintaining metric consistency across overview, party, state, and constituency dashboards</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Standardized reusable measures and applied uniform filtering logic across all pages</a:t>
                      </a:r>
                      <a:endParaRPr sz="1300">
                        <a:latin typeface="Times New Roman"/>
                        <a:ea typeface="Times New Roman"/>
                        <a:cs typeface="Times New Roman"/>
                        <a:sym typeface="Times New Roman"/>
                      </a:endParaRPr>
                    </a:p>
                  </a:txBody>
                  <a:tcPr marT="91425" marB="91425" marR="91425" marL="91425"/>
                </a:tc>
              </a:tr>
              <a:tr h="58145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Visual overcrowding due to large numbers of parties and candidates</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Replaced dense charts with treemaps, tables, and trend-based visuals for improved clarity</a:t>
                      </a:r>
                      <a:endParaRPr sz="1300">
                        <a:latin typeface="Times New Roman"/>
                        <a:ea typeface="Times New Roman"/>
                        <a:cs typeface="Times New Roman"/>
                        <a:sym typeface="Times New Roman"/>
                      </a:endParaRPr>
                    </a:p>
                  </a:txBody>
                  <a:tcPr marT="91425" marB="91425" marR="91425" marL="91425"/>
                </a:tc>
              </a:tr>
              <a:tr h="58145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Handling dynamic cross-filtering across multiple dimensions</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Implemented context-aware slicers and validated visual interactions</a:t>
                      </a:r>
                      <a:endParaRPr sz="1300">
                        <a:latin typeface="Times New Roman"/>
                        <a:ea typeface="Times New Roman"/>
                        <a:cs typeface="Times New Roman"/>
                        <a:sym typeface="Times New Roman"/>
                      </a:endParaRPr>
                    </a:p>
                  </a:txBody>
                  <a:tcPr marT="91425" marB="91425" marR="91425" marL="91425"/>
                </a:tc>
              </a:tr>
              <a:tr h="58145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Representing electoral competitiveness metrics in an interpretable manner</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Translated complex metrics into KPIs and trend visuals for easier interpretation</a:t>
                      </a:r>
                      <a:endParaRPr sz="1300">
                        <a:latin typeface="Times New Roman"/>
                        <a:ea typeface="Times New Roman"/>
                        <a:cs typeface="Times New Roman"/>
                        <a:sym typeface="Times New Roman"/>
                      </a:endParaRPr>
                    </a:p>
                  </a:txBody>
                  <a:tcPr marT="91425" marB="91425" marR="91425" marL="91425"/>
                </a:tc>
              </a:tr>
            </a:tbl>
          </a:graphicData>
        </a:graphic>
      </p:graphicFrame>
      <p:pic>
        <p:nvPicPr>
          <p:cNvPr id="205" name="Google Shape;205;p20"/>
          <p:cNvPicPr preferRelativeResize="0"/>
          <p:nvPr/>
        </p:nvPicPr>
        <p:blipFill>
          <a:blip r:embed="rId3">
            <a:alphaModFix/>
          </a:blip>
          <a:stretch>
            <a:fillRect/>
          </a:stretch>
        </p:blipFill>
        <p:spPr>
          <a:xfrm flipH="1" rot="-10794000">
            <a:off x="7043597" y="15876"/>
            <a:ext cx="2093707" cy="7715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1"/>
          <p:cNvSpPr txBox="1"/>
          <p:nvPr/>
        </p:nvSpPr>
        <p:spPr>
          <a:xfrm>
            <a:off x="286775" y="151275"/>
            <a:ext cx="8723100" cy="46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1"/>
                </a:solidFill>
                <a:latin typeface="Times New Roman"/>
                <a:ea typeface="Times New Roman"/>
                <a:cs typeface="Times New Roman"/>
                <a:sym typeface="Times New Roman"/>
              </a:rPr>
              <a:t>Key Insights</a:t>
            </a:r>
            <a:endParaRPr b="1" sz="29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SzPts val="1700"/>
              <a:buChar char="●"/>
            </a:pPr>
            <a:r>
              <a:rPr lang="en" sz="1700">
                <a:latin typeface="Times New Roman"/>
                <a:ea typeface="Times New Roman"/>
                <a:cs typeface="Times New Roman"/>
                <a:sym typeface="Times New Roman"/>
              </a:rPr>
              <a:t>The data shows </a:t>
            </a:r>
            <a:r>
              <a:rPr b="1" lang="en" sz="1700">
                <a:latin typeface="Times New Roman"/>
                <a:ea typeface="Times New Roman"/>
                <a:cs typeface="Times New Roman"/>
                <a:sym typeface="Times New Roman"/>
              </a:rPr>
              <a:t>high diversity in candidates, parties, electors, states, and constituencies</a:t>
            </a:r>
            <a:r>
              <a:rPr lang="en" sz="1700">
                <a:latin typeface="Times New Roman"/>
                <a:ea typeface="Times New Roman"/>
                <a:cs typeface="Times New Roman"/>
                <a:sym typeface="Times New Roman"/>
              </a:rPr>
              <a:t>.</a:t>
            </a:r>
            <a:endParaRPr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Char char="●"/>
            </a:pPr>
            <a:r>
              <a:rPr b="1" lang="en" sz="1700">
                <a:latin typeface="Times New Roman"/>
                <a:ea typeface="Times New Roman"/>
                <a:cs typeface="Times New Roman"/>
                <a:sym typeface="Times New Roman"/>
              </a:rPr>
              <a:t>Indian National Congress and Bharatiya Janata Party</a:t>
            </a:r>
            <a:r>
              <a:rPr lang="en" sz="1700">
                <a:latin typeface="Times New Roman"/>
                <a:ea typeface="Times New Roman"/>
                <a:cs typeface="Times New Roman"/>
                <a:sym typeface="Times New Roman"/>
              </a:rPr>
              <a:t> have remained the </a:t>
            </a:r>
            <a:r>
              <a:rPr b="1" lang="en" sz="1700">
                <a:latin typeface="Times New Roman"/>
                <a:ea typeface="Times New Roman"/>
                <a:cs typeface="Times New Roman"/>
                <a:sym typeface="Times New Roman"/>
              </a:rPr>
              <a:t>most dominant parties</a:t>
            </a:r>
            <a:r>
              <a:rPr lang="en" sz="1700">
                <a:latin typeface="Times New Roman"/>
                <a:ea typeface="Times New Roman"/>
                <a:cs typeface="Times New Roman"/>
                <a:sym typeface="Times New Roman"/>
              </a:rPr>
              <a:t> over the years.</a:t>
            </a:r>
            <a:endParaRPr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Char char="●"/>
            </a:pPr>
            <a:r>
              <a:rPr b="1" lang="en" sz="1700">
                <a:latin typeface="Times New Roman"/>
                <a:ea typeface="Times New Roman"/>
                <a:cs typeface="Times New Roman"/>
                <a:sym typeface="Times New Roman"/>
              </a:rPr>
              <a:t>SC and ST constituencies</a:t>
            </a:r>
            <a:r>
              <a:rPr lang="en" sz="1700">
                <a:latin typeface="Times New Roman"/>
                <a:ea typeface="Times New Roman"/>
                <a:cs typeface="Times New Roman"/>
                <a:sym typeface="Times New Roman"/>
              </a:rPr>
              <a:t> record a </a:t>
            </a:r>
            <a:r>
              <a:rPr b="1" lang="en" sz="1700">
                <a:latin typeface="Times New Roman"/>
                <a:ea typeface="Times New Roman"/>
                <a:cs typeface="Times New Roman"/>
                <a:sym typeface="Times New Roman"/>
              </a:rPr>
              <a:t>higher average voter turnout</a:t>
            </a:r>
            <a:r>
              <a:rPr lang="en" sz="1700">
                <a:latin typeface="Times New Roman"/>
                <a:ea typeface="Times New Roman"/>
                <a:cs typeface="Times New Roman"/>
                <a:sym typeface="Times New Roman"/>
              </a:rPr>
              <a:t> compared to General seats.</a:t>
            </a:r>
            <a:endParaRPr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Char char="●"/>
            </a:pPr>
            <a:r>
              <a:rPr b="1" lang="en" sz="1700">
                <a:latin typeface="Times New Roman"/>
                <a:ea typeface="Times New Roman"/>
                <a:cs typeface="Times New Roman"/>
                <a:sym typeface="Times New Roman"/>
              </a:rPr>
              <a:t>Voter turnout peaked in 1977</a:t>
            </a:r>
            <a:r>
              <a:rPr lang="en" sz="1700">
                <a:latin typeface="Times New Roman"/>
                <a:ea typeface="Times New Roman"/>
                <a:cs typeface="Times New Roman"/>
                <a:sym typeface="Times New Roman"/>
              </a:rPr>
              <a:t>, declined until 1996, and then </a:t>
            </a:r>
            <a:r>
              <a:rPr b="1" lang="en" sz="1700">
                <a:latin typeface="Times New Roman"/>
                <a:ea typeface="Times New Roman"/>
                <a:cs typeface="Times New Roman"/>
                <a:sym typeface="Times New Roman"/>
              </a:rPr>
              <a:t>stabilized after increasing from 1998 onwards</a:t>
            </a:r>
            <a:r>
              <a:rPr lang="en" sz="1700">
                <a:latin typeface="Times New Roman"/>
                <a:ea typeface="Times New Roman"/>
                <a:cs typeface="Times New Roman"/>
                <a:sym typeface="Times New Roman"/>
              </a:rPr>
              <a:t>.</a:t>
            </a:r>
            <a:endParaRPr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Char char="●"/>
            </a:pPr>
            <a:r>
              <a:rPr b="1" lang="en" sz="1700">
                <a:latin typeface="Times New Roman"/>
                <a:ea typeface="Times New Roman"/>
                <a:cs typeface="Times New Roman"/>
                <a:sym typeface="Times New Roman"/>
              </a:rPr>
              <a:t>Male candidates dominate participation</a:t>
            </a:r>
            <a:r>
              <a:rPr lang="en" sz="1700">
                <a:latin typeface="Times New Roman"/>
                <a:ea typeface="Times New Roman"/>
                <a:cs typeface="Times New Roman"/>
                <a:sym typeface="Times New Roman"/>
              </a:rPr>
              <a:t>, though </a:t>
            </a:r>
            <a:r>
              <a:rPr b="1" lang="en" sz="1700">
                <a:latin typeface="Times New Roman"/>
                <a:ea typeface="Times New Roman"/>
                <a:cs typeface="Times New Roman"/>
                <a:sym typeface="Times New Roman"/>
              </a:rPr>
              <a:t>female representation has consistently increased over time</a:t>
            </a:r>
            <a:r>
              <a:rPr lang="en" sz="1700">
                <a:latin typeface="Times New Roman"/>
                <a:ea typeface="Times New Roman"/>
                <a:cs typeface="Times New Roman"/>
                <a:sym typeface="Times New Roman"/>
              </a:rPr>
              <a:t>.</a:t>
            </a:r>
            <a:endParaRPr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Char char="●"/>
            </a:pPr>
            <a:r>
              <a:rPr b="1" lang="en" sz="1700">
                <a:latin typeface="Times New Roman"/>
                <a:ea typeface="Times New Roman"/>
                <a:cs typeface="Times New Roman"/>
                <a:sym typeface="Times New Roman"/>
              </a:rPr>
              <a:t>Winner strength varies across election years</a:t>
            </a:r>
            <a:r>
              <a:rPr lang="en" sz="1700">
                <a:latin typeface="Times New Roman"/>
                <a:ea typeface="Times New Roman"/>
                <a:cs typeface="Times New Roman"/>
                <a:sym typeface="Times New Roman"/>
              </a:rPr>
              <a:t>, reflecting changing electoral competitiveness.</a:t>
            </a:r>
            <a:endParaRPr sz="2000">
              <a:solidFill>
                <a:schemeClr val="dk2"/>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2"/>
          <p:cNvSpPr txBox="1"/>
          <p:nvPr>
            <p:ph type="title"/>
          </p:nvPr>
        </p:nvSpPr>
        <p:spPr>
          <a:xfrm>
            <a:off x="311700" y="1899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Future Enhancements</a:t>
            </a:r>
            <a:endParaRPr b="1">
              <a:latin typeface="Times New Roman"/>
              <a:ea typeface="Times New Roman"/>
              <a:cs typeface="Times New Roman"/>
              <a:sym typeface="Times New Roman"/>
            </a:endParaRPr>
          </a:p>
        </p:txBody>
      </p:sp>
      <p:sp>
        <p:nvSpPr>
          <p:cNvPr id="216" name="Google Shape;216;p22"/>
          <p:cNvSpPr txBox="1"/>
          <p:nvPr>
            <p:ph idx="1" type="body"/>
          </p:nvPr>
        </p:nvSpPr>
        <p:spPr>
          <a:xfrm>
            <a:off x="311700" y="797700"/>
            <a:ext cx="8709600" cy="3906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500">
                <a:solidFill>
                  <a:schemeClr val="accent4"/>
                </a:solidFill>
                <a:latin typeface="Times New Roman"/>
                <a:ea typeface="Times New Roman"/>
                <a:cs typeface="Times New Roman"/>
                <a:sym typeface="Times New Roman"/>
              </a:rPr>
              <a:t>Real-Time Data Integration</a:t>
            </a:r>
            <a:br>
              <a:rPr b="1" lang="en" sz="1500">
                <a:solidFill>
                  <a:srgbClr val="000000"/>
                </a:solidFill>
                <a:latin typeface="Times New Roman"/>
                <a:ea typeface="Times New Roman"/>
                <a:cs typeface="Times New Roman"/>
                <a:sym typeface="Times New Roman"/>
              </a:rPr>
            </a:br>
            <a:r>
              <a:rPr lang="en" sz="1500">
                <a:solidFill>
                  <a:srgbClr val="000000"/>
                </a:solidFill>
                <a:latin typeface="Times New Roman"/>
                <a:ea typeface="Times New Roman"/>
                <a:cs typeface="Times New Roman"/>
                <a:sym typeface="Times New Roman"/>
              </a:rPr>
              <a:t> Include recent and upcoming election data to support updated and near real-time election analysis.</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en" sz="1500">
                <a:solidFill>
                  <a:schemeClr val="accent4"/>
                </a:solidFill>
                <a:latin typeface="Times New Roman"/>
                <a:ea typeface="Times New Roman"/>
                <a:cs typeface="Times New Roman"/>
                <a:sym typeface="Times New Roman"/>
              </a:rPr>
              <a:t>Demographic and Socio-Economic Analysis</a:t>
            </a:r>
            <a:br>
              <a:rPr b="1" lang="en" sz="1500">
                <a:solidFill>
                  <a:srgbClr val="000000"/>
                </a:solidFill>
                <a:latin typeface="Times New Roman"/>
                <a:ea typeface="Times New Roman"/>
                <a:cs typeface="Times New Roman"/>
                <a:sym typeface="Times New Roman"/>
              </a:rPr>
            </a:br>
            <a:r>
              <a:rPr lang="en" sz="1500">
                <a:solidFill>
                  <a:srgbClr val="000000"/>
                </a:solidFill>
                <a:latin typeface="Times New Roman"/>
                <a:ea typeface="Times New Roman"/>
                <a:cs typeface="Times New Roman"/>
                <a:sym typeface="Times New Roman"/>
              </a:rPr>
              <a:t> Combine election data with demographic and economic indicators to gain deeper insights into voting behavior.</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en" sz="1500">
                <a:solidFill>
                  <a:schemeClr val="accent4"/>
                </a:solidFill>
                <a:latin typeface="Times New Roman"/>
                <a:ea typeface="Times New Roman"/>
                <a:cs typeface="Times New Roman"/>
                <a:sym typeface="Times New Roman"/>
              </a:rPr>
              <a:t>Predictive Election Modeling</a:t>
            </a:r>
            <a:br>
              <a:rPr b="1" lang="en" sz="1500">
                <a:solidFill>
                  <a:srgbClr val="000000"/>
                </a:solidFill>
                <a:latin typeface="Times New Roman"/>
                <a:ea typeface="Times New Roman"/>
                <a:cs typeface="Times New Roman"/>
                <a:sym typeface="Times New Roman"/>
              </a:rPr>
            </a:br>
            <a:r>
              <a:rPr lang="en" sz="1500">
                <a:solidFill>
                  <a:srgbClr val="000000"/>
                </a:solidFill>
                <a:latin typeface="Times New Roman"/>
                <a:ea typeface="Times New Roman"/>
                <a:cs typeface="Times New Roman"/>
                <a:sym typeface="Times New Roman"/>
              </a:rPr>
              <a:t> Apply predictive analytics and trend forecasting techniques to estimate future election outcomes.</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en" sz="1500">
                <a:solidFill>
                  <a:schemeClr val="accent4"/>
                </a:solidFill>
                <a:latin typeface="Times New Roman"/>
                <a:ea typeface="Times New Roman"/>
                <a:cs typeface="Times New Roman"/>
                <a:sym typeface="Times New Roman"/>
              </a:rPr>
              <a:t>Enhanced Interactivity</a:t>
            </a:r>
            <a:br>
              <a:rPr b="1" lang="en" sz="1500">
                <a:solidFill>
                  <a:srgbClr val="000000"/>
                </a:solidFill>
                <a:latin typeface="Times New Roman"/>
                <a:ea typeface="Times New Roman"/>
                <a:cs typeface="Times New Roman"/>
                <a:sym typeface="Times New Roman"/>
              </a:rPr>
            </a:br>
            <a:r>
              <a:rPr lang="en" sz="1500">
                <a:solidFill>
                  <a:srgbClr val="000000"/>
                </a:solidFill>
                <a:latin typeface="Times New Roman"/>
                <a:ea typeface="Times New Roman"/>
                <a:cs typeface="Times New Roman"/>
                <a:sym typeface="Times New Roman"/>
              </a:rPr>
              <a:t> Enable drill-through pages and interactive tooltips for detailed constituency-wise and candidate-wise analysis.</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en" sz="1500">
                <a:solidFill>
                  <a:schemeClr val="accent4"/>
                </a:solidFill>
                <a:latin typeface="Times New Roman"/>
                <a:ea typeface="Times New Roman"/>
                <a:cs typeface="Times New Roman"/>
                <a:sym typeface="Times New Roman"/>
              </a:rPr>
              <a:t>Cloud Deployment and Automation</a:t>
            </a:r>
            <a:br>
              <a:rPr b="1" lang="en" sz="1500">
                <a:solidFill>
                  <a:srgbClr val="000000"/>
                </a:solidFill>
                <a:latin typeface="Times New Roman"/>
                <a:ea typeface="Times New Roman"/>
                <a:cs typeface="Times New Roman"/>
                <a:sym typeface="Times New Roman"/>
              </a:rPr>
            </a:br>
            <a:r>
              <a:rPr lang="en" sz="1500">
                <a:solidFill>
                  <a:srgbClr val="000000"/>
                </a:solidFill>
                <a:latin typeface="Times New Roman"/>
                <a:ea typeface="Times New Roman"/>
                <a:cs typeface="Times New Roman"/>
                <a:sym typeface="Times New Roman"/>
              </a:rPr>
              <a:t> Publish dashboards on Power BI Service with automated refresh and role-based access for wider usability.</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2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p:txBody>
      </p:sp>
      <p:sp>
        <p:nvSpPr>
          <p:cNvPr id="222" name="Google Shape;222;p23"/>
          <p:cNvSpPr txBox="1"/>
          <p:nvPr>
            <p:ph idx="1" type="body"/>
          </p:nvPr>
        </p:nvSpPr>
        <p:spPr>
          <a:xfrm>
            <a:off x="453775" y="1017800"/>
            <a:ext cx="8255700" cy="3215700"/>
          </a:xfrm>
          <a:prstGeom prst="rect">
            <a:avLst/>
          </a:prstGeom>
        </p:spPr>
        <p:txBody>
          <a:bodyPr anchorCtr="0" anchor="t" bIns="91425" lIns="91425" spcFirstLastPara="1" rIns="91425" wrap="square" tIns="91425">
            <a:normAutofit lnSpcReduction="10000"/>
          </a:bodyPr>
          <a:lstStyle/>
          <a:p>
            <a:pPr indent="0" lvl="0" marL="0" rtl="0" algn="just">
              <a:lnSpc>
                <a:spcPct val="130000"/>
              </a:lnSpc>
              <a:spcBef>
                <a:spcPts val="0"/>
              </a:spcBef>
              <a:spcAft>
                <a:spcPts val="1200"/>
              </a:spcAft>
              <a:buSzPts val="935"/>
              <a:buNone/>
            </a:pPr>
            <a:r>
              <a:rPr b="1" lang="en" sz="1840">
                <a:solidFill>
                  <a:srgbClr val="000000"/>
                </a:solidFill>
                <a:latin typeface="Times New Roman"/>
                <a:ea typeface="Times New Roman"/>
                <a:cs typeface="Times New Roman"/>
                <a:sym typeface="Times New Roman"/>
              </a:rPr>
              <a:t>ElectViz</a:t>
            </a:r>
            <a:r>
              <a:rPr lang="en" sz="1840">
                <a:solidFill>
                  <a:srgbClr val="000000"/>
                </a:solidFill>
                <a:latin typeface="Times New Roman"/>
                <a:ea typeface="Times New Roman"/>
                <a:cs typeface="Times New Roman"/>
                <a:sym typeface="Times New Roman"/>
              </a:rPr>
              <a:t> successfully bridges the gap between raw electoral data and actionable public information by providing a centralized, automated visualization framework. By transforming complex datasets into intuitive, interactive dashboards featuring choropleth maps and swing-analysis charts, the platform overcomes the high latency and manual errors inherent in traditional reporting. The implementation of a robust data pipeline ensures that real-time insights enables newsrooms to identify critical "voter-shift" and "anti-incumbency" patterns instantly. Ultimately, this project offers a scalable, low-latency solution that enhances democratic transparency and provides broadcast-ready graphical insights for the digital age.</a:t>
            </a:r>
            <a:endParaRPr sz="133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type="title"/>
          </p:nvPr>
        </p:nvSpPr>
        <p:spPr>
          <a:xfrm>
            <a:off x="311700" y="154950"/>
            <a:ext cx="8520600" cy="570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Acknowledgement </a:t>
            </a:r>
            <a:endParaRPr b="1">
              <a:latin typeface="Times New Roman"/>
              <a:ea typeface="Times New Roman"/>
              <a:cs typeface="Times New Roman"/>
              <a:sym typeface="Times New Roman"/>
            </a:endParaRPr>
          </a:p>
        </p:txBody>
      </p:sp>
      <p:sp>
        <p:nvSpPr>
          <p:cNvPr id="228" name="Google Shape;228;p24"/>
          <p:cNvSpPr txBox="1"/>
          <p:nvPr>
            <p:ph idx="1" type="body"/>
          </p:nvPr>
        </p:nvSpPr>
        <p:spPr>
          <a:xfrm>
            <a:off x="369625" y="725250"/>
            <a:ext cx="8520600" cy="1650300"/>
          </a:xfrm>
          <a:prstGeom prst="rect">
            <a:avLst/>
          </a:prstGeom>
        </p:spPr>
        <p:txBody>
          <a:bodyPr anchorCtr="0" anchor="t" bIns="91425" lIns="91425" spcFirstLastPara="1" rIns="91425" wrap="square" tIns="91425">
            <a:noAutofit/>
          </a:bodyPr>
          <a:lstStyle/>
          <a:p>
            <a:pPr indent="0" lvl="0" marL="0" rtl="0" algn="l">
              <a:lnSpc>
                <a:spcPct val="83000"/>
              </a:lnSpc>
              <a:spcBef>
                <a:spcPts val="0"/>
              </a:spcBef>
              <a:spcAft>
                <a:spcPts val="0"/>
              </a:spcAft>
              <a:buSzPts val="275"/>
              <a:buNone/>
            </a:pPr>
            <a:r>
              <a:rPr lang="en" sz="1300">
                <a:solidFill>
                  <a:srgbClr val="0A0A0A"/>
                </a:solidFill>
                <a:latin typeface="Times New Roman"/>
                <a:ea typeface="Times New Roman"/>
                <a:cs typeface="Times New Roman"/>
                <a:sym typeface="Times New Roman"/>
              </a:rPr>
              <a:t>We </a:t>
            </a:r>
            <a:r>
              <a:rPr lang="en" sz="1300">
                <a:solidFill>
                  <a:srgbClr val="0A0A0A"/>
                </a:solidFill>
                <a:latin typeface="Times New Roman"/>
                <a:ea typeface="Times New Roman"/>
                <a:cs typeface="Times New Roman"/>
                <a:sym typeface="Times New Roman"/>
              </a:rPr>
              <a:t>would</a:t>
            </a:r>
            <a:r>
              <a:rPr lang="en" sz="1300">
                <a:solidFill>
                  <a:srgbClr val="0A0A0A"/>
                </a:solidFill>
                <a:latin typeface="Times New Roman"/>
                <a:ea typeface="Times New Roman"/>
                <a:cs typeface="Times New Roman"/>
                <a:sym typeface="Times New Roman"/>
              </a:rPr>
              <a:t> like to express our heartfelt gratitude to :</a:t>
            </a:r>
            <a:endParaRPr sz="1300">
              <a:solidFill>
                <a:srgbClr val="0A0A0A"/>
              </a:solidFill>
              <a:latin typeface="Times New Roman"/>
              <a:ea typeface="Times New Roman"/>
              <a:cs typeface="Times New Roman"/>
              <a:sym typeface="Times New Roman"/>
            </a:endParaRPr>
          </a:p>
          <a:p>
            <a:pPr indent="-311150" lvl="0" marL="457200" rtl="0" algn="l">
              <a:lnSpc>
                <a:spcPct val="83000"/>
              </a:lnSpc>
              <a:spcBef>
                <a:spcPts val="1200"/>
              </a:spcBef>
              <a:spcAft>
                <a:spcPts val="0"/>
              </a:spcAft>
              <a:buClr>
                <a:srgbClr val="0A0A0A"/>
              </a:buClr>
              <a:buSzPts val="1300"/>
              <a:buFont typeface="Times New Roman"/>
              <a:buChar char="-"/>
            </a:pPr>
            <a:r>
              <a:rPr b="1" lang="en" sz="1300">
                <a:solidFill>
                  <a:srgbClr val="0A0A0A"/>
                </a:solidFill>
                <a:latin typeface="Times New Roman"/>
                <a:ea typeface="Times New Roman"/>
                <a:cs typeface="Times New Roman"/>
                <a:sym typeface="Times New Roman"/>
              </a:rPr>
              <a:t>Infosys Springboard Team </a:t>
            </a:r>
            <a:r>
              <a:rPr lang="en" sz="1300">
                <a:solidFill>
                  <a:srgbClr val="0A0A0A"/>
                </a:solidFill>
                <a:latin typeface="Times New Roman"/>
                <a:ea typeface="Times New Roman"/>
                <a:cs typeface="Times New Roman"/>
                <a:sym typeface="Times New Roman"/>
              </a:rPr>
              <a:t>- for organizing this valuable internship </a:t>
            </a:r>
            <a:r>
              <a:rPr lang="en" sz="1300">
                <a:solidFill>
                  <a:srgbClr val="0A0A0A"/>
                </a:solidFill>
                <a:latin typeface="Times New Roman"/>
                <a:ea typeface="Times New Roman"/>
                <a:cs typeface="Times New Roman"/>
                <a:sym typeface="Times New Roman"/>
              </a:rPr>
              <a:t>opportunity</a:t>
            </a:r>
            <a:r>
              <a:rPr lang="en" sz="1300">
                <a:solidFill>
                  <a:srgbClr val="0A0A0A"/>
                </a:solidFill>
                <a:latin typeface="Times New Roman"/>
                <a:ea typeface="Times New Roman"/>
                <a:cs typeface="Times New Roman"/>
                <a:sym typeface="Times New Roman"/>
              </a:rPr>
              <a:t>.</a:t>
            </a:r>
            <a:endParaRPr sz="1300">
              <a:solidFill>
                <a:srgbClr val="0A0A0A"/>
              </a:solidFill>
              <a:latin typeface="Times New Roman"/>
              <a:ea typeface="Times New Roman"/>
              <a:cs typeface="Times New Roman"/>
              <a:sym typeface="Times New Roman"/>
            </a:endParaRPr>
          </a:p>
          <a:p>
            <a:pPr indent="-311150" lvl="0" marL="457200" rtl="0" algn="l">
              <a:lnSpc>
                <a:spcPct val="83000"/>
              </a:lnSpc>
              <a:spcBef>
                <a:spcPts val="0"/>
              </a:spcBef>
              <a:spcAft>
                <a:spcPts val="0"/>
              </a:spcAft>
              <a:buClr>
                <a:srgbClr val="0A0A0A"/>
              </a:buClr>
              <a:buSzPts val="1300"/>
              <a:buFont typeface="Times New Roman"/>
              <a:buChar char="-"/>
            </a:pPr>
            <a:r>
              <a:rPr b="1" lang="en" sz="1300">
                <a:solidFill>
                  <a:srgbClr val="0A0A0A"/>
                </a:solidFill>
                <a:latin typeface="Times New Roman"/>
                <a:ea typeface="Times New Roman"/>
                <a:cs typeface="Times New Roman"/>
                <a:sym typeface="Times New Roman"/>
              </a:rPr>
              <a:t>Our Mentor</a:t>
            </a:r>
            <a:r>
              <a:rPr lang="en" sz="1300">
                <a:solidFill>
                  <a:srgbClr val="0A0A0A"/>
                </a:solidFill>
                <a:latin typeface="Times New Roman"/>
                <a:ea typeface="Times New Roman"/>
                <a:cs typeface="Times New Roman"/>
                <a:sym typeface="Times New Roman"/>
              </a:rPr>
              <a:t> - for her continuous support and feedback.</a:t>
            </a:r>
            <a:endParaRPr sz="1300">
              <a:solidFill>
                <a:srgbClr val="0A0A0A"/>
              </a:solidFill>
              <a:latin typeface="Times New Roman"/>
              <a:ea typeface="Times New Roman"/>
              <a:cs typeface="Times New Roman"/>
              <a:sym typeface="Times New Roman"/>
            </a:endParaRPr>
          </a:p>
          <a:p>
            <a:pPr indent="-311150" lvl="0" marL="457200" rtl="0" algn="l">
              <a:lnSpc>
                <a:spcPct val="83000"/>
              </a:lnSpc>
              <a:spcBef>
                <a:spcPts val="0"/>
              </a:spcBef>
              <a:spcAft>
                <a:spcPts val="0"/>
              </a:spcAft>
              <a:buClr>
                <a:srgbClr val="0A0A0A"/>
              </a:buClr>
              <a:buSzPts val="1300"/>
              <a:buFont typeface="Times New Roman"/>
              <a:buChar char="-"/>
            </a:pPr>
            <a:r>
              <a:rPr b="1" lang="en" sz="1300">
                <a:solidFill>
                  <a:srgbClr val="0A0A0A"/>
                </a:solidFill>
                <a:latin typeface="Times New Roman"/>
                <a:ea typeface="Times New Roman"/>
                <a:cs typeface="Times New Roman"/>
                <a:sym typeface="Times New Roman"/>
              </a:rPr>
              <a:t>Our Teammates</a:t>
            </a:r>
            <a:r>
              <a:rPr lang="en" sz="1300">
                <a:solidFill>
                  <a:srgbClr val="0A0A0A"/>
                </a:solidFill>
                <a:latin typeface="Times New Roman"/>
                <a:ea typeface="Times New Roman"/>
                <a:cs typeface="Times New Roman"/>
                <a:sym typeface="Times New Roman"/>
              </a:rPr>
              <a:t> - for collaboration, encouragement, and insights</a:t>
            </a:r>
            <a:endParaRPr sz="1300">
              <a:solidFill>
                <a:srgbClr val="0A0A0A"/>
              </a:solidFill>
              <a:latin typeface="Times New Roman"/>
              <a:ea typeface="Times New Roman"/>
              <a:cs typeface="Times New Roman"/>
              <a:sym typeface="Times New Roman"/>
            </a:endParaRPr>
          </a:p>
          <a:p>
            <a:pPr indent="0" lvl="0" marL="0" rtl="0" algn="l">
              <a:lnSpc>
                <a:spcPct val="83000"/>
              </a:lnSpc>
              <a:spcBef>
                <a:spcPts val="1200"/>
              </a:spcBef>
              <a:spcAft>
                <a:spcPts val="0"/>
              </a:spcAft>
              <a:buSzPts val="275"/>
              <a:buNone/>
            </a:pPr>
            <a:r>
              <a:rPr lang="en" sz="1300">
                <a:solidFill>
                  <a:srgbClr val="0A0A0A"/>
                </a:solidFill>
                <a:latin typeface="Times New Roman"/>
                <a:ea typeface="Times New Roman"/>
                <a:cs typeface="Times New Roman"/>
                <a:sym typeface="Times New Roman"/>
              </a:rPr>
              <a:t>This </a:t>
            </a:r>
            <a:r>
              <a:rPr lang="en" sz="1300">
                <a:solidFill>
                  <a:srgbClr val="0A0A0A"/>
                </a:solidFill>
                <a:latin typeface="Times New Roman"/>
                <a:ea typeface="Times New Roman"/>
                <a:cs typeface="Times New Roman"/>
                <a:sym typeface="Times New Roman"/>
              </a:rPr>
              <a:t>internship</a:t>
            </a:r>
            <a:r>
              <a:rPr lang="en" sz="1300">
                <a:solidFill>
                  <a:srgbClr val="0A0A0A"/>
                </a:solidFill>
                <a:latin typeface="Times New Roman"/>
                <a:ea typeface="Times New Roman"/>
                <a:cs typeface="Times New Roman"/>
                <a:sym typeface="Times New Roman"/>
              </a:rPr>
              <a:t> has been a significant step in our professional growth and technical journey and we are grateful to be a part of this great learning experience.</a:t>
            </a:r>
            <a:endParaRPr sz="1300">
              <a:solidFill>
                <a:srgbClr val="0A0A0A"/>
              </a:solidFill>
              <a:latin typeface="Times New Roman"/>
              <a:ea typeface="Times New Roman"/>
              <a:cs typeface="Times New Roman"/>
              <a:sym typeface="Times New Roman"/>
            </a:endParaRPr>
          </a:p>
          <a:p>
            <a:pPr indent="0" lvl="0" marL="0" rtl="0" algn="l">
              <a:lnSpc>
                <a:spcPct val="83000"/>
              </a:lnSpc>
              <a:spcBef>
                <a:spcPts val="1200"/>
              </a:spcBef>
              <a:spcAft>
                <a:spcPts val="0"/>
              </a:spcAft>
              <a:buSzPts val="275"/>
              <a:buNone/>
            </a:pPr>
            <a:r>
              <a:t/>
            </a:r>
            <a:endParaRPr sz="1300"/>
          </a:p>
          <a:p>
            <a:pPr indent="0" lvl="0" marL="0" rtl="0" algn="l">
              <a:lnSpc>
                <a:spcPct val="80000"/>
              </a:lnSpc>
              <a:spcBef>
                <a:spcPts val="0"/>
              </a:spcBef>
              <a:spcAft>
                <a:spcPts val="0"/>
              </a:spcAft>
              <a:buSzPts val="275"/>
              <a:buNone/>
            </a:pPr>
            <a:r>
              <a:t/>
            </a:r>
            <a:endParaRPr sz="1300">
              <a:solidFill>
                <a:schemeClr val="dk1"/>
              </a:solidFill>
            </a:endParaRPr>
          </a:p>
          <a:p>
            <a:pPr indent="0" lvl="0" marL="0" rtl="0" algn="l">
              <a:lnSpc>
                <a:spcPct val="83000"/>
              </a:lnSpc>
              <a:spcBef>
                <a:spcPts val="0"/>
              </a:spcBef>
              <a:spcAft>
                <a:spcPts val="0"/>
              </a:spcAft>
              <a:buSzPts val="275"/>
              <a:buNone/>
            </a:pPr>
            <a:r>
              <a:t/>
            </a:r>
            <a:endParaRPr sz="1300"/>
          </a:p>
          <a:p>
            <a:pPr indent="0" lvl="0" marL="0" rtl="0" algn="l">
              <a:lnSpc>
                <a:spcPct val="80000"/>
              </a:lnSpc>
              <a:spcBef>
                <a:spcPts val="1200"/>
              </a:spcBef>
              <a:spcAft>
                <a:spcPts val="1200"/>
              </a:spcAft>
              <a:buSzPts val="275"/>
              <a:buNone/>
            </a:pPr>
            <a:r>
              <a:t/>
            </a:r>
            <a:endParaRPr sz="1300"/>
          </a:p>
        </p:txBody>
      </p:sp>
      <p:sp>
        <p:nvSpPr>
          <p:cNvPr id="229" name="Google Shape;229;p24"/>
          <p:cNvSpPr txBox="1"/>
          <p:nvPr>
            <p:ph type="title"/>
          </p:nvPr>
        </p:nvSpPr>
        <p:spPr>
          <a:xfrm>
            <a:off x="369625" y="2320350"/>
            <a:ext cx="8520600" cy="502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References  </a:t>
            </a:r>
            <a:endParaRPr b="1">
              <a:latin typeface="Times New Roman"/>
              <a:ea typeface="Times New Roman"/>
              <a:cs typeface="Times New Roman"/>
              <a:sym typeface="Times New Roman"/>
            </a:endParaRPr>
          </a:p>
        </p:txBody>
      </p:sp>
      <p:sp>
        <p:nvSpPr>
          <p:cNvPr id="230" name="Google Shape;230;p24"/>
          <p:cNvSpPr txBox="1"/>
          <p:nvPr>
            <p:ph idx="1" type="body"/>
          </p:nvPr>
        </p:nvSpPr>
        <p:spPr>
          <a:xfrm>
            <a:off x="369625" y="2947125"/>
            <a:ext cx="7446900" cy="1704300"/>
          </a:xfrm>
          <a:prstGeom prst="rect">
            <a:avLst/>
          </a:prstGeom>
        </p:spPr>
        <p:txBody>
          <a:bodyPr anchorCtr="0" anchor="t" bIns="91425" lIns="91425" spcFirstLastPara="1" rIns="91425" wrap="square" tIns="91425">
            <a:noAutofit/>
          </a:bodyPr>
          <a:lstStyle/>
          <a:p>
            <a:pPr indent="-311150" lvl="0" marL="457200" rtl="0" algn="l">
              <a:lnSpc>
                <a:spcPct val="103000"/>
              </a:lnSpc>
              <a:spcBef>
                <a:spcPts val="0"/>
              </a:spcBef>
              <a:spcAft>
                <a:spcPts val="0"/>
              </a:spcAft>
              <a:buClr>
                <a:srgbClr val="0A0A0A"/>
              </a:buClr>
              <a:buSzPts val="1300"/>
              <a:buFont typeface="Times New Roman"/>
              <a:buChar char="-"/>
            </a:pPr>
            <a:r>
              <a:rPr lang="en" sz="1300">
                <a:solidFill>
                  <a:srgbClr val="0A0A0A"/>
                </a:solidFill>
                <a:latin typeface="Times New Roman"/>
                <a:ea typeface="Times New Roman"/>
                <a:cs typeface="Times New Roman"/>
                <a:sym typeface="Times New Roman"/>
              </a:rPr>
              <a:t>Election Dataset(Indian Election Dataset/ Kaggle source) </a:t>
            </a:r>
            <a:endParaRPr sz="1300">
              <a:solidFill>
                <a:srgbClr val="0A0A0A"/>
              </a:solidFill>
              <a:latin typeface="Times New Roman"/>
              <a:ea typeface="Times New Roman"/>
              <a:cs typeface="Times New Roman"/>
              <a:sym typeface="Times New Roman"/>
            </a:endParaRPr>
          </a:p>
          <a:p>
            <a:pPr indent="0" lvl="0" marL="457200" rtl="0" algn="l">
              <a:lnSpc>
                <a:spcPct val="103000"/>
              </a:lnSpc>
              <a:spcBef>
                <a:spcPts val="1200"/>
              </a:spcBef>
              <a:spcAft>
                <a:spcPts val="0"/>
              </a:spcAft>
              <a:buNone/>
            </a:pPr>
            <a:r>
              <a:rPr lang="en" sz="1300">
                <a:solidFill>
                  <a:srgbClr val="000000"/>
                </a:solidFill>
                <a:latin typeface="Times New Roman"/>
                <a:ea typeface="Times New Roman"/>
                <a:cs typeface="Times New Roman"/>
                <a:sym typeface="Times New Roman"/>
              </a:rPr>
              <a:t> “Indian Election Dataset” by Nanadan Pandey           </a:t>
            </a:r>
            <a:r>
              <a:rPr lang="en" sz="1300" u="sng">
                <a:solidFill>
                  <a:srgbClr val="0000FF"/>
                </a:solidFill>
                <a:latin typeface="Times New Roman"/>
                <a:ea typeface="Times New Roman"/>
                <a:cs typeface="Times New Roman"/>
                <a:sym typeface="Times New Roman"/>
                <a:hlinkClick r:id="rId3">
                  <a:extLst>
                    <a:ext uri="{A12FA001-AC4F-418D-AE19-62706E023703}">
                      <ahyp:hlinkClr val="tx"/>
                    </a:ext>
                  </a:extLst>
                </a:hlinkClick>
              </a:rPr>
              <a:t>https://www.kaggle.com/datasets/awadhi123/indian-election-dataset</a:t>
            </a:r>
            <a:endParaRPr sz="1300">
              <a:solidFill>
                <a:srgbClr val="000000"/>
              </a:solidFill>
              <a:latin typeface="Times New Roman"/>
              <a:ea typeface="Times New Roman"/>
              <a:cs typeface="Times New Roman"/>
              <a:sym typeface="Times New Roman"/>
            </a:endParaRPr>
          </a:p>
          <a:p>
            <a:pPr indent="-311150" lvl="0" marL="457200" rtl="0" algn="l">
              <a:lnSpc>
                <a:spcPct val="103000"/>
              </a:lnSpc>
              <a:spcBef>
                <a:spcPts val="1200"/>
              </a:spcBef>
              <a:spcAft>
                <a:spcPts val="0"/>
              </a:spcAft>
              <a:buClr>
                <a:srgbClr val="0A0A0A"/>
              </a:buClr>
              <a:buSzPts val="1300"/>
              <a:buFont typeface="Times New Roman"/>
              <a:buChar char="-"/>
            </a:pPr>
            <a:r>
              <a:rPr lang="en" sz="1300">
                <a:solidFill>
                  <a:srgbClr val="000000"/>
                </a:solidFill>
                <a:latin typeface="Times New Roman"/>
                <a:ea typeface="Times New Roman"/>
                <a:cs typeface="Times New Roman"/>
                <a:sym typeface="Times New Roman"/>
              </a:rPr>
              <a:t> </a:t>
            </a:r>
            <a:r>
              <a:rPr lang="en" sz="1300">
                <a:solidFill>
                  <a:srgbClr val="0A0A0A"/>
                </a:solidFill>
                <a:latin typeface="Times New Roman"/>
                <a:ea typeface="Times New Roman"/>
                <a:cs typeface="Times New Roman"/>
                <a:sym typeface="Times New Roman"/>
              </a:rPr>
              <a:t>Microsoft Power BI Documentation</a:t>
            </a:r>
            <a:endParaRPr sz="1300">
              <a:solidFill>
                <a:srgbClr val="0A0A0A"/>
              </a:solidFill>
              <a:latin typeface="Times New Roman"/>
              <a:ea typeface="Times New Roman"/>
              <a:cs typeface="Times New Roman"/>
              <a:sym typeface="Times New Roman"/>
            </a:endParaRPr>
          </a:p>
          <a:p>
            <a:pPr indent="-311150" lvl="0" marL="457200" rtl="0" algn="l">
              <a:lnSpc>
                <a:spcPct val="103000"/>
              </a:lnSpc>
              <a:spcBef>
                <a:spcPts val="0"/>
              </a:spcBef>
              <a:spcAft>
                <a:spcPts val="0"/>
              </a:spcAft>
              <a:buClr>
                <a:srgbClr val="0A0A0A"/>
              </a:buClr>
              <a:buSzPts val="1300"/>
              <a:buFont typeface="Times New Roman"/>
              <a:buChar char="-"/>
            </a:pPr>
            <a:r>
              <a:rPr lang="en" sz="1300">
                <a:solidFill>
                  <a:srgbClr val="0A0A0A"/>
                </a:solidFill>
                <a:latin typeface="Times New Roman"/>
                <a:ea typeface="Times New Roman"/>
                <a:cs typeface="Times New Roman"/>
                <a:sym typeface="Times New Roman"/>
              </a:rPr>
              <a:t>Infosys Springboard Virtual Internship course materials</a:t>
            </a:r>
            <a:endParaRPr sz="1300">
              <a:solidFill>
                <a:srgbClr val="0A0A0A"/>
              </a:solidFill>
              <a:latin typeface="Times New Roman"/>
              <a:ea typeface="Times New Roman"/>
              <a:cs typeface="Times New Roman"/>
              <a:sym typeface="Times New Roman"/>
            </a:endParaRPr>
          </a:p>
          <a:p>
            <a:pPr indent="0" lvl="0" marL="457200" rtl="0" algn="l">
              <a:lnSpc>
                <a:spcPct val="100000"/>
              </a:lnSpc>
              <a:spcBef>
                <a:spcPts val="1200"/>
              </a:spcBef>
              <a:spcAft>
                <a:spcPts val="1200"/>
              </a:spcAft>
              <a:buNone/>
            </a:pPr>
            <a:r>
              <a:t/>
            </a:r>
            <a:endParaRPr sz="1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5"/>
          <p:cNvSpPr txBox="1"/>
          <p:nvPr>
            <p:ph type="title"/>
          </p:nvPr>
        </p:nvSpPr>
        <p:spPr>
          <a:xfrm>
            <a:off x="2059225" y="1131450"/>
            <a:ext cx="4645200" cy="197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5600">
                <a:latin typeface="Times New Roman"/>
                <a:ea typeface="Times New Roman"/>
                <a:cs typeface="Times New Roman"/>
                <a:sym typeface="Times New Roman"/>
              </a:rPr>
              <a:t>Thankyou!</a:t>
            </a:r>
            <a:endParaRPr b="1" sz="56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